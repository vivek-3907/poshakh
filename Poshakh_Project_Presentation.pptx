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evaluators, consider this striking reality: a handcrafted bridal velvet lehenga costs upwards of 65,000 rupees, yet it is worn for less than one evening before being locked in storage. Indian closets harbor over one lakh crore rupees in dead fashion capital. Poshakh transforms this single-use luxury into a sustainable, highly lucrative peer-to-peer rental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esteemed faculty and reviewers. Welcome to the technical review of POSHAKH — a luxury ethnic wear rental platform developed for LJCCA. Poshakh digitizes the high-value Indian bridal and festive apparel sector, offering automated date-based booking, direct boutique messaging, transparent security deposit escrow, and multi-tier role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presentation is structured in six coherent acts, mirroring an engineering documentary. We begin with the market problem, present Poshakh's circular solution, break down the technical architecture, dive deep into formal UML specifications and database schemas, and conclude with economic metrics and viva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examine Act One: The World Today. Luxury ethnic apparel in India is characterized by astronomical upfront investments, single-digit utilization rates, and unorganized offline rental stores that lack digital inventories, standard pricing, and transparent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existing ecosystem, customers endure an inefficient four-step ordeal. They either overspend drastically on single-use purchases or navigate unorganized offline rental shops. In these local shops, availability is unknown until you physically arrive, pricing is arbitrary, and deposits are kept in cash with frequent return disputes. Clearly, this industry is overdue for digital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quantify these issues, we identified four structural fractures: financial waste from one-time usage, lack of deposit escrow security, fitting and fabric ambiguity, and severe geographic limitation for master weavers. These four points formed the foundational design criteria for Poshakh.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arrive at Act Two: The Turning Point. POSHAKH redefines ethnic couture by introducing a high-trust digital rental ecosystem where authenticated lenders monetize heirlooms, renters enjoy royal outfits at a fraction of the cost, and an automated platform guarantees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Poshakh functions as a robust tri-pillar ecosystem. For Renters, it offers access to authentic bridal wear at a tenth of retail prices. For Lenders, it turns idle couture into a high-yield asset generating passive revenue. And in between, the Poshakh core engine guarantees trust, security escrow, and seamless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highlights the dramatic paradigm shift. Customers transition from paying 100% upfront retail costs to just 10% on rental. Where manual ledgers left deposits insecure, Poshakh provides formal escrow. And where boutiques were once restricted to foot traffic, they now enjoy national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proceed to Act Three: The Cast &amp; The Machine. Here we examine the engineering anatomy of Poshakh — beginning with our lean, high-performance technology stack, proceeding to role-based access control, and reviewing the core functional subsystems.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architectural philosophy prioritizes lean efficiency. By leveraging modern Vanilla JavaScript and a custom-built Node.js HTTP server, we achieve zero bundle bloat and sub-second render speeds. All business logic, cart states, and catalog filters run seamlessly with clean separation of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in Poshakh is enforced through a strict Role-Based Access Control matrix. The Renter experiences a seamless consumer shopping journey. The Lender gains a dedicated inventory management workspace. Crucially, neither party can unilaterally seize or dispute funds; that power is reserved for the Admin to eliminate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Poshakh codebase is cleanly decomposed into six decoupled modules. From identity management in Module 01 to the dynamic rental calculator in Module 03, real-time messaging in Module 04, and dispute governance in Module 06, each subsystem functions with high cohesion and low coupling.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transition to Act Four: The Blueprints. Software design is validated through formal modeling. We present native UML diagrams: Use Case boundaries, Sequence lifelines with alt fragments, Swimlane activities, Class structures, and State transition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formal Use Case model. The platform boundary clearly separates external actors from internal transactions. Notice the «include» relationship between reserving an outfit and authenticating with deposit escrow. The direct chat and dispute mediation extend standard order processing only when inquiries or damages occur.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shows the chronological execution of a rental order. Notice step 4 and 5 where the security deposit is sequestered into the escrow vault before the lender is signaled to dispatch. The deposit remains untouchable until step 8, where successful post-rental inspection triggers automatic refund.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Activity Diagram utilizes formal swimlanes to track accountability across roles. Observe the critical decision diamond in Lane 2: if inspection detects zero damage, the escrow vault automatically releases the renter's deposit. If damage is reported, the process forks to the admin arbitration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Diagram exhibits object-oriented modeling with clean inheritance: BoutiqueLender extends the abstract User class. Each RentalOrder holds a 1-to-1 association with an EscrowTransaction, which mediates between customer deposits and boutique payouts.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transitions in Poshakh prevent double bookings and fund leakages. A dress moves predictably from Available to Escrowed to In-Transit and Return Inspection. Each order transition is bounded by explicit events and guard conditions, ensuring no funds are released prematurely.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enter Act Five: The Data Vault. Here we present our complete data persistence model. We analyze the Crow’s Foot Entity Relationship Diagram across seven relational tables and inspect our structured Data Dictionaries containing genuine seed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relational schema models the entire couture sharing economy. USERS links 1-to-1 with LENDERS. A Lender owns one-to-many DRESSES. When a Renter creates an ORDER, it references both the dress and the boutique lender. Any post-order dispute connects directly to the corresponding orderId.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Data Dictionary details the DRESSES schema. Note the integrity constraints: rentPrice must be positive, and security deposit must equal or exceed rentPrice to prevent malicious theft. Our live sample record illustrates a 65,000-rupee velvet lehenga from boutique 'radha' renting for just 3,800.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of our Data Dictionary governs transactions and dispute management. In table ORDERS, totalAmount strictly equals rental fee plus refundable deposit. Escrow status transitions between HELD, REFUNDED, or DISPUTED, giving administrators deterministic state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arrive at Act Six: The Finale. We synthesize the measurable outcomes of the Poshakh platform, review foundational literature citations, and open the floor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POSHAKH achieves three quantifiable milestones: an 85% expenditure reduction for consumers, a 4.2x return on investment for boutique lenders, and 100% automated deposit escrow. It demonstrates how thoughtful software engineering can modernize traditional artisan markets into sustainable circular economies.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architectural and business models are grounded in established research in collaborative consumption and software engineering, referencing peer-reviewed literature by Armstrong, Botsman, Martin Fowler, and the Gang of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respected evaluators and faculty members of LJCCA, for your time and guidance. We are proud to present POSHAKH as our capstone contribution to sustainable, digitally driven fashion-tech. We now open the floor for your questions and technical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00 · COLD OPEN</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Shape 3"/>
          <p:cNvSpPr/>
          <p:nvPr/>
        </p:nvSpPr>
        <p:spPr>
          <a:xfrm>
            <a:off x="731520" y="1645920"/>
            <a:ext cx="2926080" cy="320040"/>
          </a:xfrm>
          <a:prstGeom prst="roundRect">
            <a:avLst/>
          </a:prstGeom>
          <a:solidFill>
            <a:srgbClr val="2B1418"/>
          </a:solidFill>
          <a:ln w="12700">
            <a:solidFill>
              <a:srgbClr val="C53030"/>
            </a:solidFill>
            <a:prstDash val="solid"/>
          </a:ln>
        </p:spPr>
      </p:sp>
      <p:sp>
        <p:nvSpPr>
          <p:cNvPr id="6" name="Text 4"/>
          <p:cNvSpPr/>
          <p:nvPr/>
        </p:nvSpPr>
        <p:spPr>
          <a:xfrm>
            <a:off x="731520" y="1645920"/>
            <a:ext cx="2926080" cy="320040"/>
          </a:xfrm>
          <a:prstGeom prst="rect">
            <a:avLst/>
          </a:prstGeom>
          <a:noFill/>
          <a:ln/>
        </p:spPr>
        <p:txBody>
          <a:bodyPr wrap="square" rtlCol="0" anchor="ctr"/>
          <a:lstStyle/>
          <a:p>
            <a:pPr algn="ctr" indent="0" marL="0">
              <a:buNone/>
            </a:pPr>
            <a:r>
              <a:rPr lang="en-US" sz="1000" b="1" dirty="0">
                <a:solidFill>
                  <a:srgbClr val="FF8080"/>
                </a:solidFill>
                <a:latin typeface="Arial" pitchFamily="34" charset="0"/>
                <a:ea typeface="Arial" pitchFamily="34" charset="-122"/>
                <a:cs typeface="Arial" pitchFamily="34" charset="-120"/>
              </a:rPr>
              <a:t>THE UNTOLD WEDDING DILEMMA</a:t>
            </a:r>
            <a:endParaRPr lang="en-US" sz="1000" dirty="0"/>
          </a:p>
        </p:txBody>
      </p:sp>
      <p:sp>
        <p:nvSpPr>
          <p:cNvPr id="7" name="Text 5"/>
          <p:cNvSpPr/>
          <p:nvPr/>
        </p:nvSpPr>
        <p:spPr>
          <a:xfrm>
            <a:off x="731520" y="2148840"/>
            <a:ext cx="10515600" cy="914400"/>
          </a:xfrm>
          <a:prstGeom prst="rect">
            <a:avLst/>
          </a:prstGeom>
          <a:noFill/>
          <a:ln/>
        </p:spPr>
        <p:txBody>
          <a:bodyPr wrap="square" rtlCol="0" anchor="ctr"/>
          <a:lstStyle/>
          <a:p>
            <a:pPr indent="0" marL="0">
              <a:buNone/>
            </a:pPr>
            <a:r>
              <a:rPr lang="en-US" sz="4800" b="1" dirty="0">
                <a:solidFill>
                  <a:srgbClr val="FAF7F2"/>
                </a:solidFill>
                <a:latin typeface="Georgia" pitchFamily="34" charset="0"/>
                <a:ea typeface="Georgia" pitchFamily="34" charset="-122"/>
                <a:cs typeface="Georgia" pitchFamily="34" charset="-120"/>
              </a:rPr>
              <a:t>₹65,000 for 6 hours of celebration.</a:t>
            </a:r>
            <a:endParaRPr lang="en-US" sz="4800" dirty="0"/>
          </a:p>
        </p:txBody>
      </p:sp>
      <p:sp>
        <p:nvSpPr>
          <p:cNvPr id="8" name="Text 6"/>
          <p:cNvSpPr/>
          <p:nvPr/>
        </p:nvSpPr>
        <p:spPr>
          <a:xfrm>
            <a:off x="731520" y="3108960"/>
            <a:ext cx="10515600" cy="731520"/>
          </a:xfrm>
          <a:prstGeom prst="rect">
            <a:avLst/>
          </a:prstGeom>
          <a:noFill/>
          <a:ln/>
        </p:spPr>
        <p:txBody>
          <a:bodyPr wrap="square" rtlCol="0" anchor="ctr"/>
          <a:lstStyle/>
          <a:p>
            <a:pPr indent="0" marL="0">
              <a:buNone/>
            </a:pPr>
            <a:r>
              <a:rPr lang="en-US" sz="2600" i="1" dirty="0">
                <a:solidFill>
                  <a:srgbClr val="E6B85C"/>
                </a:solidFill>
                <a:latin typeface="Georgia" pitchFamily="34" charset="0"/>
                <a:ea typeface="Georgia" pitchFamily="34" charset="-122"/>
                <a:cs typeface="Georgia" pitchFamily="34" charset="-120"/>
              </a:rPr>
              <a:t>And then, consigned to a dark wardrobe forever.</a:t>
            </a:r>
            <a:endParaRPr lang="en-US" sz="2600" dirty="0"/>
          </a:p>
        </p:txBody>
      </p:sp>
      <p:sp>
        <p:nvSpPr>
          <p:cNvPr id="9" name="Shape 7"/>
          <p:cNvSpPr/>
          <p:nvPr/>
        </p:nvSpPr>
        <p:spPr>
          <a:xfrm>
            <a:off x="731520" y="4114800"/>
            <a:ext cx="3383280" cy="2011680"/>
          </a:xfrm>
          <a:prstGeom prst="rect">
            <a:avLst/>
          </a:prstGeom>
          <a:solidFill>
            <a:srgbClr val="180E12"/>
          </a:solidFill>
          <a:ln w="12700">
            <a:solidFill>
              <a:srgbClr val="3D2913"/>
            </a:solidFill>
            <a:prstDash val="solid"/>
          </a:ln>
        </p:spPr>
      </p:sp>
      <p:sp>
        <p:nvSpPr>
          <p:cNvPr id="10" name="Text 8"/>
          <p:cNvSpPr/>
          <p:nvPr/>
        </p:nvSpPr>
        <p:spPr>
          <a:xfrm>
            <a:off x="1005840" y="4251960"/>
            <a:ext cx="2834640" cy="548640"/>
          </a:xfrm>
          <a:prstGeom prst="rect">
            <a:avLst/>
          </a:prstGeom>
          <a:noFill/>
          <a:ln/>
        </p:spPr>
        <p:txBody>
          <a:bodyPr wrap="square" rtlCol="0" anchor="ctr"/>
          <a:lstStyle/>
          <a:p>
            <a:pPr indent="0" marL="0">
              <a:buNone/>
            </a:pPr>
            <a:r>
              <a:rPr lang="en-US" sz="3200" b="1" dirty="0">
                <a:solidFill>
                  <a:srgbClr val="C99A2E"/>
                </a:solidFill>
                <a:latin typeface="Arial" pitchFamily="34" charset="0"/>
                <a:ea typeface="Arial" pitchFamily="34" charset="-122"/>
                <a:cs typeface="Arial" pitchFamily="34" charset="-120"/>
              </a:rPr>
              <a:t>84%</a:t>
            </a:r>
            <a:endParaRPr lang="en-US" sz="3200" dirty="0"/>
          </a:p>
        </p:txBody>
      </p:sp>
      <p:sp>
        <p:nvSpPr>
          <p:cNvPr id="11" name="Text 9"/>
          <p:cNvSpPr/>
          <p:nvPr/>
        </p:nvSpPr>
        <p:spPr>
          <a:xfrm>
            <a:off x="1005840" y="4846320"/>
            <a:ext cx="2834640" cy="411480"/>
          </a:xfrm>
          <a:prstGeom prst="rect">
            <a:avLst/>
          </a:prstGeom>
          <a:noFill/>
          <a:ln/>
        </p:spPr>
        <p:txBody>
          <a:bodyPr wrap="square" rtlCol="0" anchor="ctr"/>
          <a:lstStyle/>
          <a:p>
            <a:pPr indent="0" marL="0">
              <a:buNone/>
            </a:pPr>
            <a:r>
              <a:rPr lang="en-US" sz="1200" b="1" dirty="0">
                <a:solidFill>
                  <a:srgbClr val="FAF7F2"/>
                </a:solidFill>
                <a:latin typeface="Arial" pitchFamily="34" charset="0"/>
                <a:ea typeface="Arial" pitchFamily="34" charset="-122"/>
                <a:cs typeface="Arial" pitchFamily="34" charset="-120"/>
              </a:rPr>
              <a:t>Ethnic Couture Worn Only Once</a:t>
            </a:r>
            <a:endParaRPr lang="en-US" sz="1200" dirty="0"/>
          </a:p>
        </p:txBody>
      </p:sp>
      <p:sp>
        <p:nvSpPr>
          <p:cNvPr id="12" name="Text 10"/>
          <p:cNvSpPr/>
          <p:nvPr/>
        </p:nvSpPr>
        <p:spPr>
          <a:xfrm>
            <a:off x="1005840" y="5303520"/>
            <a:ext cx="2834640" cy="68580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Bridal lehengas &amp; groom sherwanis rarely see a second outing.</a:t>
            </a:r>
            <a:endParaRPr lang="en-US" sz="1100" dirty="0"/>
          </a:p>
        </p:txBody>
      </p:sp>
      <p:sp>
        <p:nvSpPr>
          <p:cNvPr id="13" name="Shape 11"/>
          <p:cNvSpPr/>
          <p:nvPr/>
        </p:nvSpPr>
        <p:spPr>
          <a:xfrm>
            <a:off x="4389120" y="4114800"/>
            <a:ext cx="3383280" cy="2011680"/>
          </a:xfrm>
          <a:prstGeom prst="rect">
            <a:avLst/>
          </a:prstGeom>
          <a:solidFill>
            <a:srgbClr val="180E12"/>
          </a:solidFill>
          <a:ln w="12700">
            <a:solidFill>
              <a:srgbClr val="3D2913"/>
            </a:solidFill>
            <a:prstDash val="solid"/>
          </a:ln>
        </p:spPr>
      </p:sp>
      <p:sp>
        <p:nvSpPr>
          <p:cNvPr id="14" name="Text 12"/>
          <p:cNvSpPr/>
          <p:nvPr/>
        </p:nvSpPr>
        <p:spPr>
          <a:xfrm>
            <a:off x="4663440" y="4251960"/>
            <a:ext cx="2834640" cy="548640"/>
          </a:xfrm>
          <a:prstGeom prst="rect">
            <a:avLst/>
          </a:prstGeom>
          <a:noFill/>
          <a:ln/>
        </p:spPr>
        <p:txBody>
          <a:bodyPr wrap="square" rtlCol="0" anchor="ctr"/>
          <a:lstStyle/>
          <a:p>
            <a:pPr indent="0" marL="0">
              <a:buNone/>
            </a:pPr>
            <a:r>
              <a:rPr lang="en-US" sz="3200" b="1" dirty="0">
                <a:solidFill>
                  <a:srgbClr val="C99A2E"/>
                </a:solidFill>
                <a:latin typeface="Arial" pitchFamily="34" charset="0"/>
                <a:ea typeface="Arial" pitchFamily="34" charset="-122"/>
                <a:cs typeface="Arial" pitchFamily="34" charset="-120"/>
              </a:rPr>
              <a:t>₹1.2L Cr</a:t>
            </a:r>
            <a:endParaRPr lang="en-US" sz="3200" dirty="0"/>
          </a:p>
        </p:txBody>
      </p:sp>
      <p:sp>
        <p:nvSpPr>
          <p:cNvPr id="15" name="Text 13"/>
          <p:cNvSpPr/>
          <p:nvPr/>
        </p:nvSpPr>
        <p:spPr>
          <a:xfrm>
            <a:off x="4663440" y="4846320"/>
            <a:ext cx="2834640" cy="411480"/>
          </a:xfrm>
          <a:prstGeom prst="rect">
            <a:avLst/>
          </a:prstGeom>
          <a:noFill/>
          <a:ln/>
        </p:spPr>
        <p:txBody>
          <a:bodyPr wrap="square" rtlCol="0" anchor="ctr"/>
          <a:lstStyle/>
          <a:p>
            <a:pPr indent="0" marL="0">
              <a:buNone/>
            </a:pPr>
            <a:r>
              <a:rPr lang="en-US" sz="1200" b="1" dirty="0">
                <a:solidFill>
                  <a:srgbClr val="FAF7F2"/>
                </a:solidFill>
                <a:latin typeface="Arial" pitchFamily="34" charset="0"/>
                <a:ea typeface="Arial" pitchFamily="34" charset="-122"/>
                <a:cs typeface="Arial" pitchFamily="34" charset="-120"/>
              </a:rPr>
              <a:t>Dead Wardrobe Capital</a:t>
            </a:r>
            <a:endParaRPr lang="en-US" sz="1200" dirty="0"/>
          </a:p>
        </p:txBody>
      </p:sp>
      <p:sp>
        <p:nvSpPr>
          <p:cNvPr id="16" name="Text 14"/>
          <p:cNvSpPr/>
          <p:nvPr/>
        </p:nvSpPr>
        <p:spPr>
          <a:xfrm>
            <a:off x="4663440" y="5303520"/>
            <a:ext cx="2834640" cy="68580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Precious zari &amp; silk heirlooms sitting idle in urban Indian households.</a:t>
            </a:r>
            <a:endParaRPr lang="en-US" sz="1100" dirty="0"/>
          </a:p>
        </p:txBody>
      </p:sp>
      <p:sp>
        <p:nvSpPr>
          <p:cNvPr id="17" name="Shape 15"/>
          <p:cNvSpPr/>
          <p:nvPr/>
        </p:nvSpPr>
        <p:spPr>
          <a:xfrm>
            <a:off x="8046720" y="4114800"/>
            <a:ext cx="3383280" cy="2011680"/>
          </a:xfrm>
          <a:prstGeom prst="rect">
            <a:avLst/>
          </a:prstGeom>
          <a:solidFill>
            <a:srgbClr val="180E12"/>
          </a:solidFill>
          <a:ln w="12700">
            <a:solidFill>
              <a:srgbClr val="3D2913"/>
            </a:solidFill>
            <a:prstDash val="solid"/>
          </a:ln>
        </p:spPr>
      </p:sp>
      <p:sp>
        <p:nvSpPr>
          <p:cNvPr id="18" name="Text 16"/>
          <p:cNvSpPr/>
          <p:nvPr/>
        </p:nvSpPr>
        <p:spPr>
          <a:xfrm>
            <a:off x="8321040" y="4251960"/>
            <a:ext cx="2834640" cy="548640"/>
          </a:xfrm>
          <a:prstGeom prst="rect">
            <a:avLst/>
          </a:prstGeom>
          <a:noFill/>
          <a:ln/>
        </p:spPr>
        <p:txBody>
          <a:bodyPr wrap="square" rtlCol="0" anchor="ctr"/>
          <a:lstStyle/>
          <a:p>
            <a:pPr indent="0" marL="0">
              <a:buNone/>
            </a:pPr>
            <a:r>
              <a:rPr lang="en-US" sz="3200" b="1" dirty="0">
                <a:solidFill>
                  <a:srgbClr val="C99A2E"/>
                </a:solidFill>
                <a:latin typeface="Arial" pitchFamily="34" charset="0"/>
                <a:ea typeface="Arial" pitchFamily="34" charset="-122"/>
                <a:cs typeface="Arial" pitchFamily="34" charset="-120"/>
              </a:rPr>
              <a:t>1/10th</a:t>
            </a:r>
            <a:endParaRPr lang="en-US" sz="3200" dirty="0"/>
          </a:p>
        </p:txBody>
      </p:sp>
      <p:sp>
        <p:nvSpPr>
          <p:cNvPr id="19" name="Text 17"/>
          <p:cNvSpPr/>
          <p:nvPr/>
        </p:nvSpPr>
        <p:spPr>
          <a:xfrm>
            <a:off x="8321040" y="4846320"/>
            <a:ext cx="2834640" cy="411480"/>
          </a:xfrm>
          <a:prstGeom prst="rect">
            <a:avLst/>
          </a:prstGeom>
          <a:noFill/>
          <a:ln/>
        </p:spPr>
        <p:txBody>
          <a:bodyPr wrap="square" rtlCol="0" anchor="ctr"/>
          <a:lstStyle/>
          <a:p>
            <a:pPr indent="0" marL="0">
              <a:buNone/>
            </a:pPr>
            <a:r>
              <a:rPr lang="en-US" sz="1200" b="1" dirty="0">
                <a:solidFill>
                  <a:srgbClr val="FAF7F2"/>
                </a:solidFill>
                <a:latin typeface="Arial" pitchFamily="34" charset="0"/>
                <a:ea typeface="Arial" pitchFamily="34" charset="-122"/>
                <a:cs typeface="Arial" pitchFamily="34" charset="-120"/>
              </a:rPr>
              <a:t>True Rental Opportunity</a:t>
            </a:r>
            <a:endParaRPr lang="en-US" sz="1200" dirty="0"/>
          </a:p>
        </p:txBody>
      </p:sp>
      <p:sp>
        <p:nvSpPr>
          <p:cNvPr id="20" name="Text 18"/>
          <p:cNvSpPr/>
          <p:nvPr/>
        </p:nvSpPr>
        <p:spPr>
          <a:xfrm>
            <a:off x="8321040" y="5303520"/>
            <a:ext cx="2834640" cy="68580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Wear high couture royalty for a fraction of the retail price tag.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01 · PREMIERE</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Shape 3"/>
          <p:cNvSpPr/>
          <p:nvPr/>
        </p:nvSpPr>
        <p:spPr>
          <a:xfrm>
            <a:off x="731520" y="914400"/>
            <a:ext cx="3840480" cy="5303520"/>
          </a:xfrm>
          <a:prstGeom prst="arc">
            <a:avLst/>
          </a:prstGeom>
          <a:noFill/>
          <a:ln w="19050">
            <a:solidFill>
              <a:srgbClr val="C99A2E"/>
            </a:solidFill>
            <a:prstDash val="solid"/>
          </a:ln>
        </p:spPr>
      </p:sp>
      <p:sp>
        <p:nvSpPr>
          <p:cNvPr id="6" name="Shape 4"/>
          <p:cNvSpPr/>
          <p:nvPr/>
        </p:nvSpPr>
        <p:spPr>
          <a:xfrm>
            <a:off x="1005840" y="3566160"/>
            <a:ext cx="3291840" cy="2560320"/>
          </a:xfrm>
          <a:prstGeom prst="rect">
            <a:avLst/>
          </a:prstGeom>
          <a:solidFill>
            <a:srgbClr val="140B0E"/>
          </a:solidFill>
          <a:ln w="12700">
            <a:solidFill>
              <a:srgbClr val="C99A2E"/>
            </a:solidFill>
            <a:prstDash val="solid"/>
          </a:ln>
        </p:spPr>
      </p:sp>
      <p:sp>
        <p:nvSpPr>
          <p:cNvPr id="7" name="Text 5"/>
          <p:cNvSpPr/>
          <p:nvPr/>
        </p:nvSpPr>
        <p:spPr>
          <a:xfrm>
            <a:off x="1097280" y="3749040"/>
            <a:ext cx="3108960" cy="731520"/>
          </a:xfrm>
          <a:prstGeom prst="rect">
            <a:avLst/>
          </a:prstGeom>
          <a:noFill/>
          <a:ln/>
        </p:spPr>
        <p:txBody>
          <a:bodyPr wrap="square" rtlCol="0" anchor="ctr"/>
          <a:lstStyle/>
          <a:p>
            <a:pPr algn="ctr" indent="0" marL="0">
              <a:buNone/>
            </a:pPr>
            <a:r>
              <a:rPr lang="en-US" sz="3400" b="1" dirty="0">
                <a:solidFill>
                  <a:srgbClr val="C99A2E"/>
                </a:solidFill>
                <a:latin typeface="Georgia" pitchFamily="34" charset="0"/>
                <a:ea typeface="Georgia" pitchFamily="34" charset="-122"/>
                <a:cs typeface="Georgia" pitchFamily="34" charset="-120"/>
              </a:rPr>
              <a:t>POSHAKH</a:t>
            </a:r>
            <a:endParaRPr lang="en-US" sz="3400" dirty="0"/>
          </a:p>
        </p:txBody>
      </p:sp>
      <p:sp>
        <p:nvSpPr>
          <p:cNvPr id="8" name="Text 6"/>
          <p:cNvSpPr/>
          <p:nvPr/>
        </p:nvSpPr>
        <p:spPr>
          <a:xfrm>
            <a:off x="1097280" y="4480560"/>
            <a:ext cx="3108960" cy="548640"/>
          </a:xfrm>
          <a:prstGeom prst="rect">
            <a:avLst/>
          </a:prstGeom>
          <a:noFill/>
          <a:ln/>
        </p:spPr>
        <p:txBody>
          <a:bodyPr wrap="square" rtlCol="0" anchor="ctr"/>
          <a:lstStyle/>
          <a:p>
            <a:pPr algn="ctr" indent="0" marL="0">
              <a:buNone/>
            </a:pPr>
            <a:r>
              <a:rPr lang="en-US" sz="900" b="1" spc="100" kern="0" dirty="0">
                <a:solidFill>
                  <a:srgbClr val="A89EA3"/>
                </a:solidFill>
                <a:latin typeface="Arial" pitchFamily="34" charset="0"/>
                <a:ea typeface="Arial" pitchFamily="34" charset="-122"/>
                <a:cs typeface="Arial" pitchFamily="34" charset="-120"/>
              </a:rPr>
              <a:t>ROYAL ETHNIC WEAR RENTAL</a:t>
            </a:r>
            <a:endParaRPr lang="en-US" sz="900" dirty="0"/>
          </a:p>
          <a:p>
            <a:pPr algn="ctr" indent="0" marL="0">
              <a:buNone/>
            </a:pPr>
            <a:r>
              <a:rPr lang="en-US" sz="900" b="1" spc="100" kern="0" dirty="0">
                <a:solidFill>
                  <a:srgbClr val="A89EA3"/>
                </a:solidFill>
                <a:latin typeface="Arial" pitchFamily="34" charset="0"/>
                <a:ea typeface="Arial" pitchFamily="34" charset="-122"/>
                <a:cs typeface="Arial" pitchFamily="34" charset="-120"/>
              </a:rPr>
              <a:t>&amp; HERITAGE COUTURE ECOSYSTEM</a:t>
            </a:r>
            <a:endParaRPr lang="en-US" sz="900" dirty="0"/>
          </a:p>
        </p:txBody>
      </p:sp>
      <p:sp>
        <p:nvSpPr>
          <p:cNvPr id="9" name="Text 7"/>
          <p:cNvSpPr/>
          <p:nvPr/>
        </p:nvSpPr>
        <p:spPr>
          <a:xfrm>
            <a:off x="1097280" y="5212080"/>
            <a:ext cx="3108960" cy="365760"/>
          </a:xfrm>
          <a:prstGeom prst="rect">
            <a:avLst/>
          </a:prstGeom>
          <a:noFill/>
          <a:ln/>
        </p:spPr>
        <p:txBody>
          <a:bodyPr wrap="square" rtlCol="0" anchor="ctr"/>
          <a:lstStyle/>
          <a:p>
            <a:pPr algn="ctr" indent="0" marL="0">
              <a:buNone/>
            </a:pPr>
            <a:r>
              <a:rPr lang="en-US" sz="1100" i="1" dirty="0">
                <a:solidFill>
                  <a:srgbClr val="E6B85C"/>
                </a:solidFill>
                <a:latin typeface="Georgia" pitchFamily="34" charset="0"/>
                <a:ea typeface="Georgia" pitchFamily="34" charset="-122"/>
                <a:cs typeface="Georgia" pitchFamily="34" charset="-120"/>
              </a:rPr>
              <a:t>Wear The Celebration. Return The Rest.</a:t>
            </a:r>
            <a:endParaRPr lang="en-US" sz="1100" dirty="0"/>
          </a:p>
        </p:txBody>
      </p:sp>
      <p:sp>
        <p:nvSpPr>
          <p:cNvPr id="10" name="Shape 8"/>
          <p:cNvSpPr/>
          <p:nvPr/>
        </p:nvSpPr>
        <p:spPr>
          <a:xfrm>
            <a:off x="4937760" y="1280160"/>
            <a:ext cx="6492240" cy="4846320"/>
          </a:xfrm>
          <a:prstGeom prst="rect">
            <a:avLst/>
          </a:prstGeom>
          <a:solidFill>
            <a:srgbClr val="180E12"/>
          </a:solidFill>
          <a:ln w="15875">
            <a:solidFill>
              <a:srgbClr val="3D2913"/>
            </a:solidFill>
            <a:prstDash val="solid"/>
          </a:ln>
        </p:spPr>
      </p:sp>
      <p:sp>
        <p:nvSpPr>
          <p:cNvPr id="11" name="Text 9"/>
          <p:cNvSpPr/>
          <p:nvPr/>
        </p:nvSpPr>
        <p:spPr>
          <a:xfrm>
            <a:off x="5303520" y="1554480"/>
            <a:ext cx="5760720" cy="274320"/>
          </a:xfrm>
          <a:prstGeom prst="rect">
            <a:avLst/>
          </a:prstGeom>
          <a:noFill/>
          <a:ln/>
        </p:spPr>
        <p:txBody>
          <a:bodyPr wrap="square" rtlCol="0" anchor="ctr"/>
          <a:lstStyle/>
          <a:p>
            <a:pPr indent="0" marL="0">
              <a:buNone/>
            </a:pPr>
            <a:r>
              <a:rPr lang="en-US" sz="1000" b="1" spc="200" kern="0" dirty="0">
                <a:solidFill>
                  <a:srgbClr val="C99A2E"/>
                </a:solidFill>
                <a:latin typeface="Arial" pitchFamily="34" charset="0"/>
                <a:ea typeface="Arial" pitchFamily="34" charset="-122"/>
                <a:cs typeface="Arial" pitchFamily="34" charset="-120"/>
              </a:rPr>
              <a:t>PROJECT SPECIFICATION &amp; DEFENSE</a:t>
            </a:r>
            <a:endParaRPr lang="en-US" sz="1000" dirty="0"/>
          </a:p>
        </p:txBody>
      </p:sp>
      <p:sp>
        <p:nvSpPr>
          <p:cNvPr id="12" name="Text 10"/>
          <p:cNvSpPr/>
          <p:nvPr/>
        </p:nvSpPr>
        <p:spPr>
          <a:xfrm>
            <a:off x="5303520" y="1874520"/>
            <a:ext cx="5760720" cy="731520"/>
          </a:xfrm>
          <a:prstGeom prst="rect">
            <a:avLst/>
          </a:prstGeom>
          <a:noFill/>
          <a:ln/>
        </p:spPr>
        <p:txBody>
          <a:bodyPr wrap="square" rtlCol="0" anchor="ctr"/>
          <a:lstStyle/>
          <a:p>
            <a:pPr indent="0" marL="0">
              <a:buNone/>
            </a:pPr>
            <a:r>
              <a:rPr lang="en-US" sz="2200" b="1" dirty="0">
                <a:solidFill>
                  <a:srgbClr val="FAF7F2"/>
                </a:solidFill>
                <a:latin typeface="Georgia" pitchFamily="34" charset="0"/>
                <a:ea typeface="Georgia" pitchFamily="34" charset="-122"/>
                <a:cs typeface="Georgia" pitchFamily="34" charset="-120"/>
              </a:rPr>
              <a:t>Poshakh: Peer-to-Peer Luxury Couture Marketplace</a:t>
            </a:r>
            <a:endParaRPr lang="en-US" sz="2200" dirty="0"/>
          </a:p>
        </p:txBody>
      </p:sp>
      <p:sp>
        <p:nvSpPr>
          <p:cNvPr id="13" name="Text 11"/>
          <p:cNvSpPr/>
          <p:nvPr/>
        </p:nvSpPr>
        <p:spPr>
          <a:xfrm>
            <a:off x="5303520" y="2651760"/>
            <a:ext cx="5760720" cy="822960"/>
          </a:xfrm>
          <a:prstGeom prst="rect">
            <a:avLst/>
          </a:prstGeom>
          <a:noFill/>
          <a:ln/>
        </p:spPr>
        <p:txBody>
          <a:bodyPr wrap="square" rtlCol="0" anchor="ctr"/>
          <a:lstStyle/>
          <a:p>
            <a:pPr indent="0" marL="0">
              <a:buNone/>
            </a:pPr>
            <a:r>
              <a:rPr lang="en-US" sz="1200" dirty="0">
                <a:solidFill>
                  <a:srgbClr val="A89EA3"/>
                </a:solidFill>
                <a:latin typeface="Arial" pitchFamily="34" charset="0"/>
                <a:ea typeface="Arial" pitchFamily="34" charset="-122"/>
                <a:cs typeface="Arial" pitchFamily="34" charset="-120"/>
              </a:rPr>
              <a:t>A full-lifecycle digital platform bridging high-net-worth ethnic wardrobe owners &amp; verified boutiques (Lenders) with wedding guests, bridal parties, and festive revelers (Renters) protected by automated security deposits and multi-role administration.</a:t>
            </a:r>
            <a:endParaRPr lang="en-US" sz="1200" dirty="0"/>
          </a:p>
        </p:txBody>
      </p:sp>
      <p:sp>
        <p:nvSpPr>
          <p:cNvPr id="14" name="Text 12"/>
          <p:cNvSpPr/>
          <p:nvPr/>
        </p:nvSpPr>
        <p:spPr>
          <a:xfrm>
            <a:off x="5303520" y="3657600"/>
            <a:ext cx="2011680" cy="228600"/>
          </a:xfrm>
          <a:prstGeom prst="rect">
            <a:avLst/>
          </a:prstGeom>
          <a:noFill/>
          <a:ln/>
        </p:spPr>
        <p:txBody>
          <a:bodyPr wrap="square" rtlCol="0" anchor="ctr"/>
          <a:lstStyle/>
          <a:p>
            <a:pPr indent="0" marL="0">
              <a:buNone/>
            </a:pPr>
            <a:r>
              <a:rPr lang="en-US" sz="900" b="1" dirty="0">
                <a:solidFill>
                  <a:srgbClr val="C99A2E"/>
                </a:solidFill>
                <a:latin typeface="Arial" pitchFamily="34" charset="0"/>
                <a:ea typeface="Arial" pitchFamily="34" charset="-122"/>
                <a:cs typeface="Arial" pitchFamily="34" charset="-120"/>
              </a:rPr>
              <a:t>INSTITUTION</a:t>
            </a:r>
            <a:endParaRPr lang="en-US" sz="900" dirty="0"/>
          </a:p>
        </p:txBody>
      </p:sp>
      <p:sp>
        <p:nvSpPr>
          <p:cNvPr id="15" name="Text 13"/>
          <p:cNvSpPr/>
          <p:nvPr/>
        </p:nvSpPr>
        <p:spPr>
          <a:xfrm>
            <a:off x="5303520" y="3858768"/>
            <a:ext cx="5760720" cy="320040"/>
          </a:xfrm>
          <a:prstGeom prst="rect">
            <a:avLst/>
          </a:prstGeom>
          <a:noFill/>
          <a:ln/>
        </p:spPr>
        <p:txBody>
          <a:bodyPr wrap="square" rtlCol="0" anchor="ctr"/>
          <a:lstStyle/>
          <a:p>
            <a:pPr indent="0" marL="0">
              <a:buNone/>
            </a:pPr>
            <a:r>
              <a:rPr lang="en-US" sz="1100" dirty="0">
                <a:solidFill>
                  <a:srgbClr val="FAF7F2"/>
                </a:solidFill>
                <a:latin typeface="Arial" pitchFamily="34" charset="0"/>
                <a:ea typeface="Arial" pitchFamily="34" charset="-122"/>
                <a:cs typeface="Arial" pitchFamily="34" charset="-120"/>
              </a:rPr>
              <a:t>L.J. Institute of Computer Applications (LJCCA)</a:t>
            </a:r>
            <a:endParaRPr lang="en-US" sz="1100" dirty="0"/>
          </a:p>
        </p:txBody>
      </p:sp>
      <p:sp>
        <p:nvSpPr>
          <p:cNvPr id="16" name="Text 14"/>
          <p:cNvSpPr/>
          <p:nvPr/>
        </p:nvSpPr>
        <p:spPr>
          <a:xfrm>
            <a:off x="5303520" y="4251960"/>
            <a:ext cx="2011680" cy="228600"/>
          </a:xfrm>
          <a:prstGeom prst="rect">
            <a:avLst/>
          </a:prstGeom>
          <a:noFill/>
          <a:ln/>
        </p:spPr>
        <p:txBody>
          <a:bodyPr wrap="square" rtlCol="0" anchor="ctr"/>
          <a:lstStyle/>
          <a:p>
            <a:pPr indent="0" marL="0">
              <a:buNone/>
            </a:pPr>
            <a:r>
              <a:rPr lang="en-US" sz="900" b="1" dirty="0">
                <a:solidFill>
                  <a:srgbClr val="C99A2E"/>
                </a:solidFill>
                <a:latin typeface="Arial" pitchFamily="34" charset="0"/>
                <a:ea typeface="Arial" pitchFamily="34" charset="-122"/>
                <a:cs typeface="Arial" pitchFamily="34" charset="-120"/>
              </a:rPr>
              <a:t>PROJECT DOMAIN</a:t>
            </a:r>
            <a:endParaRPr lang="en-US" sz="900" dirty="0"/>
          </a:p>
        </p:txBody>
      </p:sp>
      <p:sp>
        <p:nvSpPr>
          <p:cNvPr id="17" name="Text 15"/>
          <p:cNvSpPr/>
          <p:nvPr/>
        </p:nvSpPr>
        <p:spPr>
          <a:xfrm>
            <a:off x="5303520" y="4453128"/>
            <a:ext cx="5760720" cy="320040"/>
          </a:xfrm>
          <a:prstGeom prst="rect">
            <a:avLst/>
          </a:prstGeom>
          <a:noFill/>
          <a:ln/>
        </p:spPr>
        <p:txBody>
          <a:bodyPr wrap="square" rtlCol="0" anchor="ctr"/>
          <a:lstStyle/>
          <a:p>
            <a:pPr indent="0" marL="0">
              <a:buNone/>
            </a:pPr>
            <a:r>
              <a:rPr lang="en-US" sz="1100" dirty="0">
                <a:solidFill>
                  <a:srgbClr val="FAF7F2"/>
                </a:solidFill>
                <a:latin typeface="Arial" pitchFamily="34" charset="0"/>
                <a:ea typeface="Arial" pitchFamily="34" charset="-122"/>
                <a:cs typeface="Arial" pitchFamily="34" charset="-120"/>
              </a:rPr>
              <a:t>E-Commerce / Fashion-Tech / Circular Sharing Economy</a:t>
            </a:r>
            <a:endParaRPr lang="en-US" sz="1100" dirty="0"/>
          </a:p>
        </p:txBody>
      </p:sp>
      <p:sp>
        <p:nvSpPr>
          <p:cNvPr id="18" name="Text 16"/>
          <p:cNvSpPr/>
          <p:nvPr/>
        </p:nvSpPr>
        <p:spPr>
          <a:xfrm>
            <a:off x="5303520" y="4846320"/>
            <a:ext cx="2011680" cy="228600"/>
          </a:xfrm>
          <a:prstGeom prst="rect">
            <a:avLst/>
          </a:prstGeom>
          <a:noFill/>
          <a:ln/>
        </p:spPr>
        <p:txBody>
          <a:bodyPr wrap="square" rtlCol="0" anchor="ctr"/>
          <a:lstStyle/>
          <a:p>
            <a:pPr indent="0" marL="0">
              <a:buNone/>
            </a:pPr>
            <a:r>
              <a:rPr lang="en-US" sz="900" b="1" dirty="0">
                <a:solidFill>
                  <a:srgbClr val="C99A2E"/>
                </a:solidFill>
                <a:latin typeface="Arial" pitchFamily="34" charset="0"/>
                <a:ea typeface="Arial" pitchFamily="34" charset="-122"/>
                <a:cs typeface="Arial" pitchFamily="34" charset="-120"/>
              </a:rPr>
              <a:t>PLATFORM ROLES</a:t>
            </a:r>
            <a:endParaRPr lang="en-US" sz="900" dirty="0"/>
          </a:p>
        </p:txBody>
      </p:sp>
      <p:sp>
        <p:nvSpPr>
          <p:cNvPr id="19" name="Text 17"/>
          <p:cNvSpPr/>
          <p:nvPr/>
        </p:nvSpPr>
        <p:spPr>
          <a:xfrm>
            <a:off x="5303520" y="5047488"/>
            <a:ext cx="5760720" cy="320040"/>
          </a:xfrm>
          <a:prstGeom prst="rect">
            <a:avLst/>
          </a:prstGeom>
          <a:noFill/>
          <a:ln/>
        </p:spPr>
        <p:txBody>
          <a:bodyPr wrap="square" rtlCol="0" anchor="ctr"/>
          <a:lstStyle/>
          <a:p>
            <a:pPr indent="0" marL="0">
              <a:buNone/>
            </a:pPr>
            <a:r>
              <a:rPr lang="en-US" sz="1100" dirty="0">
                <a:solidFill>
                  <a:srgbClr val="FAF7F2"/>
                </a:solidFill>
                <a:latin typeface="Arial" pitchFamily="34" charset="0"/>
                <a:ea typeface="Arial" pitchFamily="34" charset="-122"/>
                <a:cs typeface="Arial" pitchFamily="34" charset="-120"/>
              </a:rPr>
              <a:t>Administrator · Boutique Lender · Customer Renter</a:t>
            </a:r>
            <a:endParaRPr lang="en-US" sz="1100" dirty="0"/>
          </a:p>
        </p:txBody>
      </p:sp>
      <p:sp>
        <p:nvSpPr>
          <p:cNvPr id="20" name="Text 18"/>
          <p:cNvSpPr/>
          <p:nvPr/>
        </p:nvSpPr>
        <p:spPr>
          <a:xfrm>
            <a:off x="5303520" y="5440680"/>
            <a:ext cx="2011680" cy="228600"/>
          </a:xfrm>
          <a:prstGeom prst="rect">
            <a:avLst/>
          </a:prstGeom>
          <a:noFill/>
          <a:ln/>
        </p:spPr>
        <p:txBody>
          <a:bodyPr wrap="square" rtlCol="0" anchor="ctr"/>
          <a:lstStyle/>
          <a:p>
            <a:pPr indent="0" marL="0">
              <a:buNone/>
            </a:pPr>
            <a:r>
              <a:rPr lang="en-US" sz="900" b="1" dirty="0">
                <a:solidFill>
                  <a:srgbClr val="C99A2E"/>
                </a:solidFill>
                <a:latin typeface="Arial" pitchFamily="34" charset="0"/>
                <a:ea typeface="Arial" pitchFamily="34" charset="-122"/>
                <a:cs typeface="Arial" pitchFamily="34" charset="-120"/>
              </a:rPr>
              <a:t>ENGINEERING STACK</a:t>
            </a:r>
            <a:endParaRPr lang="en-US" sz="900" dirty="0"/>
          </a:p>
        </p:txBody>
      </p:sp>
      <p:sp>
        <p:nvSpPr>
          <p:cNvPr id="21" name="Text 19"/>
          <p:cNvSpPr/>
          <p:nvPr/>
        </p:nvSpPr>
        <p:spPr>
          <a:xfrm>
            <a:off x="5303520" y="5641848"/>
            <a:ext cx="5760720" cy="320040"/>
          </a:xfrm>
          <a:prstGeom prst="rect">
            <a:avLst/>
          </a:prstGeom>
          <a:noFill/>
          <a:ln/>
        </p:spPr>
        <p:txBody>
          <a:bodyPr wrap="square" rtlCol="0" anchor="ctr"/>
          <a:lstStyle/>
          <a:p>
            <a:pPr indent="0" marL="0">
              <a:buNone/>
            </a:pPr>
            <a:r>
              <a:rPr lang="en-US" sz="1100" dirty="0">
                <a:solidFill>
                  <a:srgbClr val="FAF7F2"/>
                </a:solidFill>
                <a:latin typeface="Arial" pitchFamily="34" charset="0"/>
                <a:ea typeface="Arial" pitchFamily="34" charset="-122"/>
                <a:cs typeface="Arial" pitchFamily="34" charset="-120"/>
              </a:rPr>
              <a:t>HTML5 · CSS3 Luxury System · ES6+ Store · Node Server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02 · TABLE OF CONTENTS</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914400"/>
            <a:ext cx="10698480" cy="274320"/>
          </a:xfrm>
          <a:prstGeom prst="rect">
            <a:avLst/>
          </a:prstGeom>
          <a:noFill/>
          <a:ln/>
        </p:spPr>
        <p:txBody>
          <a:bodyPr wrap="square" rtlCol="0" anchor="ctr"/>
          <a:lstStyle/>
          <a:p>
            <a:pPr indent="0" marL="0">
              <a:buNone/>
            </a:pPr>
            <a:r>
              <a:rPr lang="en-US" sz="1000" b="1" spc="200" kern="0" dirty="0">
                <a:solidFill>
                  <a:srgbClr val="C99A2E"/>
                </a:solidFill>
                <a:latin typeface="Arial" pitchFamily="34" charset="0"/>
                <a:ea typeface="Arial" pitchFamily="34" charset="-122"/>
                <a:cs typeface="Arial" pitchFamily="34" charset="-120"/>
              </a:rPr>
              <a:t>PRESENTATION ARCHITECTURE</a:t>
            </a:r>
            <a:endParaRPr lang="en-US" sz="1000" dirty="0"/>
          </a:p>
        </p:txBody>
      </p:sp>
      <p:sp>
        <p:nvSpPr>
          <p:cNvPr id="6" name="Text 4"/>
          <p:cNvSpPr/>
          <p:nvPr/>
        </p:nvSpPr>
        <p:spPr>
          <a:xfrm>
            <a:off x="731520" y="1188720"/>
            <a:ext cx="10698480" cy="457200"/>
          </a:xfrm>
          <a:prstGeom prst="rect">
            <a:avLst/>
          </a:prstGeom>
          <a:noFill/>
          <a:ln/>
        </p:spPr>
        <p:txBody>
          <a:bodyPr wrap="square" rtlCol="0" anchor="ctr"/>
          <a:lstStyle/>
          <a:p>
            <a:pPr indent="0" marL="0">
              <a:buNone/>
            </a:pPr>
            <a:r>
              <a:rPr lang="en-US" sz="2600" b="1" dirty="0">
                <a:solidFill>
                  <a:srgbClr val="FAF7F2"/>
                </a:solidFill>
                <a:latin typeface="Georgia" pitchFamily="34" charset="0"/>
                <a:ea typeface="Georgia" pitchFamily="34" charset="-122"/>
                <a:cs typeface="Georgia" pitchFamily="34" charset="-120"/>
              </a:rPr>
              <a:t>The 6-Act Filmstrip Storyboard</a:t>
            </a:r>
            <a:endParaRPr lang="en-US" sz="2600" dirty="0"/>
          </a:p>
        </p:txBody>
      </p:sp>
      <p:sp>
        <p:nvSpPr>
          <p:cNvPr id="7" name="Shape 5"/>
          <p:cNvSpPr/>
          <p:nvPr/>
        </p:nvSpPr>
        <p:spPr>
          <a:xfrm>
            <a:off x="731520" y="1920240"/>
            <a:ext cx="3410712" cy="1874520"/>
          </a:xfrm>
          <a:prstGeom prst="rect">
            <a:avLst/>
          </a:prstGeom>
          <a:solidFill>
            <a:srgbClr val="180E12"/>
          </a:solidFill>
          <a:ln w="12700">
            <a:solidFill>
              <a:srgbClr val="3D2913"/>
            </a:solidFill>
            <a:prstDash val="solid"/>
          </a:ln>
        </p:spPr>
      </p:sp>
      <p:sp>
        <p:nvSpPr>
          <p:cNvPr id="8" name="Shape 6"/>
          <p:cNvSpPr/>
          <p:nvPr/>
        </p:nvSpPr>
        <p:spPr>
          <a:xfrm>
            <a:off x="731520" y="1920240"/>
            <a:ext cx="3410712" cy="45720"/>
          </a:xfrm>
          <a:prstGeom prst="rect">
            <a:avLst/>
          </a:prstGeom>
          <a:solidFill>
            <a:srgbClr val="C99A2E"/>
          </a:solidFill>
          <a:ln/>
        </p:spPr>
      </p:sp>
      <p:sp>
        <p:nvSpPr>
          <p:cNvPr id="9" name="Text 7"/>
          <p:cNvSpPr/>
          <p:nvPr/>
        </p:nvSpPr>
        <p:spPr>
          <a:xfrm>
            <a:off x="960120" y="2103120"/>
            <a:ext cx="1371600" cy="274320"/>
          </a:xfrm>
          <a:prstGeom prst="rect">
            <a:avLst/>
          </a:prstGeom>
          <a:noFill/>
          <a:ln/>
        </p:spPr>
        <p:txBody>
          <a:bodyPr wrap="square" rtlCol="0" anchor="ctr"/>
          <a:lstStyle/>
          <a:p>
            <a:pPr indent="0" marL="0">
              <a:buNone/>
            </a:pPr>
            <a:r>
              <a:rPr lang="en-US" sz="1100" b="1" dirty="0">
                <a:solidFill>
                  <a:srgbClr val="C99A2E"/>
                </a:solidFill>
                <a:latin typeface="Arial" pitchFamily="34" charset="0"/>
                <a:ea typeface="Arial" pitchFamily="34" charset="-122"/>
                <a:cs typeface="Arial" pitchFamily="34" charset="-120"/>
              </a:rPr>
              <a:t>ACT I</a:t>
            </a:r>
            <a:endParaRPr lang="en-US" sz="1100" dirty="0"/>
          </a:p>
        </p:txBody>
      </p:sp>
      <p:sp>
        <p:nvSpPr>
          <p:cNvPr id="10" name="Text 8"/>
          <p:cNvSpPr/>
          <p:nvPr/>
        </p:nvSpPr>
        <p:spPr>
          <a:xfrm>
            <a:off x="2377440" y="2103120"/>
            <a:ext cx="1554480" cy="274320"/>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Problem Domain</a:t>
            </a:r>
            <a:endParaRPr lang="en-US" sz="900" dirty="0"/>
          </a:p>
        </p:txBody>
      </p:sp>
      <p:sp>
        <p:nvSpPr>
          <p:cNvPr id="11" name="Text 9"/>
          <p:cNvSpPr/>
          <p:nvPr/>
        </p:nvSpPr>
        <p:spPr>
          <a:xfrm>
            <a:off x="960120" y="2423160"/>
            <a:ext cx="2926080" cy="365760"/>
          </a:xfrm>
          <a:prstGeom prst="rect">
            <a:avLst/>
          </a:prstGeom>
          <a:noFill/>
          <a:ln/>
        </p:spPr>
        <p:txBody>
          <a:bodyPr wrap="square" rtlCol="0" anchor="ctr"/>
          <a:lstStyle/>
          <a:p>
            <a:pPr indent="0" marL="0">
              <a:buNone/>
            </a:pPr>
            <a:r>
              <a:rPr lang="en-US" sz="1600" b="1" dirty="0">
                <a:solidFill>
                  <a:srgbClr val="FAF7F2"/>
                </a:solidFill>
                <a:latin typeface="Georgia" pitchFamily="34" charset="0"/>
                <a:ea typeface="Georgia" pitchFamily="34" charset="-122"/>
                <a:cs typeface="Georgia" pitchFamily="34" charset="-120"/>
              </a:rPr>
              <a:t>The World Today</a:t>
            </a:r>
            <a:endParaRPr lang="en-US" sz="1600" dirty="0"/>
          </a:p>
        </p:txBody>
      </p:sp>
      <p:sp>
        <p:nvSpPr>
          <p:cNvPr id="12" name="Text 10"/>
          <p:cNvSpPr/>
          <p:nvPr/>
        </p:nvSpPr>
        <p:spPr>
          <a:xfrm>
            <a:off x="960120" y="2788920"/>
            <a:ext cx="2926080" cy="82296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Current market flaws, dead wardrobe capital &amp; 4 critical rental bottlenecks.</a:t>
            </a:r>
            <a:endParaRPr lang="en-US" sz="1100" dirty="0"/>
          </a:p>
        </p:txBody>
      </p:sp>
      <p:sp>
        <p:nvSpPr>
          <p:cNvPr id="13" name="Shape 11"/>
          <p:cNvSpPr/>
          <p:nvPr/>
        </p:nvSpPr>
        <p:spPr>
          <a:xfrm>
            <a:off x="4389120" y="1920240"/>
            <a:ext cx="3410712" cy="1874520"/>
          </a:xfrm>
          <a:prstGeom prst="rect">
            <a:avLst/>
          </a:prstGeom>
          <a:solidFill>
            <a:srgbClr val="180E12"/>
          </a:solidFill>
          <a:ln w="12700">
            <a:solidFill>
              <a:srgbClr val="3D2913"/>
            </a:solidFill>
            <a:prstDash val="solid"/>
          </a:ln>
        </p:spPr>
      </p:sp>
      <p:sp>
        <p:nvSpPr>
          <p:cNvPr id="14" name="Shape 12"/>
          <p:cNvSpPr/>
          <p:nvPr/>
        </p:nvSpPr>
        <p:spPr>
          <a:xfrm>
            <a:off x="4389120" y="1920240"/>
            <a:ext cx="3410712" cy="45720"/>
          </a:xfrm>
          <a:prstGeom prst="rect">
            <a:avLst/>
          </a:prstGeom>
          <a:solidFill>
            <a:srgbClr val="C99A2E"/>
          </a:solidFill>
          <a:ln/>
        </p:spPr>
      </p:sp>
      <p:sp>
        <p:nvSpPr>
          <p:cNvPr id="15" name="Text 13"/>
          <p:cNvSpPr/>
          <p:nvPr/>
        </p:nvSpPr>
        <p:spPr>
          <a:xfrm>
            <a:off x="4617720" y="2103120"/>
            <a:ext cx="1371600" cy="274320"/>
          </a:xfrm>
          <a:prstGeom prst="rect">
            <a:avLst/>
          </a:prstGeom>
          <a:noFill/>
          <a:ln/>
        </p:spPr>
        <p:txBody>
          <a:bodyPr wrap="square" rtlCol="0" anchor="ctr"/>
          <a:lstStyle/>
          <a:p>
            <a:pPr indent="0" marL="0">
              <a:buNone/>
            </a:pPr>
            <a:r>
              <a:rPr lang="en-US" sz="1100" b="1" dirty="0">
                <a:solidFill>
                  <a:srgbClr val="C99A2E"/>
                </a:solidFill>
                <a:latin typeface="Arial" pitchFamily="34" charset="0"/>
                <a:ea typeface="Arial" pitchFamily="34" charset="-122"/>
                <a:cs typeface="Arial" pitchFamily="34" charset="-120"/>
              </a:rPr>
              <a:t>ACT II</a:t>
            </a:r>
            <a:endParaRPr lang="en-US" sz="1100" dirty="0"/>
          </a:p>
        </p:txBody>
      </p:sp>
      <p:sp>
        <p:nvSpPr>
          <p:cNvPr id="16" name="Text 14"/>
          <p:cNvSpPr/>
          <p:nvPr/>
        </p:nvSpPr>
        <p:spPr>
          <a:xfrm>
            <a:off x="6035040" y="2103120"/>
            <a:ext cx="1554480" cy="274320"/>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Solution Vision</a:t>
            </a:r>
            <a:endParaRPr lang="en-US" sz="900" dirty="0"/>
          </a:p>
        </p:txBody>
      </p:sp>
      <p:sp>
        <p:nvSpPr>
          <p:cNvPr id="17" name="Text 15"/>
          <p:cNvSpPr/>
          <p:nvPr/>
        </p:nvSpPr>
        <p:spPr>
          <a:xfrm>
            <a:off x="4617720" y="2423160"/>
            <a:ext cx="2926080" cy="365760"/>
          </a:xfrm>
          <a:prstGeom prst="rect">
            <a:avLst/>
          </a:prstGeom>
          <a:noFill/>
          <a:ln/>
        </p:spPr>
        <p:txBody>
          <a:bodyPr wrap="square" rtlCol="0" anchor="ctr"/>
          <a:lstStyle/>
          <a:p>
            <a:pPr indent="0" marL="0">
              <a:buNone/>
            </a:pPr>
            <a:r>
              <a:rPr lang="en-US" sz="1600" b="1" dirty="0">
                <a:solidFill>
                  <a:srgbClr val="FAF7F2"/>
                </a:solidFill>
                <a:latin typeface="Georgia" pitchFamily="34" charset="0"/>
                <a:ea typeface="Georgia" pitchFamily="34" charset="-122"/>
                <a:cs typeface="Georgia" pitchFamily="34" charset="-120"/>
              </a:rPr>
              <a:t>The Turning Point</a:t>
            </a:r>
            <a:endParaRPr lang="en-US" sz="1600" dirty="0"/>
          </a:p>
        </p:txBody>
      </p:sp>
      <p:sp>
        <p:nvSpPr>
          <p:cNvPr id="18" name="Text 16"/>
          <p:cNvSpPr/>
          <p:nvPr/>
        </p:nvSpPr>
        <p:spPr>
          <a:xfrm>
            <a:off x="4617720" y="2788920"/>
            <a:ext cx="2926080" cy="82296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The Poshakh circular paradigm, core value props &amp; Before vs After comparison.</a:t>
            </a:r>
            <a:endParaRPr lang="en-US" sz="1100" dirty="0"/>
          </a:p>
        </p:txBody>
      </p:sp>
      <p:sp>
        <p:nvSpPr>
          <p:cNvPr id="19" name="Shape 17"/>
          <p:cNvSpPr/>
          <p:nvPr/>
        </p:nvSpPr>
        <p:spPr>
          <a:xfrm>
            <a:off x="8046720" y="1920240"/>
            <a:ext cx="3410712" cy="1874520"/>
          </a:xfrm>
          <a:prstGeom prst="rect">
            <a:avLst/>
          </a:prstGeom>
          <a:solidFill>
            <a:srgbClr val="180E12"/>
          </a:solidFill>
          <a:ln w="12700">
            <a:solidFill>
              <a:srgbClr val="3D2913"/>
            </a:solidFill>
            <a:prstDash val="solid"/>
          </a:ln>
        </p:spPr>
      </p:sp>
      <p:sp>
        <p:nvSpPr>
          <p:cNvPr id="20" name="Shape 18"/>
          <p:cNvSpPr/>
          <p:nvPr/>
        </p:nvSpPr>
        <p:spPr>
          <a:xfrm>
            <a:off x="8046720" y="1920240"/>
            <a:ext cx="3410712" cy="45720"/>
          </a:xfrm>
          <a:prstGeom prst="rect">
            <a:avLst/>
          </a:prstGeom>
          <a:solidFill>
            <a:srgbClr val="C99A2E"/>
          </a:solidFill>
          <a:ln/>
        </p:spPr>
      </p:sp>
      <p:sp>
        <p:nvSpPr>
          <p:cNvPr id="21" name="Text 19"/>
          <p:cNvSpPr/>
          <p:nvPr/>
        </p:nvSpPr>
        <p:spPr>
          <a:xfrm>
            <a:off x="8275320" y="2103120"/>
            <a:ext cx="1371600" cy="274320"/>
          </a:xfrm>
          <a:prstGeom prst="rect">
            <a:avLst/>
          </a:prstGeom>
          <a:noFill/>
          <a:ln/>
        </p:spPr>
        <p:txBody>
          <a:bodyPr wrap="square" rtlCol="0" anchor="ctr"/>
          <a:lstStyle/>
          <a:p>
            <a:pPr indent="0" marL="0">
              <a:buNone/>
            </a:pPr>
            <a:r>
              <a:rPr lang="en-US" sz="1100" b="1" dirty="0">
                <a:solidFill>
                  <a:srgbClr val="C99A2E"/>
                </a:solidFill>
                <a:latin typeface="Arial" pitchFamily="34" charset="0"/>
                <a:ea typeface="Arial" pitchFamily="34" charset="-122"/>
                <a:cs typeface="Arial" pitchFamily="34" charset="-120"/>
              </a:rPr>
              <a:t>ACT III</a:t>
            </a:r>
            <a:endParaRPr lang="en-US" sz="1100" dirty="0"/>
          </a:p>
        </p:txBody>
      </p:sp>
      <p:sp>
        <p:nvSpPr>
          <p:cNvPr id="22" name="Text 20"/>
          <p:cNvSpPr/>
          <p:nvPr/>
        </p:nvSpPr>
        <p:spPr>
          <a:xfrm>
            <a:off x="9692640" y="2103120"/>
            <a:ext cx="1554480" cy="274320"/>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System Architecture</a:t>
            </a:r>
            <a:endParaRPr lang="en-US" sz="900" dirty="0"/>
          </a:p>
        </p:txBody>
      </p:sp>
      <p:sp>
        <p:nvSpPr>
          <p:cNvPr id="23" name="Text 21"/>
          <p:cNvSpPr/>
          <p:nvPr/>
        </p:nvSpPr>
        <p:spPr>
          <a:xfrm>
            <a:off x="8275320" y="2423160"/>
            <a:ext cx="2926080" cy="365760"/>
          </a:xfrm>
          <a:prstGeom prst="rect">
            <a:avLst/>
          </a:prstGeom>
          <a:noFill/>
          <a:ln/>
        </p:spPr>
        <p:txBody>
          <a:bodyPr wrap="square" rtlCol="0" anchor="ctr"/>
          <a:lstStyle/>
          <a:p>
            <a:pPr indent="0" marL="0">
              <a:buNone/>
            </a:pPr>
            <a:r>
              <a:rPr lang="en-US" sz="1600" b="1" dirty="0">
                <a:solidFill>
                  <a:srgbClr val="FAF7F2"/>
                </a:solidFill>
                <a:latin typeface="Georgia" pitchFamily="34" charset="0"/>
                <a:ea typeface="Georgia" pitchFamily="34" charset="-122"/>
                <a:cs typeface="Georgia" pitchFamily="34" charset="-120"/>
              </a:rPr>
              <a:t>The Cast &amp; Machine</a:t>
            </a:r>
            <a:endParaRPr lang="en-US" sz="1600" dirty="0"/>
          </a:p>
        </p:txBody>
      </p:sp>
      <p:sp>
        <p:nvSpPr>
          <p:cNvPr id="24" name="Text 22"/>
          <p:cNvSpPr/>
          <p:nvPr/>
        </p:nvSpPr>
        <p:spPr>
          <a:xfrm>
            <a:off x="8275320" y="2788920"/>
            <a:ext cx="2926080" cy="82296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Engineering tech stack, detailed user personas &amp; 6 decoupled platform modules.</a:t>
            </a:r>
            <a:endParaRPr lang="en-US" sz="1100" dirty="0"/>
          </a:p>
        </p:txBody>
      </p:sp>
      <p:sp>
        <p:nvSpPr>
          <p:cNvPr id="25" name="Shape 23"/>
          <p:cNvSpPr/>
          <p:nvPr/>
        </p:nvSpPr>
        <p:spPr>
          <a:xfrm>
            <a:off x="731520" y="4023360"/>
            <a:ext cx="3410712" cy="1874520"/>
          </a:xfrm>
          <a:prstGeom prst="rect">
            <a:avLst/>
          </a:prstGeom>
          <a:solidFill>
            <a:srgbClr val="180E12"/>
          </a:solidFill>
          <a:ln w="12700">
            <a:solidFill>
              <a:srgbClr val="3D2913"/>
            </a:solidFill>
            <a:prstDash val="solid"/>
          </a:ln>
        </p:spPr>
      </p:sp>
      <p:sp>
        <p:nvSpPr>
          <p:cNvPr id="26" name="Shape 24"/>
          <p:cNvSpPr/>
          <p:nvPr/>
        </p:nvSpPr>
        <p:spPr>
          <a:xfrm>
            <a:off x="731520" y="4023360"/>
            <a:ext cx="3410712" cy="45720"/>
          </a:xfrm>
          <a:prstGeom prst="rect">
            <a:avLst/>
          </a:prstGeom>
          <a:solidFill>
            <a:srgbClr val="C99A2E"/>
          </a:solidFill>
          <a:ln/>
        </p:spPr>
      </p:sp>
      <p:sp>
        <p:nvSpPr>
          <p:cNvPr id="27" name="Text 25"/>
          <p:cNvSpPr/>
          <p:nvPr/>
        </p:nvSpPr>
        <p:spPr>
          <a:xfrm>
            <a:off x="960120" y="4206240"/>
            <a:ext cx="1371600" cy="274320"/>
          </a:xfrm>
          <a:prstGeom prst="rect">
            <a:avLst/>
          </a:prstGeom>
          <a:noFill/>
          <a:ln/>
        </p:spPr>
        <p:txBody>
          <a:bodyPr wrap="square" rtlCol="0" anchor="ctr"/>
          <a:lstStyle/>
          <a:p>
            <a:pPr indent="0" marL="0">
              <a:buNone/>
            </a:pPr>
            <a:r>
              <a:rPr lang="en-US" sz="1100" b="1" dirty="0">
                <a:solidFill>
                  <a:srgbClr val="C99A2E"/>
                </a:solidFill>
                <a:latin typeface="Arial" pitchFamily="34" charset="0"/>
                <a:ea typeface="Arial" pitchFamily="34" charset="-122"/>
                <a:cs typeface="Arial" pitchFamily="34" charset="-120"/>
              </a:rPr>
              <a:t>ACT IV</a:t>
            </a:r>
            <a:endParaRPr lang="en-US" sz="1100" dirty="0"/>
          </a:p>
        </p:txBody>
      </p:sp>
      <p:sp>
        <p:nvSpPr>
          <p:cNvPr id="28" name="Text 26"/>
          <p:cNvSpPr/>
          <p:nvPr/>
        </p:nvSpPr>
        <p:spPr>
          <a:xfrm>
            <a:off x="2377440" y="4206240"/>
            <a:ext cx="1554480" cy="274320"/>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Software Engineering</a:t>
            </a:r>
            <a:endParaRPr lang="en-US" sz="900" dirty="0"/>
          </a:p>
        </p:txBody>
      </p:sp>
      <p:sp>
        <p:nvSpPr>
          <p:cNvPr id="29" name="Text 27"/>
          <p:cNvSpPr/>
          <p:nvPr/>
        </p:nvSpPr>
        <p:spPr>
          <a:xfrm>
            <a:off x="960120" y="4526280"/>
            <a:ext cx="2926080" cy="365760"/>
          </a:xfrm>
          <a:prstGeom prst="rect">
            <a:avLst/>
          </a:prstGeom>
          <a:noFill/>
          <a:ln/>
        </p:spPr>
        <p:txBody>
          <a:bodyPr wrap="square" rtlCol="0" anchor="ctr"/>
          <a:lstStyle/>
          <a:p>
            <a:pPr indent="0" marL="0">
              <a:buNone/>
            </a:pPr>
            <a:r>
              <a:rPr lang="en-US" sz="1600" b="1" dirty="0">
                <a:solidFill>
                  <a:srgbClr val="FAF7F2"/>
                </a:solidFill>
                <a:latin typeface="Georgia" pitchFamily="34" charset="0"/>
                <a:ea typeface="Georgia" pitchFamily="34" charset="-122"/>
                <a:cs typeface="Georgia" pitchFamily="34" charset="-120"/>
              </a:rPr>
              <a:t>The Blueprints</a:t>
            </a:r>
            <a:endParaRPr lang="en-US" sz="1600" dirty="0"/>
          </a:p>
        </p:txBody>
      </p:sp>
      <p:sp>
        <p:nvSpPr>
          <p:cNvPr id="30" name="Text 28"/>
          <p:cNvSpPr/>
          <p:nvPr/>
        </p:nvSpPr>
        <p:spPr>
          <a:xfrm>
            <a:off x="960120" y="4892040"/>
            <a:ext cx="2926080" cy="82296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Rigorous UML specs: Use Cases, Sequence, Swimlane Activity, Classes &amp; States.</a:t>
            </a:r>
            <a:endParaRPr lang="en-US" sz="1100" dirty="0"/>
          </a:p>
        </p:txBody>
      </p:sp>
      <p:sp>
        <p:nvSpPr>
          <p:cNvPr id="31" name="Shape 29"/>
          <p:cNvSpPr/>
          <p:nvPr/>
        </p:nvSpPr>
        <p:spPr>
          <a:xfrm>
            <a:off x="4389120" y="4023360"/>
            <a:ext cx="3410712" cy="1874520"/>
          </a:xfrm>
          <a:prstGeom prst="rect">
            <a:avLst/>
          </a:prstGeom>
          <a:solidFill>
            <a:srgbClr val="180E12"/>
          </a:solidFill>
          <a:ln w="12700">
            <a:solidFill>
              <a:srgbClr val="3D2913"/>
            </a:solidFill>
            <a:prstDash val="solid"/>
          </a:ln>
        </p:spPr>
      </p:sp>
      <p:sp>
        <p:nvSpPr>
          <p:cNvPr id="32" name="Shape 30"/>
          <p:cNvSpPr/>
          <p:nvPr/>
        </p:nvSpPr>
        <p:spPr>
          <a:xfrm>
            <a:off x="4389120" y="4023360"/>
            <a:ext cx="3410712" cy="45720"/>
          </a:xfrm>
          <a:prstGeom prst="rect">
            <a:avLst/>
          </a:prstGeom>
          <a:solidFill>
            <a:srgbClr val="C99A2E"/>
          </a:solidFill>
          <a:ln/>
        </p:spPr>
      </p:sp>
      <p:sp>
        <p:nvSpPr>
          <p:cNvPr id="33" name="Text 31"/>
          <p:cNvSpPr/>
          <p:nvPr/>
        </p:nvSpPr>
        <p:spPr>
          <a:xfrm>
            <a:off x="4617720" y="4206240"/>
            <a:ext cx="1371600" cy="274320"/>
          </a:xfrm>
          <a:prstGeom prst="rect">
            <a:avLst/>
          </a:prstGeom>
          <a:noFill/>
          <a:ln/>
        </p:spPr>
        <p:txBody>
          <a:bodyPr wrap="square" rtlCol="0" anchor="ctr"/>
          <a:lstStyle/>
          <a:p>
            <a:pPr indent="0" marL="0">
              <a:buNone/>
            </a:pPr>
            <a:r>
              <a:rPr lang="en-US" sz="1100" b="1" dirty="0">
                <a:solidFill>
                  <a:srgbClr val="C99A2E"/>
                </a:solidFill>
                <a:latin typeface="Arial" pitchFamily="34" charset="0"/>
                <a:ea typeface="Arial" pitchFamily="34" charset="-122"/>
                <a:cs typeface="Arial" pitchFamily="34" charset="-120"/>
              </a:rPr>
              <a:t>ACT V</a:t>
            </a:r>
            <a:endParaRPr lang="en-US" sz="1100" dirty="0"/>
          </a:p>
        </p:txBody>
      </p:sp>
      <p:sp>
        <p:nvSpPr>
          <p:cNvPr id="34" name="Text 32"/>
          <p:cNvSpPr/>
          <p:nvPr/>
        </p:nvSpPr>
        <p:spPr>
          <a:xfrm>
            <a:off x="6035040" y="4206240"/>
            <a:ext cx="1554480" cy="274320"/>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Database Design</a:t>
            </a:r>
            <a:endParaRPr lang="en-US" sz="900" dirty="0"/>
          </a:p>
        </p:txBody>
      </p:sp>
      <p:sp>
        <p:nvSpPr>
          <p:cNvPr id="35" name="Text 33"/>
          <p:cNvSpPr/>
          <p:nvPr/>
        </p:nvSpPr>
        <p:spPr>
          <a:xfrm>
            <a:off x="4617720" y="4526280"/>
            <a:ext cx="2926080" cy="365760"/>
          </a:xfrm>
          <a:prstGeom prst="rect">
            <a:avLst/>
          </a:prstGeom>
          <a:noFill/>
          <a:ln/>
        </p:spPr>
        <p:txBody>
          <a:bodyPr wrap="square" rtlCol="0" anchor="ctr"/>
          <a:lstStyle/>
          <a:p>
            <a:pPr indent="0" marL="0">
              <a:buNone/>
            </a:pPr>
            <a:r>
              <a:rPr lang="en-US" sz="1600" b="1" dirty="0">
                <a:solidFill>
                  <a:srgbClr val="FAF7F2"/>
                </a:solidFill>
                <a:latin typeface="Georgia" pitchFamily="34" charset="0"/>
                <a:ea typeface="Georgia" pitchFamily="34" charset="-122"/>
                <a:cs typeface="Georgia" pitchFamily="34" charset="-120"/>
              </a:rPr>
              <a:t>The Data Vault</a:t>
            </a:r>
            <a:endParaRPr lang="en-US" sz="1600" dirty="0"/>
          </a:p>
        </p:txBody>
      </p:sp>
      <p:sp>
        <p:nvSpPr>
          <p:cNvPr id="36" name="Text 34"/>
          <p:cNvSpPr/>
          <p:nvPr/>
        </p:nvSpPr>
        <p:spPr>
          <a:xfrm>
            <a:off x="4617720" y="4892040"/>
            <a:ext cx="2926080" cy="82296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Crow’s foot ER diagram, 7 relational entities &amp; comprehensive data dictionaries.</a:t>
            </a:r>
            <a:endParaRPr lang="en-US" sz="1100" dirty="0"/>
          </a:p>
        </p:txBody>
      </p:sp>
      <p:sp>
        <p:nvSpPr>
          <p:cNvPr id="37" name="Shape 35"/>
          <p:cNvSpPr/>
          <p:nvPr/>
        </p:nvSpPr>
        <p:spPr>
          <a:xfrm>
            <a:off x="8046720" y="4023360"/>
            <a:ext cx="3410712" cy="1874520"/>
          </a:xfrm>
          <a:prstGeom prst="rect">
            <a:avLst/>
          </a:prstGeom>
          <a:solidFill>
            <a:srgbClr val="180E12"/>
          </a:solidFill>
          <a:ln w="12700">
            <a:solidFill>
              <a:srgbClr val="3D2913"/>
            </a:solidFill>
            <a:prstDash val="solid"/>
          </a:ln>
        </p:spPr>
      </p:sp>
      <p:sp>
        <p:nvSpPr>
          <p:cNvPr id="38" name="Shape 36"/>
          <p:cNvSpPr/>
          <p:nvPr/>
        </p:nvSpPr>
        <p:spPr>
          <a:xfrm>
            <a:off x="8046720" y="4023360"/>
            <a:ext cx="3410712" cy="45720"/>
          </a:xfrm>
          <a:prstGeom prst="rect">
            <a:avLst/>
          </a:prstGeom>
          <a:solidFill>
            <a:srgbClr val="C99A2E"/>
          </a:solidFill>
          <a:ln/>
        </p:spPr>
      </p:sp>
      <p:sp>
        <p:nvSpPr>
          <p:cNvPr id="39" name="Text 37"/>
          <p:cNvSpPr/>
          <p:nvPr/>
        </p:nvSpPr>
        <p:spPr>
          <a:xfrm>
            <a:off x="8275320" y="4206240"/>
            <a:ext cx="1371600" cy="274320"/>
          </a:xfrm>
          <a:prstGeom prst="rect">
            <a:avLst/>
          </a:prstGeom>
          <a:noFill/>
          <a:ln/>
        </p:spPr>
        <p:txBody>
          <a:bodyPr wrap="square" rtlCol="0" anchor="ctr"/>
          <a:lstStyle/>
          <a:p>
            <a:pPr indent="0" marL="0">
              <a:buNone/>
            </a:pPr>
            <a:r>
              <a:rPr lang="en-US" sz="1100" b="1" dirty="0">
                <a:solidFill>
                  <a:srgbClr val="C99A2E"/>
                </a:solidFill>
                <a:latin typeface="Arial" pitchFamily="34" charset="0"/>
                <a:ea typeface="Arial" pitchFamily="34" charset="-122"/>
                <a:cs typeface="Arial" pitchFamily="34" charset="-120"/>
              </a:rPr>
              <a:t>ACT VI</a:t>
            </a:r>
            <a:endParaRPr lang="en-US" sz="1100" dirty="0"/>
          </a:p>
        </p:txBody>
      </p:sp>
      <p:sp>
        <p:nvSpPr>
          <p:cNvPr id="40" name="Text 38"/>
          <p:cNvSpPr/>
          <p:nvPr/>
        </p:nvSpPr>
        <p:spPr>
          <a:xfrm>
            <a:off x="9692640" y="4206240"/>
            <a:ext cx="1554480" cy="274320"/>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Synthesis &amp; Defense</a:t>
            </a:r>
            <a:endParaRPr lang="en-US" sz="900" dirty="0"/>
          </a:p>
        </p:txBody>
      </p:sp>
      <p:sp>
        <p:nvSpPr>
          <p:cNvPr id="41" name="Text 39"/>
          <p:cNvSpPr/>
          <p:nvPr/>
        </p:nvSpPr>
        <p:spPr>
          <a:xfrm>
            <a:off x="8275320" y="4526280"/>
            <a:ext cx="2926080" cy="365760"/>
          </a:xfrm>
          <a:prstGeom prst="rect">
            <a:avLst/>
          </a:prstGeom>
          <a:noFill/>
          <a:ln/>
        </p:spPr>
        <p:txBody>
          <a:bodyPr wrap="square" rtlCol="0" anchor="ctr"/>
          <a:lstStyle/>
          <a:p>
            <a:pPr indent="0" marL="0">
              <a:buNone/>
            </a:pPr>
            <a:r>
              <a:rPr lang="en-US" sz="1600" b="1" dirty="0">
                <a:solidFill>
                  <a:srgbClr val="FAF7F2"/>
                </a:solidFill>
                <a:latin typeface="Georgia" pitchFamily="34" charset="0"/>
                <a:ea typeface="Georgia" pitchFamily="34" charset="-122"/>
                <a:cs typeface="Georgia" pitchFamily="34" charset="-120"/>
              </a:rPr>
              <a:t>The Finale</a:t>
            </a:r>
            <a:endParaRPr lang="en-US" sz="1600" dirty="0"/>
          </a:p>
        </p:txBody>
      </p:sp>
      <p:sp>
        <p:nvSpPr>
          <p:cNvPr id="42" name="Text 40"/>
          <p:cNvSpPr/>
          <p:nvPr/>
        </p:nvSpPr>
        <p:spPr>
          <a:xfrm>
            <a:off x="8275320" y="4892040"/>
            <a:ext cx="2926080" cy="82296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Measurable economic impacts, IEEE bibliography &amp; academic defense discussion.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03 · ACT I</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1371600"/>
            <a:ext cx="4114800" cy="3200400"/>
          </a:xfrm>
          <a:prstGeom prst="rect">
            <a:avLst/>
          </a:prstGeom>
          <a:noFill/>
          <a:ln/>
        </p:spPr>
        <p:txBody>
          <a:bodyPr wrap="square" rtlCol="0" anchor="ctr"/>
          <a:lstStyle/>
          <a:p>
            <a:pPr algn="l" indent="0" marL="0">
              <a:buNone/>
            </a:pPr>
            <a:r>
              <a:rPr lang="en-US" sz="12000" b="1" dirty="0">
                <a:solidFill>
                  <a:srgbClr val="1E1217"/>
                </a:solidFill>
                <a:latin typeface="Georgia" pitchFamily="34" charset="0"/>
                <a:ea typeface="Georgia" pitchFamily="34" charset="-122"/>
                <a:cs typeface="Georgia" pitchFamily="34" charset="-120"/>
              </a:rPr>
              <a:t>I</a:t>
            </a:r>
            <a:endParaRPr lang="en-US" sz="12000" dirty="0"/>
          </a:p>
        </p:txBody>
      </p:sp>
      <p:sp>
        <p:nvSpPr>
          <p:cNvPr id="6" name="Shape 4"/>
          <p:cNvSpPr/>
          <p:nvPr/>
        </p:nvSpPr>
        <p:spPr>
          <a:xfrm>
            <a:off x="731520" y="1828800"/>
            <a:ext cx="2194560" cy="365760"/>
          </a:xfrm>
          <a:prstGeom prst="roundRect">
            <a:avLst/>
          </a:prstGeom>
          <a:solidFill>
            <a:srgbClr val="C99A2E"/>
          </a:solidFill>
          <a:ln w="12700">
            <a:solidFill>
              <a:srgbClr val="E6B85C"/>
            </a:solidFill>
            <a:prstDash val="solid"/>
          </a:ln>
        </p:spPr>
      </p:sp>
      <p:sp>
        <p:nvSpPr>
          <p:cNvPr id="7" name="Text 5"/>
          <p:cNvSpPr/>
          <p:nvPr/>
        </p:nvSpPr>
        <p:spPr>
          <a:xfrm>
            <a:off x="731520" y="1828800"/>
            <a:ext cx="2194560" cy="365760"/>
          </a:xfrm>
          <a:prstGeom prst="rect">
            <a:avLst/>
          </a:prstGeom>
          <a:noFill/>
          <a:ln/>
        </p:spPr>
        <p:txBody>
          <a:bodyPr wrap="square" rtlCol="0" anchor="ctr"/>
          <a:lstStyle/>
          <a:p>
            <a:pPr algn="ctr" indent="0" marL="0">
              <a:buNone/>
            </a:pPr>
            <a:r>
              <a:rPr lang="en-US" sz="1100" b="1" dirty="0">
                <a:solidFill>
                  <a:srgbClr val="0E0709"/>
                </a:solidFill>
                <a:latin typeface="Arial" pitchFamily="34" charset="0"/>
                <a:ea typeface="Arial" pitchFamily="34" charset="-122"/>
                <a:cs typeface="Arial" pitchFamily="34" charset="-120"/>
              </a:rPr>
              <a:t>ACT I · THE WORLD TODAY</a:t>
            </a:r>
            <a:endParaRPr lang="en-US" sz="1100" dirty="0"/>
          </a:p>
        </p:txBody>
      </p:sp>
      <p:sp>
        <p:nvSpPr>
          <p:cNvPr id="8" name="Text 6"/>
          <p:cNvSpPr/>
          <p:nvPr/>
        </p:nvSpPr>
        <p:spPr>
          <a:xfrm>
            <a:off x="731520" y="2423160"/>
            <a:ext cx="10058400" cy="1005840"/>
          </a:xfrm>
          <a:prstGeom prst="rect">
            <a:avLst/>
          </a:prstGeom>
          <a:noFill/>
          <a:ln/>
        </p:spPr>
        <p:txBody>
          <a:bodyPr wrap="square" rtlCol="0" anchor="ctr"/>
          <a:lstStyle/>
          <a:p>
            <a:pPr indent="0" marL="0">
              <a:buNone/>
            </a:pPr>
            <a:r>
              <a:rPr lang="en-US" sz="4200" b="1" dirty="0">
                <a:solidFill>
                  <a:srgbClr val="FAF7F2"/>
                </a:solidFill>
                <a:latin typeface="Georgia" pitchFamily="34" charset="0"/>
                <a:ea typeface="Georgia" pitchFamily="34" charset="-122"/>
                <a:cs typeface="Georgia" pitchFamily="34" charset="-120"/>
              </a:rPr>
              <a:t>The Cost of Tradition: Offline Friction in High Fashion</a:t>
            </a:r>
            <a:endParaRPr lang="en-US" sz="4200" dirty="0"/>
          </a:p>
        </p:txBody>
      </p:sp>
      <p:sp>
        <p:nvSpPr>
          <p:cNvPr id="9" name="Text 7"/>
          <p:cNvSpPr/>
          <p:nvPr/>
        </p:nvSpPr>
        <p:spPr>
          <a:xfrm>
            <a:off x="731520" y="3520440"/>
            <a:ext cx="9601200" cy="731520"/>
          </a:xfrm>
          <a:prstGeom prst="rect">
            <a:avLst/>
          </a:prstGeom>
          <a:noFill/>
          <a:ln/>
        </p:spPr>
        <p:txBody>
          <a:bodyPr wrap="square" rtlCol="0" anchor="ctr"/>
          <a:lstStyle/>
          <a:p>
            <a:pPr indent="0" marL="0">
              <a:buNone/>
            </a:pPr>
            <a:r>
              <a:rPr lang="en-US" sz="1800" dirty="0">
                <a:solidFill>
                  <a:srgbClr val="E6B85C"/>
                </a:solidFill>
                <a:latin typeface="Arial" pitchFamily="34" charset="0"/>
                <a:ea typeface="Arial" pitchFamily="34" charset="-122"/>
                <a:cs typeface="Arial" pitchFamily="34" charset="-120"/>
              </a:rPr>
              <a:t>How high purchase costs, lack of trust, and fragmented local shops trap valuable wardrobes.</a:t>
            </a:r>
            <a:endParaRPr lang="en-US" sz="1800" dirty="0"/>
          </a:p>
        </p:txBody>
      </p:sp>
      <p:sp>
        <p:nvSpPr>
          <p:cNvPr id="10" name="Shape 8"/>
          <p:cNvSpPr/>
          <p:nvPr/>
        </p:nvSpPr>
        <p:spPr>
          <a:xfrm>
            <a:off x="9144000" y="2011680"/>
            <a:ext cx="2286000" cy="2743200"/>
          </a:xfrm>
          <a:prstGeom prst="arc">
            <a:avLst/>
          </a:prstGeom>
          <a:noFill/>
          <a:ln w="19050">
            <a:solidFill>
              <a:srgbClr val="C99A2E"/>
            </a:solidFill>
            <a:prstDash val="solid"/>
          </a:ln>
        </p:spPr>
      </p:sp>
      <p:sp>
        <p:nvSpPr>
          <p:cNvPr id="11" name="Shape 9"/>
          <p:cNvSpPr/>
          <p:nvPr/>
        </p:nvSpPr>
        <p:spPr>
          <a:xfrm>
            <a:off x="9372600" y="3383280"/>
            <a:ext cx="1828800" cy="2286000"/>
          </a:xfrm>
          <a:prstGeom prst="rect">
            <a:avLst/>
          </a:prstGeom>
          <a:noFill/>
          <a:ln w="12700">
            <a:solidFill>
              <a:srgbClr val="C99A2E"/>
            </a:solidFill>
            <a:prstDash val="solid"/>
          </a:ln>
        </p:spPr>
      </p:sp>
      <p:sp>
        <p:nvSpPr>
          <p:cNvPr id="12" name="Shape 10"/>
          <p:cNvSpPr/>
          <p:nvPr/>
        </p:nvSpPr>
        <p:spPr>
          <a:xfrm>
            <a:off x="731520" y="5669280"/>
            <a:ext cx="10728655" cy="73152"/>
          </a:xfrm>
          <a:prstGeom prst="rect">
            <a:avLst/>
          </a:prstGeom>
          <a:solidFill>
            <a:srgbClr val="2A1A20"/>
          </a:solidFill>
          <a:ln/>
        </p:spPr>
      </p:sp>
      <p:sp>
        <p:nvSpPr>
          <p:cNvPr id="13" name="Shape 11"/>
          <p:cNvSpPr/>
          <p:nvPr/>
        </p:nvSpPr>
        <p:spPr>
          <a:xfrm>
            <a:off x="731520" y="5669280"/>
            <a:ext cx="1716585" cy="73152"/>
          </a:xfrm>
          <a:prstGeom prst="rect">
            <a:avLst/>
          </a:prstGeom>
          <a:solidFill>
            <a:srgbClr val="C99A2E"/>
          </a:solidFill>
          <a:ln/>
        </p:spPr>
      </p:sp>
      <p:sp>
        <p:nvSpPr>
          <p:cNvPr id="14" name="Text 12"/>
          <p:cNvSpPr/>
          <p:nvPr/>
        </p:nvSpPr>
        <p:spPr>
          <a:xfrm>
            <a:off x="731520" y="5806440"/>
            <a:ext cx="5486400" cy="274320"/>
          </a:xfrm>
          <a:prstGeom prst="rect">
            <a:avLst/>
          </a:prstGeom>
          <a:noFill/>
          <a:ln/>
        </p:spPr>
        <p:txBody>
          <a:bodyPr wrap="square" rtlCol="0" anchor="ctr"/>
          <a:lstStyle/>
          <a:p>
            <a:pPr indent="0" marL="0">
              <a:buNone/>
            </a:pPr>
            <a:r>
              <a:rPr lang="en-US" sz="900" b="1" spc="100" kern="0" dirty="0">
                <a:solidFill>
                  <a:srgbClr val="C99A2E"/>
                </a:solidFill>
                <a:latin typeface="Arial" pitchFamily="34" charset="0"/>
                <a:ea typeface="Arial" pitchFamily="34" charset="-122"/>
                <a:cs typeface="Arial" pitchFamily="34" charset="-120"/>
              </a:rPr>
              <a:t>STORYLINE PROGRESSION: 16% COMPLETED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04 · ACT I</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04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CURRENT INDUSTRY REALITY</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The Traditional Offline Rental &amp; Purchase Cycle</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A fractured workflow relying on manual ledgers, physical visits, and high cash-deposit risks.</a:t>
            </a:r>
            <a:endParaRPr lang="en-US" sz="1300" dirty="0"/>
          </a:p>
        </p:txBody>
      </p:sp>
      <p:sp>
        <p:nvSpPr>
          <p:cNvPr id="10" name="Shape 8"/>
          <p:cNvSpPr/>
          <p:nvPr/>
        </p:nvSpPr>
        <p:spPr>
          <a:xfrm>
            <a:off x="731520" y="2011680"/>
            <a:ext cx="2514600" cy="4023360"/>
          </a:xfrm>
          <a:prstGeom prst="rect">
            <a:avLst/>
          </a:prstGeom>
          <a:solidFill>
            <a:srgbClr val="FFFFFF"/>
          </a:solidFill>
          <a:ln w="12700">
            <a:solidFill>
              <a:srgbClr val="E2DACD"/>
            </a:solidFill>
            <a:prstDash val="solid"/>
          </a:ln>
        </p:spPr>
      </p:sp>
      <p:sp>
        <p:nvSpPr>
          <p:cNvPr id="11" name="Shape 9"/>
          <p:cNvSpPr/>
          <p:nvPr/>
        </p:nvSpPr>
        <p:spPr>
          <a:xfrm>
            <a:off x="731520" y="2011680"/>
            <a:ext cx="2514600" cy="73152"/>
          </a:xfrm>
          <a:prstGeom prst="rect">
            <a:avLst/>
          </a:prstGeom>
          <a:solidFill>
            <a:srgbClr val="C53030"/>
          </a:solidFill>
          <a:ln/>
        </p:spPr>
      </p:sp>
      <p:sp>
        <p:nvSpPr>
          <p:cNvPr id="12" name="Text 10"/>
          <p:cNvSpPr/>
          <p:nvPr/>
        </p:nvSpPr>
        <p:spPr>
          <a:xfrm>
            <a:off x="914400" y="2240280"/>
            <a:ext cx="2103120" cy="457200"/>
          </a:xfrm>
          <a:prstGeom prst="rect">
            <a:avLst/>
          </a:prstGeom>
          <a:noFill/>
          <a:ln/>
        </p:spPr>
        <p:txBody>
          <a:bodyPr wrap="square" rtlCol="0" anchor="ctr"/>
          <a:lstStyle/>
          <a:p>
            <a:pPr indent="0" marL="0">
              <a:buNone/>
            </a:pPr>
            <a:r>
              <a:rPr lang="en-US" sz="2800" b="1" dirty="0">
                <a:solidFill>
                  <a:srgbClr val="C53030"/>
                </a:solidFill>
                <a:latin typeface="Georgia" pitchFamily="34" charset="0"/>
                <a:ea typeface="Georgia" pitchFamily="34" charset="-122"/>
                <a:cs typeface="Georgia" pitchFamily="34" charset="-120"/>
              </a:rPr>
              <a:t>01</a:t>
            </a:r>
            <a:endParaRPr lang="en-US" sz="2800" dirty="0"/>
          </a:p>
        </p:txBody>
      </p:sp>
      <p:sp>
        <p:nvSpPr>
          <p:cNvPr id="13" name="Text 11"/>
          <p:cNvSpPr/>
          <p:nvPr/>
        </p:nvSpPr>
        <p:spPr>
          <a:xfrm>
            <a:off x="914400" y="2788920"/>
            <a:ext cx="2103120" cy="640080"/>
          </a:xfrm>
          <a:prstGeom prst="rect">
            <a:avLst/>
          </a:prstGeom>
          <a:noFill/>
          <a:ln/>
        </p:spPr>
        <p:txBody>
          <a:bodyPr wrap="square" rtlCol="0" anchor="ctr"/>
          <a:lstStyle/>
          <a:p>
            <a:pPr indent="0" marL="0">
              <a:buNone/>
            </a:pPr>
            <a:r>
              <a:rPr lang="en-US" sz="1500" b="1" dirty="0">
                <a:solidFill>
                  <a:srgbClr val="1A1618"/>
                </a:solidFill>
                <a:latin typeface="Georgia" pitchFamily="34" charset="0"/>
                <a:ea typeface="Georgia" pitchFamily="34" charset="-122"/>
                <a:cs typeface="Georgia" pitchFamily="34" charset="-120"/>
              </a:rPr>
              <a:t>Extravagant Retail Purchase</a:t>
            </a:r>
            <a:endParaRPr lang="en-US" sz="1500" dirty="0"/>
          </a:p>
        </p:txBody>
      </p:sp>
      <p:sp>
        <p:nvSpPr>
          <p:cNvPr id="14" name="Text 12"/>
          <p:cNvSpPr/>
          <p:nvPr/>
        </p:nvSpPr>
        <p:spPr>
          <a:xfrm>
            <a:off x="914400" y="3474720"/>
            <a:ext cx="2103120" cy="1463040"/>
          </a:xfrm>
          <a:prstGeom prst="rect">
            <a:avLst/>
          </a:prstGeom>
          <a:noFill/>
          <a:ln/>
        </p:spPr>
        <p:txBody>
          <a:bodyPr wrap="square" rtlCol="0" anchor="ctr"/>
          <a:lstStyle/>
          <a:p>
            <a:pPr indent="0" marL="0">
              <a:buNone/>
            </a:pPr>
            <a:r>
              <a:rPr lang="en-US" sz="1100" dirty="0">
                <a:solidFill>
                  <a:srgbClr val="6B6367"/>
                </a:solidFill>
                <a:latin typeface="Arial" pitchFamily="34" charset="0"/>
                <a:ea typeface="Arial" pitchFamily="34" charset="-122"/>
                <a:cs typeface="Arial" pitchFamily="34" charset="-120"/>
              </a:rPr>
              <a:t>Families spend ₹40,000 to ₹1,50,000 on wedding attire used exclusively for one single night.</a:t>
            </a:r>
            <a:endParaRPr lang="en-US" sz="1100" dirty="0"/>
          </a:p>
        </p:txBody>
      </p:sp>
      <p:sp>
        <p:nvSpPr>
          <p:cNvPr id="15" name="Shape 13"/>
          <p:cNvSpPr/>
          <p:nvPr/>
        </p:nvSpPr>
        <p:spPr>
          <a:xfrm>
            <a:off x="914400" y="5257800"/>
            <a:ext cx="2148840" cy="411480"/>
          </a:xfrm>
          <a:prstGeom prst="roundRect">
            <a:avLst/>
          </a:prstGeom>
          <a:solidFill>
            <a:srgbClr val="FDF2F2"/>
          </a:solidFill>
          <a:ln w="6350">
            <a:solidFill>
              <a:srgbClr val="C53030"/>
            </a:solidFill>
            <a:prstDash val="solid"/>
          </a:ln>
        </p:spPr>
      </p:sp>
      <p:sp>
        <p:nvSpPr>
          <p:cNvPr id="16" name="Text 14"/>
          <p:cNvSpPr/>
          <p:nvPr/>
        </p:nvSpPr>
        <p:spPr>
          <a:xfrm>
            <a:off x="914400" y="5257800"/>
            <a:ext cx="2148840" cy="411480"/>
          </a:xfrm>
          <a:prstGeom prst="rect">
            <a:avLst/>
          </a:prstGeom>
          <a:noFill/>
          <a:ln/>
        </p:spPr>
        <p:txBody>
          <a:bodyPr wrap="square" rtlCol="0" anchor="ctr"/>
          <a:lstStyle/>
          <a:p>
            <a:pPr algn="ctr" indent="0" marL="0">
              <a:buNone/>
            </a:pPr>
            <a:r>
              <a:rPr lang="en-US" sz="900" b="1" dirty="0">
                <a:solidFill>
                  <a:srgbClr val="C53030"/>
                </a:solidFill>
                <a:latin typeface="Arial" pitchFamily="34" charset="0"/>
                <a:ea typeface="Arial" pitchFamily="34" charset="-122"/>
                <a:cs typeface="Arial" pitchFamily="34" charset="-120"/>
              </a:rPr>
              <a:t>Extreme Capital Depletion</a:t>
            </a:r>
            <a:endParaRPr lang="en-US" sz="900" dirty="0"/>
          </a:p>
        </p:txBody>
      </p:sp>
      <p:sp>
        <p:nvSpPr>
          <p:cNvPr id="17" name="Shape 15"/>
          <p:cNvSpPr/>
          <p:nvPr/>
        </p:nvSpPr>
        <p:spPr>
          <a:xfrm>
            <a:off x="3474720" y="2011680"/>
            <a:ext cx="2514600" cy="4023360"/>
          </a:xfrm>
          <a:prstGeom prst="rect">
            <a:avLst/>
          </a:prstGeom>
          <a:solidFill>
            <a:srgbClr val="FFFFFF"/>
          </a:solidFill>
          <a:ln w="12700">
            <a:solidFill>
              <a:srgbClr val="E2DACD"/>
            </a:solidFill>
            <a:prstDash val="solid"/>
          </a:ln>
        </p:spPr>
      </p:sp>
      <p:sp>
        <p:nvSpPr>
          <p:cNvPr id="18" name="Shape 16"/>
          <p:cNvSpPr/>
          <p:nvPr/>
        </p:nvSpPr>
        <p:spPr>
          <a:xfrm>
            <a:off x="3474720" y="2011680"/>
            <a:ext cx="2514600" cy="73152"/>
          </a:xfrm>
          <a:prstGeom prst="rect">
            <a:avLst/>
          </a:prstGeom>
          <a:solidFill>
            <a:srgbClr val="C53030"/>
          </a:solidFill>
          <a:ln/>
        </p:spPr>
      </p:sp>
      <p:sp>
        <p:nvSpPr>
          <p:cNvPr id="19" name="Text 17"/>
          <p:cNvSpPr/>
          <p:nvPr/>
        </p:nvSpPr>
        <p:spPr>
          <a:xfrm>
            <a:off x="3657600" y="2240280"/>
            <a:ext cx="2103120" cy="457200"/>
          </a:xfrm>
          <a:prstGeom prst="rect">
            <a:avLst/>
          </a:prstGeom>
          <a:noFill/>
          <a:ln/>
        </p:spPr>
        <p:txBody>
          <a:bodyPr wrap="square" rtlCol="0" anchor="ctr"/>
          <a:lstStyle/>
          <a:p>
            <a:pPr indent="0" marL="0">
              <a:buNone/>
            </a:pPr>
            <a:r>
              <a:rPr lang="en-US" sz="2800" b="1" dirty="0">
                <a:solidFill>
                  <a:srgbClr val="C53030"/>
                </a:solidFill>
                <a:latin typeface="Georgia" pitchFamily="34" charset="0"/>
                <a:ea typeface="Georgia" pitchFamily="34" charset="-122"/>
                <a:cs typeface="Georgia" pitchFamily="34" charset="-120"/>
              </a:rPr>
              <a:t>02</a:t>
            </a:r>
            <a:endParaRPr lang="en-US" sz="2800" dirty="0"/>
          </a:p>
        </p:txBody>
      </p:sp>
      <p:sp>
        <p:nvSpPr>
          <p:cNvPr id="20" name="Text 18"/>
          <p:cNvSpPr/>
          <p:nvPr/>
        </p:nvSpPr>
        <p:spPr>
          <a:xfrm>
            <a:off x="3657600" y="2788920"/>
            <a:ext cx="2103120" cy="640080"/>
          </a:xfrm>
          <a:prstGeom prst="rect">
            <a:avLst/>
          </a:prstGeom>
          <a:noFill/>
          <a:ln/>
        </p:spPr>
        <p:txBody>
          <a:bodyPr wrap="square" rtlCol="0" anchor="ctr"/>
          <a:lstStyle/>
          <a:p>
            <a:pPr indent="0" marL="0">
              <a:buNone/>
            </a:pPr>
            <a:r>
              <a:rPr lang="en-US" sz="1500" b="1" dirty="0">
                <a:solidFill>
                  <a:srgbClr val="1A1618"/>
                </a:solidFill>
                <a:latin typeface="Georgia" pitchFamily="34" charset="0"/>
                <a:ea typeface="Georgia" pitchFamily="34" charset="-122"/>
                <a:cs typeface="Georgia" pitchFamily="34" charset="-120"/>
              </a:rPr>
              <a:t>Wardrobe Burial</a:t>
            </a:r>
            <a:endParaRPr lang="en-US" sz="1500" dirty="0"/>
          </a:p>
        </p:txBody>
      </p:sp>
      <p:sp>
        <p:nvSpPr>
          <p:cNvPr id="21" name="Text 19"/>
          <p:cNvSpPr/>
          <p:nvPr/>
        </p:nvSpPr>
        <p:spPr>
          <a:xfrm>
            <a:off x="3657600" y="3474720"/>
            <a:ext cx="2103120" cy="1463040"/>
          </a:xfrm>
          <a:prstGeom prst="rect">
            <a:avLst/>
          </a:prstGeom>
          <a:noFill/>
          <a:ln/>
        </p:spPr>
        <p:txBody>
          <a:bodyPr wrap="square" rtlCol="0" anchor="ctr"/>
          <a:lstStyle/>
          <a:p>
            <a:pPr indent="0" marL="0">
              <a:buNone/>
            </a:pPr>
            <a:r>
              <a:rPr lang="en-US" sz="1100" dirty="0">
                <a:solidFill>
                  <a:srgbClr val="6B6367"/>
                </a:solidFill>
                <a:latin typeface="Arial" pitchFamily="34" charset="0"/>
                <a:ea typeface="Arial" pitchFamily="34" charset="-122"/>
                <a:cs typeface="Arial" pitchFamily="34" charset="-120"/>
              </a:rPr>
              <a:t>Outfits are stored in trunks with zero economic return; fabrics degrade and designs fall out of season.</a:t>
            </a:r>
            <a:endParaRPr lang="en-US" sz="1100" dirty="0"/>
          </a:p>
        </p:txBody>
      </p:sp>
      <p:sp>
        <p:nvSpPr>
          <p:cNvPr id="22" name="Shape 20"/>
          <p:cNvSpPr/>
          <p:nvPr/>
        </p:nvSpPr>
        <p:spPr>
          <a:xfrm>
            <a:off x="3657600" y="5257800"/>
            <a:ext cx="2148840" cy="411480"/>
          </a:xfrm>
          <a:prstGeom prst="roundRect">
            <a:avLst/>
          </a:prstGeom>
          <a:solidFill>
            <a:srgbClr val="FDF2F2"/>
          </a:solidFill>
          <a:ln w="6350">
            <a:solidFill>
              <a:srgbClr val="C53030"/>
            </a:solidFill>
            <a:prstDash val="solid"/>
          </a:ln>
        </p:spPr>
      </p:sp>
      <p:sp>
        <p:nvSpPr>
          <p:cNvPr id="23" name="Text 21"/>
          <p:cNvSpPr/>
          <p:nvPr/>
        </p:nvSpPr>
        <p:spPr>
          <a:xfrm>
            <a:off x="3657600" y="5257800"/>
            <a:ext cx="2148840" cy="411480"/>
          </a:xfrm>
          <a:prstGeom prst="rect">
            <a:avLst/>
          </a:prstGeom>
          <a:noFill/>
          <a:ln/>
        </p:spPr>
        <p:txBody>
          <a:bodyPr wrap="square" rtlCol="0" anchor="ctr"/>
          <a:lstStyle/>
          <a:p>
            <a:pPr algn="ctr" indent="0" marL="0">
              <a:buNone/>
            </a:pPr>
            <a:r>
              <a:rPr lang="en-US" sz="900" b="1" dirty="0">
                <a:solidFill>
                  <a:srgbClr val="C53030"/>
                </a:solidFill>
                <a:latin typeface="Arial" pitchFamily="34" charset="0"/>
                <a:ea typeface="Arial" pitchFamily="34" charset="-122"/>
                <a:cs typeface="Arial" pitchFamily="34" charset="-120"/>
              </a:rPr>
              <a:t>100% Dead Capital</a:t>
            </a:r>
            <a:endParaRPr lang="en-US" sz="900" dirty="0"/>
          </a:p>
        </p:txBody>
      </p:sp>
      <p:sp>
        <p:nvSpPr>
          <p:cNvPr id="24" name="Shape 22"/>
          <p:cNvSpPr/>
          <p:nvPr/>
        </p:nvSpPr>
        <p:spPr>
          <a:xfrm>
            <a:off x="6217920" y="2011680"/>
            <a:ext cx="2514600" cy="4023360"/>
          </a:xfrm>
          <a:prstGeom prst="rect">
            <a:avLst/>
          </a:prstGeom>
          <a:solidFill>
            <a:srgbClr val="FFFFFF"/>
          </a:solidFill>
          <a:ln w="12700">
            <a:solidFill>
              <a:srgbClr val="E2DACD"/>
            </a:solidFill>
            <a:prstDash val="solid"/>
          </a:ln>
        </p:spPr>
      </p:sp>
      <p:sp>
        <p:nvSpPr>
          <p:cNvPr id="25" name="Shape 23"/>
          <p:cNvSpPr/>
          <p:nvPr/>
        </p:nvSpPr>
        <p:spPr>
          <a:xfrm>
            <a:off x="6217920" y="2011680"/>
            <a:ext cx="2514600" cy="73152"/>
          </a:xfrm>
          <a:prstGeom prst="rect">
            <a:avLst/>
          </a:prstGeom>
          <a:solidFill>
            <a:srgbClr val="C53030"/>
          </a:solidFill>
          <a:ln/>
        </p:spPr>
      </p:sp>
      <p:sp>
        <p:nvSpPr>
          <p:cNvPr id="26" name="Text 24"/>
          <p:cNvSpPr/>
          <p:nvPr/>
        </p:nvSpPr>
        <p:spPr>
          <a:xfrm>
            <a:off x="6400800" y="2240280"/>
            <a:ext cx="2103120" cy="457200"/>
          </a:xfrm>
          <a:prstGeom prst="rect">
            <a:avLst/>
          </a:prstGeom>
          <a:noFill/>
          <a:ln/>
        </p:spPr>
        <p:txBody>
          <a:bodyPr wrap="square" rtlCol="0" anchor="ctr"/>
          <a:lstStyle/>
          <a:p>
            <a:pPr indent="0" marL="0">
              <a:buNone/>
            </a:pPr>
            <a:r>
              <a:rPr lang="en-US" sz="2800" b="1" dirty="0">
                <a:solidFill>
                  <a:srgbClr val="C53030"/>
                </a:solidFill>
                <a:latin typeface="Georgia" pitchFamily="34" charset="0"/>
                <a:ea typeface="Georgia" pitchFamily="34" charset="-122"/>
                <a:cs typeface="Georgia" pitchFamily="34" charset="-120"/>
              </a:rPr>
              <a:t>03</a:t>
            </a:r>
            <a:endParaRPr lang="en-US" sz="2800" dirty="0"/>
          </a:p>
        </p:txBody>
      </p:sp>
      <p:sp>
        <p:nvSpPr>
          <p:cNvPr id="27" name="Text 25"/>
          <p:cNvSpPr/>
          <p:nvPr/>
        </p:nvSpPr>
        <p:spPr>
          <a:xfrm>
            <a:off x="6400800" y="2788920"/>
            <a:ext cx="2103120" cy="640080"/>
          </a:xfrm>
          <a:prstGeom prst="rect">
            <a:avLst/>
          </a:prstGeom>
          <a:noFill/>
          <a:ln/>
        </p:spPr>
        <p:txBody>
          <a:bodyPr wrap="square" rtlCol="0" anchor="ctr"/>
          <a:lstStyle/>
          <a:p>
            <a:pPr indent="0" marL="0">
              <a:buNone/>
            </a:pPr>
            <a:r>
              <a:rPr lang="en-US" sz="1500" b="1" dirty="0">
                <a:solidFill>
                  <a:srgbClr val="1A1618"/>
                </a:solidFill>
                <a:latin typeface="Georgia" pitchFamily="34" charset="0"/>
                <a:ea typeface="Georgia" pitchFamily="34" charset="-122"/>
                <a:cs typeface="Georgia" pitchFamily="34" charset="-120"/>
              </a:rPr>
              <a:t>Scattered Offline Rentals</a:t>
            </a:r>
            <a:endParaRPr lang="en-US" sz="1500" dirty="0"/>
          </a:p>
        </p:txBody>
      </p:sp>
      <p:sp>
        <p:nvSpPr>
          <p:cNvPr id="28" name="Text 26"/>
          <p:cNvSpPr/>
          <p:nvPr/>
        </p:nvSpPr>
        <p:spPr>
          <a:xfrm>
            <a:off x="6400800" y="3474720"/>
            <a:ext cx="2103120" cy="1463040"/>
          </a:xfrm>
          <a:prstGeom prst="rect">
            <a:avLst/>
          </a:prstGeom>
          <a:noFill/>
          <a:ln/>
        </p:spPr>
        <p:txBody>
          <a:bodyPr wrap="square" rtlCol="0" anchor="ctr"/>
          <a:lstStyle/>
          <a:p>
            <a:pPr indent="0" marL="0">
              <a:buNone/>
            </a:pPr>
            <a:r>
              <a:rPr lang="en-US" sz="1100" dirty="0">
                <a:solidFill>
                  <a:srgbClr val="6B6367"/>
                </a:solidFill>
                <a:latin typeface="Arial" pitchFamily="34" charset="0"/>
                <a:ea typeface="Arial" pitchFamily="34" charset="-122"/>
                <a:cs typeface="Arial" pitchFamily="34" charset="-120"/>
              </a:rPr>
              <a:t>Renters must physically travel across dozens of congested shops with no live inventory visibility.</a:t>
            </a:r>
            <a:endParaRPr lang="en-US" sz="1100" dirty="0"/>
          </a:p>
        </p:txBody>
      </p:sp>
      <p:sp>
        <p:nvSpPr>
          <p:cNvPr id="29" name="Shape 27"/>
          <p:cNvSpPr/>
          <p:nvPr/>
        </p:nvSpPr>
        <p:spPr>
          <a:xfrm>
            <a:off x="6400800" y="5257800"/>
            <a:ext cx="2148840" cy="411480"/>
          </a:xfrm>
          <a:prstGeom prst="roundRect">
            <a:avLst/>
          </a:prstGeom>
          <a:solidFill>
            <a:srgbClr val="FDF2F2"/>
          </a:solidFill>
          <a:ln w="6350">
            <a:solidFill>
              <a:srgbClr val="C53030"/>
            </a:solidFill>
            <a:prstDash val="solid"/>
          </a:ln>
        </p:spPr>
      </p:sp>
      <p:sp>
        <p:nvSpPr>
          <p:cNvPr id="30" name="Text 28"/>
          <p:cNvSpPr/>
          <p:nvPr/>
        </p:nvSpPr>
        <p:spPr>
          <a:xfrm>
            <a:off x="6400800" y="5257800"/>
            <a:ext cx="2148840" cy="411480"/>
          </a:xfrm>
          <a:prstGeom prst="rect">
            <a:avLst/>
          </a:prstGeom>
          <a:noFill/>
          <a:ln/>
        </p:spPr>
        <p:txBody>
          <a:bodyPr wrap="square" rtlCol="0" anchor="ctr"/>
          <a:lstStyle/>
          <a:p>
            <a:pPr algn="ctr" indent="0" marL="0">
              <a:buNone/>
            </a:pPr>
            <a:r>
              <a:rPr lang="en-US" sz="900" b="1" dirty="0">
                <a:solidFill>
                  <a:srgbClr val="C53030"/>
                </a:solidFill>
                <a:latin typeface="Arial" pitchFamily="34" charset="0"/>
                <a:ea typeface="Arial" pitchFamily="34" charset="-122"/>
                <a:cs typeface="Arial" pitchFamily="34" charset="-120"/>
              </a:rPr>
              <a:t>High Friction &amp; Time Loss</a:t>
            </a:r>
            <a:endParaRPr lang="en-US" sz="900" dirty="0"/>
          </a:p>
        </p:txBody>
      </p:sp>
      <p:sp>
        <p:nvSpPr>
          <p:cNvPr id="31" name="Shape 29"/>
          <p:cNvSpPr/>
          <p:nvPr/>
        </p:nvSpPr>
        <p:spPr>
          <a:xfrm>
            <a:off x="8961120" y="2011680"/>
            <a:ext cx="2514600" cy="4023360"/>
          </a:xfrm>
          <a:prstGeom prst="rect">
            <a:avLst/>
          </a:prstGeom>
          <a:solidFill>
            <a:srgbClr val="FFFFFF"/>
          </a:solidFill>
          <a:ln w="12700">
            <a:solidFill>
              <a:srgbClr val="E2DACD"/>
            </a:solidFill>
            <a:prstDash val="solid"/>
          </a:ln>
        </p:spPr>
      </p:sp>
      <p:sp>
        <p:nvSpPr>
          <p:cNvPr id="32" name="Shape 30"/>
          <p:cNvSpPr/>
          <p:nvPr/>
        </p:nvSpPr>
        <p:spPr>
          <a:xfrm>
            <a:off x="8961120" y="2011680"/>
            <a:ext cx="2514600" cy="73152"/>
          </a:xfrm>
          <a:prstGeom prst="rect">
            <a:avLst/>
          </a:prstGeom>
          <a:solidFill>
            <a:srgbClr val="C53030"/>
          </a:solidFill>
          <a:ln/>
        </p:spPr>
      </p:sp>
      <p:sp>
        <p:nvSpPr>
          <p:cNvPr id="33" name="Text 31"/>
          <p:cNvSpPr/>
          <p:nvPr/>
        </p:nvSpPr>
        <p:spPr>
          <a:xfrm>
            <a:off x="9144000" y="2240280"/>
            <a:ext cx="2103120" cy="457200"/>
          </a:xfrm>
          <a:prstGeom prst="rect">
            <a:avLst/>
          </a:prstGeom>
          <a:noFill/>
          <a:ln/>
        </p:spPr>
        <p:txBody>
          <a:bodyPr wrap="square" rtlCol="0" anchor="ctr"/>
          <a:lstStyle/>
          <a:p>
            <a:pPr indent="0" marL="0">
              <a:buNone/>
            </a:pPr>
            <a:r>
              <a:rPr lang="en-US" sz="2800" b="1" dirty="0">
                <a:solidFill>
                  <a:srgbClr val="C53030"/>
                </a:solidFill>
                <a:latin typeface="Georgia" pitchFamily="34" charset="0"/>
                <a:ea typeface="Georgia" pitchFamily="34" charset="-122"/>
                <a:cs typeface="Georgia" pitchFamily="34" charset="-120"/>
              </a:rPr>
              <a:t>04</a:t>
            </a:r>
            <a:endParaRPr lang="en-US" sz="2800" dirty="0"/>
          </a:p>
        </p:txBody>
      </p:sp>
      <p:sp>
        <p:nvSpPr>
          <p:cNvPr id="34" name="Text 32"/>
          <p:cNvSpPr/>
          <p:nvPr/>
        </p:nvSpPr>
        <p:spPr>
          <a:xfrm>
            <a:off x="9144000" y="2788920"/>
            <a:ext cx="2103120" cy="640080"/>
          </a:xfrm>
          <a:prstGeom prst="rect">
            <a:avLst/>
          </a:prstGeom>
          <a:noFill/>
          <a:ln/>
        </p:spPr>
        <p:txBody>
          <a:bodyPr wrap="square" rtlCol="0" anchor="ctr"/>
          <a:lstStyle/>
          <a:p>
            <a:pPr indent="0" marL="0">
              <a:buNone/>
            </a:pPr>
            <a:r>
              <a:rPr lang="en-US" sz="1500" b="1" dirty="0">
                <a:solidFill>
                  <a:srgbClr val="1A1618"/>
                </a:solidFill>
                <a:latin typeface="Georgia" pitchFamily="34" charset="0"/>
                <a:ea typeface="Georgia" pitchFamily="34" charset="-122"/>
                <a:cs typeface="Georgia" pitchFamily="34" charset="-120"/>
              </a:rPr>
              <a:t>Paper Ledgers &amp; Cash Risk</a:t>
            </a:r>
            <a:endParaRPr lang="en-US" sz="1500" dirty="0"/>
          </a:p>
        </p:txBody>
      </p:sp>
      <p:sp>
        <p:nvSpPr>
          <p:cNvPr id="35" name="Text 33"/>
          <p:cNvSpPr/>
          <p:nvPr/>
        </p:nvSpPr>
        <p:spPr>
          <a:xfrm>
            <a:off x="9144000" y="3474720"/>
            <a:ext cx="2103120" cy="1463040"/>
          </a:xfrm>
          <a:prstGeom prst="rect">
            <a:avLst/>
          </a:prstGeom>
          <a:noFill/>
          <a:ln/>
        </p:spPr>
        <p:txBody>
          <a:bodyPr wrap="square" rtlCol="0" anchor="ctr"/>
          <a:lstStyle/>
          <a:p>
            <a:pPr indent="0" marL="0">
              <a:buNone/>
            </a:pPr>
            <a:r>
              <a:rPr lang="en-US" sz="1100" dirty="0">
                <a:solidFill>
                  <a:srgbClr val="6B6367"/>
                </a:solidFill>
                <a:latin typeface="Arial" pitchFamily="34" charset="0"/>
                <a:ea typeface="Arial" pitchFamily="34" charset="-122"/>
                <a:cs typeface="Arial" pitchFamily="34" charset="-120"/>
              </a:rPr>
              <a:t>Boutique owners manage rentals in physical notebooks with arbitrary cash deposits and zero fraud protection.</a:t>
            </a:r>
            <a:endParaRPr lang="en-US" sz="1100" dirty="0"/>
          </a:p>
        </p:txBody>
      </p:sp>
      <p:sp>
        <p:nvSpPr>
          <p:cNvPr id="36" name="Shape 34"/>
          <p:cNvSpPr/>
          <p:nvPr/>
        </p:nvSpPr>
        <p:spPr>
          <a:xfrm>
            <a:off x="9144000" y="5257800"/>
            <a:ext cx="2148840" cy="411480"/>
          </a:xfrm>
          <a:prstGeom prst="roundRect">
            <a:avLst/>
          </a:prstGeom>
          <a:solidFill>
            <a:srgbClr val="FDF2F2"/>
          </a:solidFill>
          <a:ln w="6350">
            <a:solidFill>
              <a:srgbClr val="C53030"/>
            </a:solidFill>
            <a:prstDash val="solid"/>
          </a:ln>
        </p:spPr>
      </p:sp>
      <p:sp>
        <p:nvSpPr>
          <p:cNvPr id="37" name="Text 35"/>
          <p:cNvSpPr/>
          <p:nvPr/>
        </p:nvSpPr>
        <p:spPr>
          <a:xfrm>
            <a:off x="9144000" y="5257800"/>
            <a:ext cx="2148840" cy="411480"/>
          </a:xfrm>
          <a:prstGeom prst="rect">
            <a:avLst/>
          </a:prstGeom>
          <a:noFill/>
          <a:ln/>
        </p:spPr>
        <p:txBody>
          <a:bodyPr wrap="square" rtlCol="0" anchor="ctr"/>
          <a:lstStyle/>
          <a:p>
            <a:pPr algn="ctr" indent="0" marL="0">
              <a:buNone/>
            </a:pPr>
            <a:r>
              <a:rPr lang="en-US" sz="900" b="1" dirty="0">
                <a:solidFill>
                  <a:srgbClr val="C53030"/>
                </a:solidFill>
                <a:latin typeface="Arial" pitchFamily="34" charset="0"/>
                <a:ea typeface="Arial" pitchFamily="34" charset="-122"/>
                <a:cs typeface="Arial" pitchFamily="34" charset="-120"/>
              </a:rPr>
              <a:t>High Dispute Rate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05 · ACT I</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05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PAIN POINT ANALYSIS</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Four Structural Failures of Traditional Rental Systems</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Severe inefficiencies that affect renters, boutique owners, and luxury garment longevity.</a:t>
            </a:r>
            <a:endParaRPr lang="en-US" sz="1300" dirty="0"/>
          </a:p>
        </p:txBody>
      </p:sp>
      <p:sp>
        <p:nvSpPr>
          <p:cNvPr id="10" name="Shape 8"/>
          <p:cNvSpPr/>
          <p:nvPr/>
        </p:nvSpPr>
        <p:spPr>
          <a:xfrm>
            <a:off x="731520" y="2011680"/>
            <a:ext cx="5212080" cy="1920240"/>
          </a:xfrm>
          <a:prstGeom prst="rect">
            <a:avLst/>
          </a:prstGeom>
          <a:solidFill>
            <a:srgbClr val="FFFFFF"/>
          </a:solidFill>
          <a:ln w="12700">
            <a:solidFill>
              <a:srgbClr val="E2DACD"/>
            </a:solidFill>
            <a:prstDash val="solid"/>
          </a:ln>
        </p:spPr>
      </p:sp>
      <p:sp>
        <p:nvSpPr>
          <p:cNvPr id="11" name="Text 9"/>
          <p:cNvSpPr/>
          <p:nvPr/>
        </p:nvSpPr>
        <p:spPr>
          <a:xfrm>
            <a:off x="1005840" y="2194560"/>
            <a:ext cx="1371600" cy="274320"/>
          </a:xfrm>
          <a:prstGeom prst="rect">
            <a:avLst/>
          </a:prstGeom>
          <a:noFill/>
          <a:ln/>
        </p:spPr>
        <p:txBody>
          <a:bodyPr wrap="square" rtlCol="0" anchor="ctr"/>
          <a:lstStyle/>
          <a:p>
            <a:pPr indent="0" marL="0">
              <a:buNone/>
            </a:pPr>
            <a:r>
              <a:rPr lang="en-US" sz="1000" b="1" dirty="0">
                <a:solidFill>
                  <a:srgbClr val="C53030"/>
                </a:solidFill>
                <a:latin typeface="Consolas" pitchFamily="34" charset="0"/>
                <a:ea typeface="Consolas" pitchFamily="34" charset="-122"/>
                <a:cs typeface="Consolas" pitchFamily="34" charset="-120"/>
              </a:rPr>
              <a:t>PAIN-01</a:t>
            </a:r>
            <a:endParaRPr lang="en-US" sz="1000" dirty="0"/>
          </a:p>
        </p:txBody>
      </p:sp>
      <p:sp>
        <p:nvSpPr>
          <p:cNvPr id="12" name="Text 10"/>
          <p:cNvSpPr/>
          <p:nvPr/>
        </p:nvSpPr>
        <p:spPr>
          <a:xfrm>
            <a:off x="1005840" y="2468880"/>
            <a:ext cx="4663440" cy="320040"/>
          </a:xfrm>
          <a:prstGeom prst="rect">
            <a:avLst/>
          </a:prstGeom>
          <a:noFill/>
          <a:ln/>
        </p:spPr>
        <p:txBody>
          <a:bodyPr wrap="square" rtlCol="0" anchor="ctr"/>
          <a:lstStyle/>
          <a:p>
            <a:pPr indent="0" marL="0">
              <a:buNone/>
            </a:pPr>
            <a:r>
              <a:rPr lang="en-US" sz="1600" b="1" dirty="0">
                <a:solidFill>
                  <a:srgbClr val="1A1618"/>
                </a:solidFill>
                <a:latin typeface="Georgia" pitchFamily="34" charset="0"/>
                <a:ea typeface="Georgia" pitchFamily="34" charset="-122"/>
                <a:cs typeface="Georgia" pitchFamily="34" charset="-120"/>
              </a:rPr>
              <a:t>Astronomical Financial Waste</a:t>
            </a:r>
            <a:endParaRPr lang="en-US" sz="1600" dirty="0"/>
          </a:p>
        </p:txBody>
      </p:sp>
      <p:sp>
        <p:nvSpPr>
          <p:cNvPr id="13" name="Text 11"/>
          <p:cNvSpPr/>
          <p:nvPr/>
        </p:nvSpPr>
        <p:spPr>
          <a:xfrm>
            <a:off x="1005840" y="2834640"/>
            <a:ext cx="4663440" cy="548640"/>
          </a:xfrm>
          <a:prstGeom prst="rect">
            <a:avLst/>
          </a:prstGeom>
          <a:noFill/>
          <a:ln/>
        </p:spPr>
        <p:txBody>
          <a:bodyPr wrap="square" rtlCol="0" anchor="ctr"/>
          <a:lstStyle/>
          <a:p>
            <a:pPr indent="0" marL="0">
              <a:buNone/>
            </a:pPr>
            <a:r>
              <a:rPr lang="en-US" sz="1100" dirty="0">
                <a:solidFill>
                  <a:srgbClr val="6B6367"/>
                </a:solidFill>
                <a:latin typeface="Arial" pitchFamily="34" charset="0"/>
                <a:ea typeface="Arial" pitchFamily="34" charset="-122"/>
                <a:cs typeface="Arial" pitchFamily="34" charset="-120"/>
              </a:rPr>
              <a:t>Customers spend 20% to 40% of their event budget on outfits that lose 90% of their utility after the ceremony.</a:t>
            </a:r>
            <a:endParaRPr lang="en-US" sz="1100" dirty="0"/>
          </a:p>
        </p:txBody>
      </p:sp>
      <p:sp>
        <p:nvSpPr>
          <p:cNvPr id="14" name="Shape 12"/>
          <p:cNvSpPr/>
          <p:nvPr/>
        </p:nvSpPr>
        <p:spPr>
          <a:xfrm>
            <a:off x="1005840" y="3429000"/>
            <a:ext cx="4663440" cy="320040"/>
          </a:xfrm>
          <a:prstGeom prst="rect">
            <a:avLst/>
          </a:prstGeom>
          <a:solidFill>
            <a:srgbClr val="FDF2F2"/>
          </a:solidFill>
          <a:ln/>
        </p:spPr>
      </p:sp>
      <p:sp>
        <p:nvSpPr>
          <p:cNvPr id="15" name="Text 13"/>
          <p:cNvSpPr/>
          <p:nvPr/>
        </p:nvSpPr>
        <p:spPr>
          <a:xfrm>
            <a:off x="1097280" y="3429000"/>
            <a:ext cx="4480560" cy="320040"/>
          </a:xfrm>
          <a:prstGeom prst="rect">
            <a:avLst/>
          </a:prstGeom>
          <a:noFill/>
          <a:ln/>
        </p:spPr>
        <p:txBody>
          <a:bodyPr wrap="square" rtlCol="0" anchor="ctr"/>
          <a:lstStyle/>
          <a:p>
            <a:pPr indent="0" marL="0">
              <a:buNone/>
            </a:pPr>
            <a:r>
              <a:rPr lang="en-US" sz="900" b="1" dirty="0">
                <a:solidFill>
                  <a:srgbClr val="C53030"/>
                </a:solidFill>
                <a:latin typeface="Arial" pitchFamily="34" charset="0"/>
                <a:ea typeface="Arial" pitchFamily="34" charset="-122"/>
                <a:cs typeface="Arial" pitchFamily="34" charset="-120"/>
              </a:rPr>
              <a:t>CRITICAL IMPACT: Average ₹50,000+ lost per wedding attendee</a:t>
            </a:r>
            <a:endParaRPr lang="en-US" sz="900" dirty="0"/>
          </a:p>
        </p:txBody>
      </p:sp>
      <p:sp>
        <p:nvSpPr>
          <p:cNvPr id="16" name="Shape 14"/>
          <p:cNvSpPr/>
          <p:nvPr/>
        </p:nvSpPr>
        <p:spPr>
          <a:xfrm>
            <a:off x="6217920" y="2011680"/>
            <a:ext cx="5212080" cy="1920240"/>
          </a:xfrm>
          <a:prstGeom prst="rect">
            <a:avLst/>
          </a:prstGeom>
          <a:solidFill>
            <a:srgbClr val="FFFFFF"/>
          </a:solidFill>
          <a:ln w="12700">
            <a:solidFill>
              <a:srgbClr val="E2DACD"/>
            </a:solidFill>
            <a:prstDash val="solid"/>
          </a:ln>
        </p:spPr>
      </p:sp>
      <p:sp>
        <p:nvSpPr>
          <p:cNvPr id="17" name="Text 15"/>
          <p:cNvSpPr/>
          <p:nvPr/>
        </p:nvSpPr>
        <p:spPr>
          <a:xfrm>
            <a:off x="6492240" y="2194560"/>
            <a:ext cx="1371600" cy="274320"/>
          </a:xfrm>
          <a:prstGeom prst="rect">
            <a:avLst/>
          </a:prstGeom>
          <a:noFill/>
          <a:ln/>
        </p:spPr>
        <p:txBody>
          <a:bodyPr wrap="square" rtlCol="0" anchor="ctr"/>
          <a:lstStyle/>
          <a:p>
            <a:pPr indent="0" marL="0">
              <a:buNone/>
            </a:pPr>
            <a:r>
              <a:rPr lang="en-US" sz="1000" b="1" dirty="0">
                <a:solidFill>
                  <a:srgbClr val="C53030"/>
                </a:solidFill>
                <a:latin typeface="Consolas" pitchFamily="34" charset="0"/>
                <a:ea typeface="Consolas" pitchFamily="34" charset="-122"/>
                <a:cs typeface="Consolas" pitchFamily="34" charset="-120"/>
              </a:rPr>
              <a:t>PAIN-02</a:t>
            </a:r>
            <a:endParaRPr lang="en-US" sz="1000" dirty="0"/>
          </a:p>
        </p:txBody>
      </p:sp>
      <p:sp>
        <p:nvSpPr>
          <p:cNvPr id="18" name="Text 16"/>
          <p:cNvSpPr/>
          <p:nvPr/>
        </p:nvSpPr>
        <p:spPr>
          <a:xfrm>
            <a:off x="6492240" y="2468880"/>
            <a:ext cx="4663440" cy="320040"/>
          </a:xfrm>
          <a:prstGeom prst="rect">
            <a:avLst/>
          </a:prstGeom>
          <a:noFill/>
          <a:ln/>
        </p:spPr>
        <p:txBody>
          <a:bodyPr wrap="square" rtlCol="0" anchor="ctr"/>
          <a:lstStyle/>
          <a:p>
            <a:pPr indent="0" marL="0">
              <a:buNone/>
            </a:pPr>
            <a:r>
              <a:rPr lang="en-US" sz="1600" b="1" dirty="0">
                <a:solidFill>
                  <a:srgbClr val="1A1618"/>
                </a:solidFill>
                <a:latin typeface="Georgia" pitchFamily="34" charset="0"/>
                <a:ea typeface="Georgia" pitchFamily="34" charset="-122"/>
                <a:cs typeface="Georgia" pitchFamily="34" charset="-120"/>
              </a:rPr>
              <a:t>Zero Deposit Escrow Security</a:t>
            </a:r>
            <a:endParaRPr lang="en-US" sz="1600" dirty="0"/>
          </a:p>
        </p:txBody>
      </p:sp>
      <p:sp>
        <p:nvSpPr>
          <p:cNvPr id="19" name="Text 17"/>
          <p:cNvSpPr/>
          <p:nvPr/>
        </p:nvSpPr>
        <p:spPr>
          <a:xfrm>
            <a:off x="6492240" y="2834640"/>
            <a:ext cx="4663440" cy="548640"/>
          </a:xfrm>
          <a:prstGeom prst="rect">
            <a:avLst/>
          </a:prstGeom>
          <a:noFill/>
          <a:ln/>
        </p:spPr>
        <p:txBody>
          <a:bodyPr wrap="square" rtlCol="0" anchor="ctr"/>
          <a:lstStyle/>
          <a:p>
            <a:pPr indent="0" marL="0">
              <a:buNone/>
            </a:pPr>
            <a:r>
              <a:rPr lang="en-US" sz="1100" dirty="0">
                <a:solidFill>
                  <a:srgbClr val="6B6367"/>
                </a:solidFill>
                <a:latin typeface="Arial" pitchFamily="34" charset="0"/>
                <a:ea typeface="Arial" pitchFamily="34" charset="-122"/>
                <a:cs typeface="Arial" pitchFamily="34" charset="-120"/>
              </a:rPr>
              <a:t>Traditional shops withhold arbitrary cash security sums. Renters face unjustified deduction claims for standard wear.</a:t>
            </a:r>
            <a:endParaRPr lang="en-US" sz="1100" dirty="0"/>
          </a:p>
        </p:txBody>
      </p:sp>
      <p:sp>
        <p:nvSpPr>
          <p:cNvPr id="20" name="Shape 18"/>
          <p:cNvSpPr/>
          <p:nvPr/>
        </p:nvSpPr>
        <p:spPr>
          <a:xfrm>
            <a:off x="6492240" y="3429000"/>
            <a:ext cx="4663440" cy="320040"/>
          </a:xfrm>
          <a:prstGeom prst="rect">
            <a:avLst/>
          </a:prstGeom>
          <a:solidFill>
            <a:srgbClr val="FDF2F2"/>
          </a:solidFill>
          <a:ln/>
        </p:spPr>
      </p:sp>
      <p:sp>
        <p:nvSpPr>
          <p:cNvPr id="21" name="Text 19"/>
          <p:cNvSpPr/>
          <p:nvPr/>
        </p:nvSpPr>
        <p:spPr>
          <a:xfrm>
            <a:off x="6583680" y="3429000"/>
            <a:ext cx="4480560" cy="320040"/>
          </a:xfrm>
          <a:prstGeom prst="rect">
            <a:avLst/>
          </a:prstGeom>
          <a:noFill/>
          <a:ln/>
        </p:spPr>
        <p:txBody>
          <a:bodyPr wrap="square" rtlCol="0" anchor="ctr"/>
          <a:lstStyle/>
          <a:p>
            <a:pPr indent="0" marL="0">
              <a:buNone/>
            </a:pPr>
            <a:r>
              <a:rPr lang="en-US" sz="900" b="1" dirty="0">
                <a:solidFill>
                  <a:srgbClr val="C53030"/>
                </a:solidFill>
                <a:latin typeface="Arial" pitchFamily="34" charset="0"/>
                <a:ea typeface="Arial" pitchFamily="34" charset="-122"/>
                <a:cs typeface="Arial" pitchFamily="34" charset="-120"/>
              </a:rPr>
              <a:t>CRITICAL IMPACT: Frequent friction &amp; lack of formal dispute recourse</a:t>
            </a:r>
            <a:endParaRPr lang="en-US" sz="900" dirty="0"/>
          </a:p>
        </p:txBody>
      </p:sp>
      <p:sp>
        <p:nvSpPr>
          <p:cNvPr id="22" name="Shape 20"/>
          <p:cNvSpPr/>
          <p:nvPr/>
        </p:nvSpPr>
        <p:spPr>
          <a:xfrm>
            <a:off x="731520" y="4114800"/>
            <a:ext cx="5212080" cy="1920240"/>
          </a:xfrm>
          <a:prstGeom prst="rect">
            <a:avLst/>
          </a:prstGeom>
          <a:solidFill>
            <a:srgbClr val="FFFFFF"/>
          </a:solidFill>
          <a:ln w="12700">
            <a:solidFill>
              <a:srgbClr val="E2DACD"/>
            </a:solidFill>
            <a:prstDash val="solid"/>
          </a:ln>
        </p:spPr>
      </p:sp>
      <p:sp>
        <p:nvSpPr>
          <p:cNvPr id="23" name="Text 21"/>
          <p:cNvSpPr/>
          <p:nvPr/>
        </p:nvSpPr>
        <p:spPr>
          <a:xfrm>
            <a:off x="1005840" y="4297680"/>
            <a:ext cx="1371600" cy="274320"/>
          </a:xfrm>
          <a:prstGeom prst="rect">
            <a:avLst/>
          </a:prstGeom>
          <a:noFill/>
          <a:ln/>
        </p:spPr>
        <p:txBody>
          <a:bodyPr wrap="square" rtlCol="0" anchor="ctr"/>
          <a:lstStyle/>
          <a:p>
            <a:pPr indent="0" marL="0">
              <a:buNone/>
            </a:pPr>
            <a:r>
              <a:rPr lang="en-US" sz="1000" b="1" dirty="0">
                <a:solidFill>
                  <a:srgbClr val="C53030"/>
                </a:solidFill>
                <a:latin typeface="Consolas" pitchFamily="34" charset="0"/>
                <a:ea typeface="Consolas" pitchFamily="34" charset="-122"/>
                <a:cs typeface="Consolas" pitchFamily="34" charset="-120"/>
              </a:rPr>
              <a:t>PAIN-03</a:t>
            </a:r>
            <a:endParaRPr lang="en-US" sz="1000" dirty="0"/>
          </a:p>
        </p:txBody>
      </p:sp>
      <p:sp>
        <p:nvSpPr>
          <p:cNvPr id="24" name="Text 22"/>
          <p:cNvSpPr/>
          <p:nvPr/>
        </p:nvSpPr>
        <p:spPr>
          <a:xfrm>
            <a:off x="1005840" y="4572000"/>
            <a:ext cx="4663440" cy="320040"/>
          </a:xfrm>
          <a:prstGeom prst="rect">
            <a:avLst/>
          </a:prstGeom>
          <a:noFill/>
          <a:ln/>
        </p:spPr>
        <p:txBody>
          <a:bodyPr wrap="square" rtlCol="0" anchor="ctr"/>
          <a:lstStyle/>
          <a:p>
            <a:pPr indent="0" marL="0">
              <a:buNone/>
            </a:pPr>
            <a:r>
              <a:rPr lang="en-US" sz="1600" b="1" dirty="0">
                <a:solidFill>
                  <a:srgbClr val="1A1618"/>
                </a:solidFill>
                <a:latin typeface="Georgia" pitchFamily="34" charset="0"/>
                <a:ea typeface="Georgia" pitchFamily="34" charset="-122"/>
                <a:cs typeface="Georgia" pitchFamily="34" charset="-120"/>
              </a:rPr>
              <a:t>Blind Sizing &amp; Fabric Uncertainty</a:t>
            </a:r>
            <a:endParaRPr lang="en-US" sz="1600" dirty="0"/>
          </a:p>
        </p:txBody>
      </p:sp>
      <p:sp>
        <p:nvSpPr>
          <p:cNvPr id="25" name="Text 23"/>
          <p:cNvSpPr/>
          <p:nvPr/>
        </p:nvSpPr>
        <p:spPr>
          <a:xfrm>
            <a:off x="1005840" y="4937760"/>
            <a:ext cx="4663440" cy="548640"/>
          </a:xfrm>
          <a:prstGeom prst="rect">
            <a:avLst/>
          </a:prstGeom>
          <a:noFill/>
          <a:ln/>
        </p:spPr>
        <p:txBody>
          <a:bodyPr wrap="square" rtlCol="0" anchor="ctr"/>
          <a:lstStyle/>
          <a:p>
            <a:pPr indent="0" marL="0">
              <a:buNone/>
            </a:pPr>
            <a:r>
              <a:rPr lang="en-US" sz="1100" dirty="0">
                <a:solidFill>
                  <a:srgbClr val="6B6367"/>
                </a:solidFill>
                <a:latin typeface="Arial" pitchFamily="34" charset="0"/>
                <a:ea typeface="Arial" pitchFamily="34" charset="-122"/>
                <a:cs typeface="Arial" pitchFamily="34" charset="-120"/>
              </a:rPr>
              <a:t>No standardized measurements, fabric verification, or high-res imagery exists in offline cataloging.</a:t>
            </a:r>
            <a:endParaRPr lang="en-US" sz="1100" dirty="0"/>
          </a:p>
        </p:txBody>
      </p:sp>
      <p:sp>
        <p:nvSpPr>
          <p:cNvPr id="26" name="Shape 24"/>
          <p:cNvSpPr/>
          <p:nvPr/>
        </p:nvSpPr>
        <p:spPr>
          <a:xfrm>
            <a:off x="1005840" y="5532120"/>
            <a:ext cx="4663440" cy="320040"/>
          </a:xfrm>
          <a:prstGeom prst="rect">
            <a:avLst/>
          </a:prstGeom>
          <a:solidFill>
            <a:srgbClr val="FDF2F2"/>
          </a:solidFill>
          <a:ln/>
        </p:spPr>
      </p:sp>
      <p:sp>
        <p:nvSpPr>
          <p:cNvPr id="27" name="Text 25"/>
          <p:cNvSpPr/>
          <p:nvPr/>
        </p:nvSpPr>
        <p:spPr>
          <a:xfrm>
            <a:off x="1097280" y="5532120"/>
            <a:ext cx="4480560" cy="320040"/>
          </a:xfrm>
          <a:prstGeom prst="rect">
            <a:avLst/>
          </a:prstGeom>
          <a:noFill/>
          <a:ln/>
        </p:spPr>
        <p:txBody>
          <a:bodyPr wrap="square" rtlCol="0" anchor="ctr"/>
          <a:lstStyle/>
          <a:p>
            <a:pPr indent="0" marL="0">
              <a:buNone/>
            </a:pPr>
            <a:r>
              <a:rPr lang="en-US" sz="900" b="1" dirty="0">
                <a:solidFill>
                  <a:srgbClr val="C53030"/>
                </a:solidFill>
                <a:latin typeface="Arial" pitchFamily="34" charset="0"/>
                <a:ea typeface="Arial" pitchFamily="34" charset="-122"/>
                <a:cs typeface="Arial" pitchFamily="34" charset="-120"/>
              </a:rPr>
              <a:t>CRITICAL IMPACT: Up to 35% fitting mismatches on wedding day</a:t>
            </a:r>
            <a:endParaRPr lang="en-US" sz="900" dirty="0"/>
          </a:p>
        </p:txBody>
      </p:sp>
      <p:sp>
        <p:nvSpPr>
          <p:cNvPr id="28" name="Shape 26"/>
          <p:cNvSpPr/>
          <p:nvPr/>
        </p:nvSpPr>
        <p:spPr>
          <a:xfrm>
            <a:off x="6217920" y="4114800"/>
            <a:ext cx="5212080" cy="1920240"/>
          </a:xfrm>
          <a:prstGeom prst="rect">
            <a:avLst/>
          </a:prstGeom>
          <a:solidFill>
            <a:srgbClr val="FFFFFF"/>
          </a:solidFill>
          <a:ln w="12700">
            <a:solidFill>
              <a:srgbClr val="E2DACD"/>
            </a:solidFill>
            <a:prstDash val="solid"/>
          </a:ln>
        </p:spPr>
      </p:sp>
      <p:sp>
        <p:nvSpPr>
          <p:cNvPr id="29" name="Text 27"/>
          <p:cNvSpPr/>
          <p:nvPr/>
        </p:nvSpPr>
        <p:spPr>
          <a:xfrm>
            <a:off x="6492240" y="4297680"/>
            <a:ext cx="1371600" cy="274320"/>
          </a:xfrm>
          <a:prstGeom prst="rect">
            <a:avLst/>
          </a:prstGeom>
          <a:noFill/>
          <a:ln/>
        </p:spPr>
        <p:txBody>
          <a:bodyPr wrap="square" rtlCol="0" anchor="ctr"/>
          <a:lstStyle/>
          <a:p>
            <a:pPr indent="0" marL="0">
              <a:buNone/>
            </a:pPr>
            <a:r>
              <a:rPr lang="en-US" sz="1000" b="1" dirty="0">
                <a:solidFill>
                  <a:srgbClr val="C53030"/>
                </a:solidFill>
                <a:latin typeface="Consolas" pitchFamily="34" charset="0"/>
                <a:ea typeface="Consolas" pitchFamily="34" charset="-122"/>
                <a:cs typeface="Consolas" pitchFamily="34" charset="-120"/>
              </a:rPr>
              <a:t>PAIN-04</a:t>
            </a:r>
            <a:endParaRPr lang="en-US" sz="1000" dirty="0"/>
          </a:p>
        </p:txBody>
      </p:sp>
      <p:sp>
        <p:nvSpPr>
          <p:cNvPr id="30" name="Text 28"/>
          <p:cNvSpPr/>
          <p:nvPr/>
        </p:nvSpPr>
        <p:spPr>
          <a:xfrm>
            <a:off x="6492240" y="4572000"/>
            <a:ext cx="4663440" cy="320040"/>
          </a:xfrm>
          <a:prstGeom prst="rect">
            <a:avLst/>
          </a:prstGeom>
          <a:noFill/>
          <a:ln/>
        </p:spPr>
        <p:txBody>
          <a:bodyPr wrap="square" rtlCol="0" anchor="ctr"/>
          <a:lstStyle/>
          <a:p>
            <a:pPr indent="0" marL="0">
              <a:buNone/>
            </a:pPr>
            <a:r>
              <a:rPr lang="en-US" sz="1600" b="1" dirty="0">
                <a:solidFill>
                  <a:srgbClr val="1A1618"/>
                </a:solidFill>
                <a:latin typeface="Georgia" pitchFamily="34" charset="0"/>
                <a:ea typeface="Georgia" pitchFamily="34" charset="-122"/>
                <a:cs typeface="Georgia" pitchFamily="34" charset="-120"/>
              </a:rPr>
              <a:t>Hyper-Localized boutique Isolation</a:t>
            </a:r>
            <a:endParaRPr lang="en-US" sz="1600" dirty="0"/>
          </a:p>
        </p:txBody>
      </p:sp>
      <p:sp>
        <p:nvSpPr>
          <p:cNvPr id="31" name="Text 29"/>
          <p:cNvSpPr/>
          <p:nvPr/>
        </p:nvSpPr>
        <p:spPr>
          <a:xfrm>
            <a:off x="6492240" y="4937760"/>
            <a:ext cx="4663440" cy="548640"/>
          </a:xfrm>
          <a:prstGeom prst="rect">
            <a:avLst/>
          </a:prstGeom>
          <a:noFill/>
          <a:ln/>
        </p:spPr>
        <p:txBody>
          <a:bodyPr wrap="square" rtlCol="0" anchor="ctr"/>
          <a:lstStyle/>
          <a:p>
            <a:pPr indent="0" marL="0">
              <a:buNone/>
            </a:pPr>
            <a:r>
              <a:rPr lang="en-US" sz="1100" dirty="0">
                <a:solidFill>
                  <a:srgbClr val="6B6367"/>
                </a:solidFill>
                <a:latin typeface="Arial" pitchFamily="34" charset="0"/>
                <a:ea typeface="Arial" pitchFamily="34" charset="-122"/>
                <a:cs typeface="Arial" pitchFamily="34" charset="-120"/>
              </a:rPr>
              <a:t>Heritage weavers and bespoke boutiques in places like Surat or Kutch cannot access buyers outside their physical market.</a:t>
            </a:r>
            <a:endParaRPr lang="en-US" sz="1100" dirty="0"/>
          </a:p>
        </p:txBody>
      </p:sp>
      <p:sp>
        <p:nvSpPr>
          <p:cNvPr id="32" name="Shape 30"/>
          <p:cNvSpPr/>
          <p:nvPr/>
        </p:nvSpPr>
        <p:spPr>
          <a:xfrm>
            <a:off x="6492240" y="5532120"/>
            <a:ext cx="4663440" cy="320040"/>
          </a:xfrm>
          <a:prstGeom prst="rect">
            <a:avLst/>
          </a:prstGeom>
          <a:solidFill>
            <a:srgbClr val="FDF2F2"/>
          </a:solidFill>
          <a:ln/>
        </p:spPr>
      </p:sp>
      <p:sp>
        <p:nvSpPr>
          <p:cNvPr id="33" name="Text 31"/>
          <p:cNvSpPr/>
          <p:nvPr/>
        </p:nvSpPr>
        <p:spPr>
          <a:xfrm>
            <a:off x="6583680" y="5532120"/>
            <a:ext cx="4480560" cy="320040"/>
          </a:xfrm>
          <a:prstGeom prst="rect">
            <a:avLst/>
          </a:prstGeom>
          <a:noFill/>
          <a:ln/>
        </p:spPr>
        <p:txBody>
          <a:bodyPr wrap="square" rtlCol="0" anchor="ctr"/>
          <a:lstStyle/>
          <a:p>
            <a:pPr indent="0" marL="0">
              <a:buNone/>
            </a:pPr>
            <a:r>
              <a:rPr lang="en-US" sz="900" b="1" dirty="0">
                <a:solidFill>
                  <a:srgbClr val="C53030"/>
                </a:solidFill>
                <a:latin typeface="Arial" pitchFamily="34" charset="0"/>
                <a:ea typeface="Arial" pitchFamily="34" charset="-122"/>
                <a:cs typeface="Arial" pitchFamily="34" charset="-120"/>
              </a:rPr>
              <a:t>CRITICAL IMPACT: Over 80% boutique inventory sits unrented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06 · ACT II</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1371600"/>
            <a:ext cx="4114800" cy="3200400"/>
          </a:xfrm>
          <a:prstGeom prst="rect">
            <a:avLst/>
          </a:prstGeom>
          <a:noFill/>
          <a:ln/>
        </p:spPr>
        <p:txBody>
          <a:bodyPr wrap="square" rtlCol="0" anchor="ctr"/>
          <a:lstStyle/>
          <a:p>
            <a:pPr algn="l" indent="0" marL="0">
              <a:buNone/>
            </a:pPr>
            <a:r>
              <a:rPr lang="en-US" sz="12000" b="1" dirty="0">
                <a:solidFill>
                  <a:srgbClr val="1E1217"/>
                </a:solidFill>
                <a:latin typeface="Georgia" pitchFamily="34" charset="0"/>
                <a:ea typeface="Georgia" pitchFamily="34" charset="-122"/>
                <a:cs typeface="Georgia" pitchFamily="34" charset="-120"/>
              </a:rPr>
              <a:t>II</a:t>
            </a:r>
            <a:endParaRPr lang="en-US" sz="12000" dirty="0"/>
          </a:p>
        </p:txBody>
      </p:sp>
      <p:sp>
        <p:nvSpPr>
          <p:cNvPr id="6" name="Shape 4"/>
          <p:cNvSpPr/>
          <p:nvPr/>
        </p:nvSpPr>
        <p:spPr>
          <a:xfrm>
            <a:off x="731520" y="1828800"/>
            <a:ext cx="2194560" cy="365760"/>
          </a:xfrm>
          <a:prstGeom prst="roundRect">
            <a:avLst/>
          </a:prstGeom>
          <a:solidFill>
            <a:srgbClr val="C99A2E"/>
          </a:solidFill>
          <a:ln w="12700">
            <a:solidFill>
              <a:srgbClr val="E6B85C"/>
            </a:solidFill>
            <a:prstDash val="solid"/>
          </a:ln>
        </p:spPr>
      </p:sp>
      <p:sp>
        <p:nvSpPr>
          <p:cNvPr id="7" name="Text 5"/>
          <p:cNvSpPr/>
          <p:nvPr/>
        </p:nvSpPr>
        <p:spPr>
          <a:xfrm>
            <a:off x="731520" y="1828800"/>
            <a:ext cx="2194560" cy="365760"/>
          </a:xfrm>
          <a:prstGeom prst="rect">
            <a:avLst/>
          </a:prstGeom>
          <a:noFill/>
          <a:ln/>
        </p:spPr>
        <p:txBody>
          <a:bodyPr wrap="square" rtlCol="0" anchor="ctr"/>
          <a:lstStyle/>
          <a:p>
            <a:pPr algn="ctr" indent="0" marL="0">
              <a:buNone/>
            </a:pPr>
            <a:r>
              <a:rPr lang="en-US" sz="1100" b="1" dirty="0">
                <a:solidFill>
                  <a:srgbClr val="0E0709"/>
                </a:solidFill>
                <a:latin typeface="Arial" pitchFamily="34" charset="0"/>
                <a:ea typeface="Arial" pitchFamily="34" charset="-122"/>
                <a:cs typeface="Arial" pitchFamily="34" charset="-120"/>
              </a:rPr>
              <a:t>ACT II · THE TURNING POINT</a:t>
            </a:r>
            <a:endParaRPr lang="en-US" sz="1100" dirty="0"/>
          </a:p>
        </p:txBody>
      </p:sp>
      <p:sp>
        <p:nvSpPr>
          <p:cNvPr id="8" name="Text 6"/>
          <p:cNvSpPr/>
          <p:nvPr/>
        </p:nvSpPr>
        <p:spPr>
          <a:xfrm>
            <a:off x="731520" y="2423160"/>
            <a:ext cx="10058400" cy="1005840"/>
          </a:xfrm>
          <a:prstGeom prst="rect">
            <a:avLst/>
          </a:prstGeom>
          <a:noFill/>
          <a:ln/>
        </p:spPr>
        <p:txBody>
          <a:bodyPr wrap="square" rtlCol="0" anchor="ctr"/>
          <a:lstStyle/>
          <a:p>
            <a:pPr indent="0" marL="0">
              <a:buNone/>
            </a:pPr>
            <a:r>
              <a:rPr lang="en-US" sz="4200" b="1" dirty="0">
                <a:solidFill>
                  <a:srgbClr val="FAF7F2"/>
                </a:solidFill>
                <a:latin typeface="Georgia" pitchFamily="34" charset="0"/>
                <a:ea typeface="Georgia" pitchFamily="34" charset="-122"/>
                <a:cs typeface="Georgia" pitchFamily="34" charset="-120"/>
              </a:rPr>
              <a:t>The Circular Luxury Solution: POSHAKH</a:t>
            </a:r>
            <a:endParaRPr lang="en-US" sz="4200" dirty="0"/>
          </a:p>
        </p:txBody>
      </p:sp>
      <p:sp>
        <p:nvSpPr>
          <p:cNvPr id="9" name="Text 7"/>
          <p:cNvSpPr/>
          <p:nvPr/>
        </p:nvSpPr>
        <p:spPr>
          <a:xfrm>
            <a:off x="731520" y="3520440"/>
            <a:ext cx="9601200" cy="731520"/>
          </a:xfrm>
          <a:prstGeom prst="rect">
            <a:avLst/>
          </a:prstGeom>
          <a:noFill/>
          <a:ln/>
        </p:spPr>
        <p:txBody>
          <a:bodyPr wrap="square" rtlCol="0" anchor="ctr"/>
          <a:lstStyle/>
          <a:p>
            <a:pPr indent="0" marL="0">
              <a:buNone/>
            </a:pPr>
            <a:r>
              <a:rPr lang="en-US" sz="1800" dirty="0">
                <a:solidFill>
                  <a:srgbClr val="E6B85C"/>
                </a:solidFill>
                <a:latin typeface="Arial" pitchFamily="34" charset="0"/>
                <a:ea typeface="Arial" pitchFamily="34" charset="-122"/>
                <a:cs typeface="Arial" pitchFamily="34" charset="-120"/>
              </a:rPr>
              <a:t>Transforming ethnic fashion from linear consumption into an automated, peer-to-peer sharing economy.</a:t>
            </a:r>
            <a:endParaRPr lang="en-US" sz="1800" dirty="0"/>
          </a:p>
        </p:txBody>
      </p:sp>
      <p:sp>
        <p:nvSpPr>
          <p:cNvPr id="10" name="Shape 8"/>
          <p:cNvSpPr/>
          <p:nvPr/>
        </p:nvSpPr>
        <p:spPr>
          <a:xfrm>
            <a:off x="9144000" y="2011680"/>
            <a:ext cx="2286000" cy="2743200"/>
          </a:xfrm>
          <a:prstGeom prst="arc">
            <a:avLst/>
          </a:prstGeom>
          <a:noFill/>
          <a:ln w="19050">
            <a:solidFill>
              <a:srgbClr val="C99A2E"/>
            </a:solidFill>
            <a:prstDash val="solid"/>
          </a:ln>
        </p:spPr>
      </p:sp>
      <p:sp>
        <p:nvSpPr>
          <p:cNvPr id="11" name="Shape 9"/>
          <p:cNvSpPr/>
          <p:nvPr/>
        </p:nvSpPr>
        <p:spPr>
          <a:xfrm>
            <a:off x="9372600" y="3383280"/>
            <a:ext cx="1828800" cy="2286000"/>
          </a:xfrm>
          <a:prstGeom prst="rect">
            <a:avLst/>
          </a:prstGeom>
          <a:noFill/>
          <a:ln w="12700">
            <a:solidFill>
              <a:srgbClr val="C99A2E"/>
            </a:solidFill>
            <a:prstDash val="solid"/>
          </a:ln>
        </p:spPr>
      </p:sp>
      <p:sp>
        <p:nvSpPr>
          <p:cNvPr id="12" name="Shape 10"/>
          <p:cNvSpPr/>
          <p:nvPr/>
        </p:nvSpPr>
        <p:spPr>
          <a:xfrm>
            <a:off x="731520" y="5669280"/>
            <a:ext cx="10728655" cy="73152"/>
          </a:xfrm>
          <a:prstGeom prst="rect">
            <a:avLst/>
          </a:prstGeom>
          <a:solidFill>
            <a:srgbClr val="2A1A20"/>
          </a:solidFill>
          <a:ln/>
        </p:spPr>
      </p:sp>
      <p:sp>
        <p:nvSpPr>
          <p:cNvPr id="13" name="Shape 11"/>
          <p:cNvSpPr/>
          <p:nvPr/>
        </p:nvSpPr>
        <p:spPr>
          <a:xfrm>
            <a:off x="731520" y="5669280"/>
            <a:ext cx="3540456" cy="73152"/>
          </a:xfrm>
          <a:prstGeom prst="rect">
            <a:avLst/>
          </a:prstGeom>
          <a:solidFill>
            <a:srgbClr val="C99A2E"/>
          </a:solidFill>
          <a:ln/>
        </p:spPr>
      </p:sp>
      <p:sp>
        <p:nvSpPr>
          <p:cNvPr id="14" name="Text 12"/>
          <p:cNvSpPr/>
          <p:nvPr/>
        </p:nvSpPr>
        <p:spPr>
          <a:xfrm>
            <a:off x="731520" y="5806440"/>
            <a:ext cx="5486400" cy="274320"/>
          </a:xfrm>
          <a:prstGeom prst="rect">
            <a:avLst/>
          </a:prstGeom>
          <a:noFill/>
          <a:ln/>
        </p:spPr>
        <p:txBody>
          <a:bodyPr wrap="square" rtlCol="0" anchor="ctr"/>
          <a:lstStyle/>
          <a:p>
            <a:pPr indent="0" marL="0">
              <a:buNone/>
            </a:pPr>
            <a:r>
              <a:rPr lang="en-US" sz="900" b="1" spc="100" kern="0" dirty="0">
                <a:solidFill>
                  <a:srgbClr val="C99A2E"/>
                </a:solidFill>
                <a:latin typeface="Arial" pitchFamily="34" charset="0"/>
                <a:ea typeface="Arial" pitchFamily="34" charset="-122"/>
                <a:cs typeface="Arial" pitchFamily="34" charset="-120"/>
              </a:rPr>
              <a:t>STORYLINE PROGRESSION: 33% COMPLETED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07 · ACT II</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07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SYSTEM ARCHITECTURE VISION</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POSHAKH: The Three-Pillar Circular Couture Platform</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Connecting fashion seekers with curated boutique collections through automated trust mechanisms.</a:t>
            </a:r>
            <a:endParaRPr lang="en-US" sz="1300" dirty="0"/>
          </a:p>
        </p:txBody>
      </p:sp>
      <p:sp>
        <p:nvSpPr>
          <p:cNvPr id="10" name="Shape 8"/>
          <p:cNvSpPr/>
          <p:nvPr/>
        </p:nvSpPr>
        <p:spPr>
          <a:xfrm>
            <a:off x="731520" y="2011680"/>
            <a:ext cx="3410712" cy="4023360"/>
          </a:xfrm>
          <a:prstGeom prst="rect">
            <a:avLst/>
          </a:prstGeom>
          <a:solidFill>
            <a:srgbClr val="FFFFFF"/>
          </a:solidFill>
          <a:ln w="19050">
            <a:solidFill>
              <a:srgbClr val="7A5F20"/>
            </a:solidFill>
            <a:prstDash val="solid"/>
          </a:ln>
        </p:spPr>
      </p:sp>
      <p:sp>
        <p:nvSpPr>
          <p:cNvPr id="11" name="Shape 9"/>
          <p:cNvSpPr/>
          <p:nvPr/>
        </p:nvSpPr>
        <p:spPr>
          <a:xfrm>
            <a:off x="731520" y="2011680"/>
            <a:ext cx="3410712" cy="73152"/>
          </a:xfrm>
          <a:prstGeom prst="rect">
            <a:avLst/>
          </a:prstGeom>
          <a:solidFill>
            <a:srgbClr val="7A5F20"/>
          </a:solidFill>
          <a:ln/>
        </p:spPr>
      </p:sp>
      <p:sp>
        <p:nvSpPr>
          <p:cNvPr id="12" name="Text 10"/>
          <p:cNvSpPr/>
          <p:nvPr/>
        </p:nvSpPr>
        <p:spPr>
          <a:xfrm>
            <a:off x="1005840" y="2240280"/>
            <a:ext cx="2834640" cy="320040"/>
          </a:xfrm>
          <a:prstGeom prst="rect">
            <a:avLst/>
          </a:prstGeom>
          <a:noFill/>
          <a:ln/>
        </p:spPr>
        <p:txBody>
          <a:bodyPr wrap="square" rtlCol="0" anchor="ctr"/>
          <a:lstStyle/>
          <a:p>
            <a:pPr indent="0" marL="0">
              <a:buNone/>
            </a:pPr>
            <a:r>
              <a:rPr lang="en-US" sz="1600" b="1" dirty="0">
                <a:solidFill>
                  <a:srgbClr val="1A1618"/>
                </a:solidFill>
                <a:latin typeface="Georgia" pitchFamily="34" charset="0"/>
                <a:ea typeface="Georgia" pitchFamily="34" charset="-122"/>
                <a:cs typeface="Georgia" pitchFamily="34" charset="-120"/>
              </a:rPr>
              <a:t>THE RENTER</a:t>
            </a:r>
            <a:endParaRPr lang="en-US" sz="1600" dirty="0"/>
          </a:p>
        </p:txBody>
      </p:sp>
      <p:sp>
        <p:nvSpPr>
          <p:cNvPr id="13" name="Text 11"/>
          <p:cNvSpPr/>
          <p:nvPr/>
        </p:nvSpPr>
        <p:spPr>
          <a:xfrm>
            <a:off x="1005840" y="2560320"/>
            <a:ext cx="2834640" cy="274320"/>
          </a:xfrm>
          <a:prstGeom prst="rect">
            <a:avLst/>
          </a:prstGeom>
          <a:noFill/>
          <a:ln/>
        </p:spPr>
        <p:txBody>
          <a:bodyPr wrap="square" rtlCol="0" anchor="ctr"/>
          <a:lstStyle/>
          <a:p>
            <a:pPr indent="0" marL="0">
              <a:buNone/>
            </a:pPr>
            <a:r>
              <a:rPr lang="en-US" sz="1100" b="1" dirty="0">
                <a:solidFill>
                  <a:srgbClr val="7A5F20"/>
                </a:solidFill>
                <a:latin typeface="Arial" pitchFamily="34" charset="0"/>
                <a:ea typeface="Arial" pitchFamily="34" charset="-122"/>
                <a:cs typeface="Arial" pitchFamily="34" charset="-120"/>
              </a:rPr>
              <a:t>Luxury Without Liability</a:t>
            </a:r>
            <a:endParaRPr lang="en-US" sz="1100" dirty="0"/>
          </a:p>
        </p:txBody>
      </p:sp>
      <p:sp>
        <p:nvSpPr>
          <p:cNvPr id="14" name="Shape 12"/>
          <p:cNvSpPr/>
          <p:nvPr/>
        </p:nvSpPr>
        <p:spPr>
          <a:xfrm>
            <a:off x="1005840" y="3090672"/>
            <a:ext cx="109728" cy="109728"/>
          </a:xfrm>
          <a:prstGeom prst="ellipse">
            <a:avLst/>
          </a:prstGeom>
          <a:solidFill>
            <a:srgbClr val="7A5F20"/>
          </a:solidFill>
          <a:ln/>
        </p:spPr>
      </p:sp>
      <p:sp>
        <p:nvSpPr>
          <p:cNvPr id="15" name="Text 13"/>
          <p:cNvSpPr/>
          <p:nvPr/>
        </p:nvSpPr>
        <p:spPr>
          <a:xfrm>
            <a:off x="1234440" y="30175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Curated Discovery by Occasion &amp; Fabric</a:t>
            </a:r>
            <a:endParaRPr lang="en-US" sz="1100" dirty="0"/>
          </a:p>
        </p:txBody>
      </p:sp>
      <p:sp>
        <p:nvSpPr>
          <p:cNvPr id="16" name="Shape 14"/>
          <p:cNvSpPr/>
          <p:nvPr/>
        </p:nvSpPr>
        <p:spPr>
          <a:xfrm>
            <a:off x="1005840" y="3776472"/>
            <a:ext cx="109728" cy="109728"/>
          </a:xfrm>
          <a:prstGeom prst="ellipse">
            <a:avLst/>
          </a:prstGeom>
          <a:solidFill>
            <a:srgbClr val="7A5F20"/>
          </a:solidFill>
          <a:ln/>
        </p:spPr>
      </p:sp>
      <p:sp>
        <p:nvSpPr>
          <p:cNvPr id="17" name="Text 15"/>
          <p:cNvSpPr/>
          <p:nvPr/>
        </p:nvSpPr>
        <p:spPr>
          <a:xfrm>
            <a:off x="1234440" y="37033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Transparent 3/5/7-Day Rental Slabs</a:t>
            </a:r>
            <a:endParaRPr lang="en-US" sz="1100" dirty="0"/>
          </a:p>
        </p:txBody>
      </p:sp>
      <p:sp>
        <p:nvSpPr>
          <p:cNvPr id="18" name="Shape 16"/>
          <p:cNvSpPr/>
          <p:nvPr/>
        </p:nvSpPr>
        <p:spPr>
          <a:xfrm>
            <a:off x="1005840" y="4462272"/>
            <a:ext cx="109728" cy="109728"/>
          </a:xfrm>
          <a:prstGeom prst="ellipse">
            <a:avLst/>
          </a:prstGeom>
          <a:solidFill>
            <a:srgbClr val="7A5F20"/>
          </a:solidFill>
          <a:ln/>
        </p:spPr>
      </p:sp>
      <p:sp>
        <p:nvSpPr>
          <p:cNvPr id="19" name="Text 17"/>
          <p:cNvSpPr/>
          <p:nvPr/>
        </p:nvSpPr>
        <p:spPr>
          <a:xfrm>
            <a:off x="1234440" y="43891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100% Refundable Security Deposit</a:t>
            </a:r>
            <a:endParaRPr lang="en-US" sz="1100" dirty="0"/>
          </a:p>
        </p:txBody>
      </p:sp>
      <p:sp>
        <p:nvSpPr>
          <p:cNvPr id="20" name="Shape 18"/>
          <p:cNvSpPr/>
          <p:nvPr/>
        </p:nvSpPr>
        <p:spPr>
          <a:xfrm>
            <a:off x="1005840" y="5148072"/>
            <a:ext cx="109728" cy="109728"/>
          </a:xfrm>
          <a:prstGeom prst="ellipse">
            <a:avLst/>
          </a:prstGeom>
          <a:solidFill>
            <a:srgbClr val="7A5F20"/>
          </a:solidFill>
          <a:ln/>
        </p:spPr>
      </p:sp>
      <p:sp>
        <p:nvSpPr>
          <p:cNvPr id="21" name="Text 19"/>
          <p:cNvSpPr/>
          <p:nvPr/>
        </p:nvSpPr>
        <p:spPr>
          <a:xfrm>
            <a:off x="1234440" y="50749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Verified Boutique Trust Ratings &amp; Reviews</a:t>
            </a:r>
            <a:endParaRPr lang="en-US" sz="1100" dirty="0"/>
          </a:p>
        </p:txBody>
      </p:sp>
      <p:sp>
        <p:nvSpPr>
          <p:cNvPr id="22" name="Shape 20"/>
          <p:cNvSpPr/>
          <p:nvPr/>
        </p:nvSpPr>
        <p:spPr>
          <a:xfrm>
            <a:off x="4389120" y="2011680"/>
            <a:ext cx="3410712" cy="4023360"/>
          </a:xfrm>
          <a:prstGeom prst="rect">
            <a:avLst/>
          </a:prstGeom>
          <a:solidFill>
            <a:srgbClr val="FFFFFF"/>
          </a:solidFill>
          <a:ln w="19050">
            <a:solidFill>
              <a:srgbClr val="C99A2E"/>
            </a:solidFill>
            <a:prstDash val="solid"/>
          </a:ln>
        </p:spPr>
      </p:sp>
      <p:sp>
        <p:nvSpPr>
          <p:cNvPr id="23" name="Shape 21"/>
          <p:cNvSpPr/>
          <p:nvPr/>
        </p:nvSpPr>
        <p:spPr>
          <a:xfrm>
            <a:off x="4389120" y="2011680"/>
            <a:ext cx="3410712" cy="73152"/>
          </a:xfrm>
          <a:prstGeom prst="rect">
            <a:avLst/>
          </a:prstGeom>
          <a:solidFill>
            <a:srgbClr val="C99A2E"/>
          </a:solidFill>
          <a:ln/>
        </p:spPr>
      </p:sp>
      <p:sp>
        <p:nvSpPr>
          <p:cNvPr id="24" name="Text 22"/>
          <p:cNvSpPr/>
          <p:nvPr/>
        </p:nvSpPr>
        <p:spPr>
          <a:xfrm>
            <a:off x="4663440" y="2240280"/>
            <a:ext cx="2834640" cy="320040"/>
          </a:xfrm>
          <a:prstGeom prst="rect">
            <a:avLst/>
          </a:prstGeom>
          <a:noFill/>
          <a:ln/>
        </p:spPr>
        <p:txBody>
          <a:bodyPr wrap="square" rtlCol="0" anchor="ctr"/>
          <a:lstStyle/>
          <a:p>
            <a:pPr indent="0" marL="0">
              <a:buNone/>
            </a:pPr>
            <a:r>
              <a:rPr lang="en-US" sz="1600" b="1" dirty="0">
                <a:solidFill>
                  <a:srgbClr val="1A1618"/>
                </a:solidFill>
                <a:latin typeface="Georgia" pitchFamily="34" charset="0"/>
                <a:ea typeface="Georgia" pitchFamily="34" charset="-122"/>
                <a:cs typeface="Georgia" pitchFamily="34" charset="-120"/>
              </a:rPr>
              <a:t>POSHAKH ENGINE</a:t>
            </a:r>
            <a:endParaRPr lang="en-US" sz="1600" dirty="0"/>
          </a:p>
        </p:txBody>
      </p:sp>
      <p:sp>
        <p:nvSpPr>
          <p:cNvPr id="25" name="Text 23"/>
          <p:cNvSpPr/>
          <p:nvPr/>
        </p:nvSpPr>
        <p:spPr>
          <a:xfrm>
            <a:off x="4663440" y="2560320"/>
            <a:ext cx="2834640" cy="274320"/>
          </a:xfrm>
          <a:prstGeom prst="rect">
            <a:avLst/>
          </a:prstGeom>
          <a:noFill/>
          <a:ln/>
        </p:spPr>
        <p:txBody>
          <a:bodyPr wrap="square" rtlCol="0" anchor="ctr"/>
          <a:lstStyle/>
          <a:p>
            <a:pPr indent="0" marL="0">
              <a:buNone/>
            </a:pPr>
            <a:r>
              <a:rPr lang="en-US" sz="1100" b="1" dirty="0">
                <a:solidFill>
                  <a:srgbClr val="C99A2E"/>
                </a:solidFill>
                <a:latin typeface="Arial" pitchFamily="34" charset="0"/>
                <a:ea typeface="Arial" pitchFamily="34" charset="-122"/>
                <a:cs typeface="Arial" pitchFamily="34" charset="-120"/>
              </a:rPr>
              <a:t>Automated Trust &amp; Escrow Hub</a:t>
            </a:r>
            <a:endParaRPr lang="en-US" sz="1100" dirty="0"/>
          </a:p>
        </p:txBody>
      </p:sp>
      <p:sp>
        <p:nvSpPr>
          <p:cNvPr id="26" name="Shape 24"/>
          <p:cNvSpPr/>
          <p:nvPr/>
        </p:nvSpPr>
        <p:spPr>
          <a:xfrm>
            <a:off x="4663440" y="3090672"/>
            <a:ext cx="109728" cy="109728"/>
          </a:xfrm>
          <a:prstGeom prst="ellipse">
            <a:avLst/>
          </a:prstGeom>
          <a:solidFill>
            <a:srgbClr val="C99A2E"/>
          </a:solidFill>
          <a:ln/>
        </p:spPr>
      </p:sp>
      <p:sp>
        <p:nvSpPr>
          <p:cNvPr id="27" name="Text 25"/>
          <p:cNvSpPr/>
          <p:nvPr/>
        </p:nvSpPr>
        <p:spPr>
          <a:xfrm>
            <a:off x="4892040" y="30175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Centralized Role-Based Access Control</a:t>
            </a:r>
            <a:endParaRPr lang="en-US" sz="1100" dirty="0"/>
          </a:p>
        </p:txBody>
      </p:sp>
      <p:sp>
        <p:nvSpPr>
          <p:cNvPr id="28" name="Shape 26"/>
          <p:cNvSpPr/>
          <p:nvPr/>
        </p:nvSpPr>
        <p:spPr>
          <a:xfrm>
            <a:off x="4663440" y="3776472"/>
            <a:ext cx="109728" cy="109728"/>
          </a:xfrm>
          <a:prstGeom prst="ellipse">
            <a:avLst/>
          </a:prstGeom>
          <a:solidFill>
            <a:srgbClr val="C99A2E"/>
          </a:solidFill>
          <a:ln/>
        </p:spPr>
      </p:sp>
      <p:sp>
        <p:nvSpPr>
          <p:cNvPr id="29" name="Text 27"/>
          <p:cNvSpPr/>
          <p:nvPr/>
        </p:nvSpPr>
        <p:spPr>
          <a:xfrm>
            <a:off x="4892040" y="37033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Real-Time Date Availability Engine</a:t>
            </a:r>
            <a:endParaRPr lang="en-US" sz="1100" dirty="0"/>
          </a:p>
        </p:txBody>
      </p:sp>
      <p:sp>
        <p:nvSpPr>
          <p:cNvPr id="30" name="Shape 28"/>
          <p:cNvSpPr/>
          <p:nvPr/>
        </p:nvSpPr>
        <p:spPr>
          <a:xfrm>
            <a:off x="4663440" y="4462272"/>
            <a:ext cx="109728" cy="109728"/>
          </a:xfrm>
          <a:prstGeom prst="ellipse">
            <a:avLst/>
          </a:prstGeom>
          <a:solidFill>
            <a:srgbClr val="C99A2E"/>
          </a:solidFill>
          <a:ln/>
        </p:spPr>
      </p:sp>
      <p:sp>
        <p:nvSpPr>
          <p:cNvPr id="31" name="Text 29"/>
          <p:cNvSpPr/>
          <p:nvPr/>
        </p:nvSpPr>
        <p:spPr>
          <a:xfrm>
            <a:off x="4892040" y="43891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Direct Buyer-Lender Messaging Tunnel</a:t>
            </a:r>
            <a:endParaRPr lang="en-US" sz="1100" dirty="0"/>
          </a:p>
        </p:txBody>
      </p:sp>
      <p:sp>
        <p:nvSpPr>
          <p:cNvPr id="32" name="Shape 30"/>
          <p:cNvSpPr/>
          <p:nvPr/>
        </p:nvSpPr>
        <p:spPr>
          <a:xfrm>
            <a:off x="4663440" y="5148072"/>
            <a:ext cx="109728" cy="109728"/>
          </a:xfrm>
          <a:prstGeom prst="ellipse">
            <a:avLst/>
          </a:prstGeom>
          <a:solidFill>
            <a:srgbClr val="C99A2E"/>
          </a:solidFill>
          <a:ln/>
        </p:spPr>
      </p:sp>
      <p:sp>
        <p:nvSpPr>
          <p:cNvPr id="33" name="Text 31"/>
          <p:cNvSpPr/>
          <p:nvPr/>
        </p:nvSpPr>
        <p:spPr>
          <a:xfrm>
            <a:off x="4892040" y="50749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Admin Mediation &amp; Dispute Resolution</a:t>
            </a:r>
            <a:endParaRPr lang="en-US" sz="1100" dirty="0"/>
          </a:p>
        </p:txBody>
      </p:sp>
      <p:sp>
        <p:nvSpPr>
          <p:cNvPr id="34" name="Shape 32"/>
          <p:cNvSpPr/>
          <p:nvPr/>
        </p:nvSpPr>
        <p:spPr>
          <a:xfrm>
            <a:off x="8046720" y="2011680"/>
            <a:ext cx="3410712" cy="4023360"/>
          </a:xfrm>
          <a:prstGeom prst="rect">
            <a:avLst/>
          </a:prstGeom>
          <a:solidFill>
            <a:srgbClr val="FFFFFF"/>
          </a:solidFill>
          <a:ln w="19050">
            <a:solidFill>
              <a:srgbClr val="1E7E55"/>
            </a:solidFill>
            <a:prstDash val="solid"/>
          </a:ln>
        </p:spPr>
      </p:sp>
      <p:sp>
        <p:nvSpPr>
          <p:cNvPr id="35" name="Shape 33"/>
          <p:cNvSpPr/>
          <p:nvPr/>
        </p:nvSpPr>
        <p:spPr>
          <a:xfrm>
            <a:off x="8046720" y="2011680"/>
            <a:ext cx="3410712" cy="73152"/>
          </a:xfrm>
          <a:prstGeom prst="rect">
            <a:avLst/>
          </a:prstGeom>
          <a:solidFill>
            <a:srgbClr val="1E7E55"/>
          </a:solidFill>
          <a:ln/>
        </p:spPr>
      </p:sp>
      <p:sp>
        <p:nvSpPr>
          <p:cNvPr id="36" name="Text 34"/>
          <p:cNvSpPr/>
          <p:nvPr/>
        </p:nvSpPr>
        <p:spPr>
          <a:xfrm>
            <a:off x="8321040" y="2240280"/>
            <a:ext cx="2834640" cy="320040"/>
          </a:xfrm>
          <a:prstGeom prst="rect">
            <a:avLst/>
          </a:prstGeom>
          <a:noFill/>
          <a:ln/>
        </p:spPr>
        <p:txBody>
          <a:bodyPr wrap="square" rtlCol="0" anchor="ctr"/>
          <a:lstStyle/>
          <a:p>
            <a:pPr indent="0" marL="0">
              <a:buNone/>
            </a:pPr>
            <a:r>
              <a:rPr lang="en-US" sz="1600" b="1" dirty="0">
                <a:solidFill>
                  <a:srgbClr val="1A1618"/>
                </a:solidFill>
                <a:latin typeface="Georgia" pitchFamily="34" charset="0"/>
                <a:ea typeface="Georgia" pitchFamily="34" charset="-122"/>
                <a:cs typeface="Georgia" pitchFamily="34" charset="-120"/>
              </a:rPr>
              <a:t>THE LENDER</a:t>
            </a:r>
            <a:endParaRPr lang="en-US" sz="1600" dirty="0"/>
          </a:p>
        </p:txBody>
      </p:sp>
      <p:sp>
        <p:nvSpPr>
          <p:cNvPr id="37" name="Text 35"/>
          <p:cNvSpPr/>
          <p:nvPr/>
        </p:nvSpPr>
        <p:spPr>
          <a:xfrm>
            <a:off x="8321040" y="2560320"/>
            <a:ext cx="2834640" cy="274320"/>
          </a:xfrm>
          <a:prstGeom prst="rect">
            <a:avLst/>
          </a:prstGeom>
          <a:noFill/>
          <a:ln/>
        </p:spPr>
        <p:txBody>
          <a:bodyPr wrap="square" rtlCol="0" anchor="ctr"/>
          <a:lstStyle/>
          <a:p>
            <a:pPr indent="0" marL="0">
              <a:buNone/>
            </a:pPr>
            <a:r>
              <a:rPr lang="en-US" sz="1100" b="1" dirty="0">
                <a:solidFill>
                  <a:srgbClr val="1E7E55"/>
                </a:solidFill>
                <a:latin typeface="Arial" pitchFamily="34" charset="0"/>
                <a:ea typeface="Arial" pitchFamily="34" charset="-122"/>
                <a:cs typeface="Arial" pitchFamily="34" charset="-120"/>
              </a:rPr>
              <a:t>Monetize Heirloom Wardrobes</a:t>
            </a:r>
            <a:endParaRPr lang="en-US" sz="1100" dirty="0"/>
          </a:p>
        </p:txBody>
      </p:sp>
      <p:sp>
        <p:nvSpPr>
          <p:cNvPr id="38" name="Shape 36"/>
          <p:cNvSpPr/>
          <p:nvPr/>
        </p:nvSpPr>
        <p:spPr>
          <a:xfrm>
            <a:off x="8321040" y="3090672"/>
            <a:ext cx="109728" cy="109728"/>
          </a:xfrm>
          <a:prstGeom prst="ellipse">
            <a:avLst/>
          </a:prstGeom>
          <a:solidFill>
            <a:srgbClr val="1E7E55"/>
          </a:solidFill>
          <a:ln/>
        </p:spPr>
      </p:sp>
      <p:sp>
        <p:nvSpPr>
          <p:cNvPr id="39" name="Text 37"/>
          <p:cNvSpPr/>
          <p:nvPr/>
        </p:nvSpPr>
        <p:spPr>
          <a:xfrm>
            <a:off x="8549640" y="30175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Dedicated Boutique Storefront &amp; Bio</a:t>
            </a:r>
            <a:endParaRPr lang="en-US" sz="1100" dirty="0"/>
          </a:p>
        </p:txBody>
      </p:sp>
      <p:sp>
        <p:nvSpPr>
          <p:cNvPr id="40" name="Shape 38"/>
          <p:cNvSpPr/>
          <p:nvPr/>
        </p:nvSpPr>
        <p:spPr>
          <a:xfrm>
            <a:off x="8321040" y="3776472"/>
            <a:ext cx="109728" cy="109728"/>
          </a:xfrm>
          <a:prstGeom prst="ellipse">
            <a:avLst/>
          </a:prstGeom>
          <a:solidFill>
            <a:srgbClr val="1E7E55"/>
          </a:solidFill>
          <a:ln/>
        </p:spPr>
      </p:sp>
      <p:sp>
        <p:nvSpPr>
          <p:cNvPr id="41" name="Text 39"/>
          <p:cNvSpPr/>
          <p:nvPr/>
        </p:nvSpPr>
        <p:spPr>
          <a:xfrm>
            <a:off x="8549640" y="37033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Outfit Listing with Retail vs Rent Multipliers</a:t>
            </a:r>
            <a:endParaRPr lang="en-US" sz="1100" dirty="0"/>
          </a:p>
        </p:txBody>
      </p:sp>
      <p:sp>
        <p:nvSpPr>
          <p:cNvPr id="42" name="Shape 40"/>
          <p:cNvSpPr/>
          <p:nvPr/>
        </p:nvSpPr>
        <p:spPr>
          <a:xfrm>
            <a:off x="8321040" y="4462272"/>
            <a:ext cx="109728" cy="109728"/>
          </a:xfrm>
          <a:prstGeom prst="ellipse">
            <a:avLst/>
          </a:prstGeom>
          <a:solidFill>
            <a:srgbClr val="1E7E55"/>
          </a:solidFill>
          <a:ln/>
        </p:spPr>
      </p:sp>
      <p:sp>
        <p:nvSpPr>
          <p:cNvPr id="43" name="Text 41"/>
          <p:cNvSpPr/>
          <p:nvPr/>
        </p:nvSpPr>
        <p:spPr>
          <a:xfrm>
            <a:off x="8549640" y="43891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Rental Order Lifecycle Tracking</a:t>
            </a:r>
            <a:endParaRPr lang="en-US" sz="1100" dirty="0"/>
          </a:p>
        </p:txBody>
      </p:sp>
      <p:sp>
        <p:nvSpPr>
          <p:cNvPr id="44" name="Shape 42"/>
          <p:cNvSpPr/>
          <p:nvPr/>
        </p:nvSpPr>
        <p:spPr>
          <a:xfrm>
            <a:off x="8321040" y="5148072"/>
            <a:ext cx="109728" cy="109728"/>
          </a:xfrm>
          <a:prstGeom prst="ellipse">
            <a:avLst/>
          </a:prstGeom>
          <a:solidFill>
            <a:srgbClr val="1E7E55"/>
          </a:solidFill>
          <a:ln/>
        </p:spPr>
      </p:sp>
      <p:sp>
        <p:nvSpPr>
          <p:cNvPr id="45" name="Text 43"/>
          <p:cNvSpPr/>
          <p:nvPr/>
        </p:nvSpPr>
        <p:spPr>
          <a:xfrm>
            <a:off x="8549640" y="5074920"/>
            <a:ext cx="2606040" cy="594360"/>
          </a:xfrm>
          <a:prstGeom prst="rect">
            <a:avLst/>
          </a:prstGeom>
          <a:noFill/>
          <a:ln/>
        </p:spPr>
        <p:txBody>
          <a:bodyPr wrap="square" rtlCol="0" anchor="ctr"/>
          <a:lstStyle/>
          <a:p>
            <a:pPr indent="0" marL="0">
              <a:buNone/>
            </a:pPr>
            <a:r>
              <a:rPr lang="en-US" sz="1100" dirty="0">
                <a:solidFill>
                  <a:srgbClr val="1A1618"/>
                </a:solidFill>
                <a:latin typeface="Arial" pitchFamily="34" charset="0"/>
                <a:ea typeface="Arial" pitchFamily="34" charset="-122"/>
                <a:cs typeface="Arial" pitchFamily="34" charset="-120"/>
              </a:rPr>
              <a:t>Direct Revenue Generation &amp; Payouts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08 · ACT II</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08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COMPARATIVE PARADIGM SHIFT</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Before vs After: The Poshakh Transformation</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A direct feature-by-feature evaluation proving structural efficiency gains.</a:t>
            </a:r>
            <a:endParaRPr lang="en-US" sz="1300" dirty="0"/>
          </a:p>
        </p:txBody>
      </p:sp>
      <p:sp>
        <p:nvSpPr>
          <p:cNvPr id="10" name="Shape 8"/>
          <p:cNvSpPr/>
          <p:nvPr/>
        </p:nvSpPr>
        <p:spPr>
          <a:xfrm>
            <a:off x="731520" y="2011680"/>
            <a:ext cx="2926080" cy="411480"/>
          </a:xfrm>
          <a:prstGeom prst="rect">
            <a:avLst/>
          </a:prstGeom>
          <a:solidFill>
            <a:srgbClr val="2E2528"/>
          </a:solidFill>
          <a:ln/>
        </p:spPr>
      </p:sp>
      <p:sp>
        <p:nvSpPr>
          <p:cNvPr id="11" name="Text 9"/>
          <p:cNvSpPr/>
          <p:nvPr/>
        </p:nvSpPr>
        <p:spPr>
          <a:xfrm>
            <a:off x="822960" y="2011680"/>
            <a:ext cx="2743200" cy="411480"/>
          </a:xfrm>
          <a:prstGeom prst="rect">
            <a:avLst/>
          </a:prstGeom>
          <a:noFill/>
          <a:ln/>
        </p:spPr>
        <p:txBody>
          <a:bodyPr wrap="square" rtlCol="0" anchor="ctr"/>
          <a:lstStyle/>
          <a:p>
            <a:pPr indent="0" marL="0">
              <a:buNone/>
            </a:pPr>
            <a:r>
              <a:rPr lang="en-US" sz="1000" b="1" dirty="0">
                <a:solidFill>
                  <a:srgbClr val="FAF7F2"/>
                </a:solidFill>
                <a:latin typeface="Arial" pitchFamily="34" charset="0"/>
                <a:ea typeface="Arial" pitchFamily="34" charset="-122"/>
                <a:cs typeface="Arial" pitchFamily="34" charset="-120"/>
              </a:rPr>
              <a:t>FEATURE / METRIC</a:t>
            </a:r>
            <a:endParaRPr lang="en-US" sz="1000" dirty="0"/>
          </a:p>
        </p:txBody>
      </p:sp>
      <p:sp>
        <p:nvSpPr>
          <p:cNvPr id="12" name="Shape 10"/>
          <p:cNvSpPr/>
          <p:nvPr/>
        </p:nvSpPr>
        <p:spPr>
          <a:xfrm>
            <a:off x="3703320" y="2011680"/>
            <a:ext cx="3840480" cy="411480"/>
          </a:xfrm>
          <a:prstGeom prst="rect">
            <a:avLst/>
          </a:prstGeom>
          <a:solidFill>
            <a:srgbClr val="5A343A"/>
          </a:solidFill>
          <a:ln/>
        </p:spPr>
      </p:sp>
      <p:sp>
        <p:nvSpPr>
          <p:cNvPr id="13" name="Text 11"/>
          <p:cNvSpPr/>
          <p:nvPr/>
        </p:nvSpPr>
        <p:spPr>
          <a:xfrm>
            <a:off x="3794760" y="2011680"/>
            <a:ext cx="3657600" cy="411480"/>
          </a:xfrm>
          <a:prstGeom prst="rect">
            <a:avLst/>
          </a:prstGeom>
          <a:noFill/>
          <a:ln/>
        </p:spPr>
        <p:txBody>
          <a:bodyPr wrap="square" rtlCol="0" anchor="ctr"/>
          <a:lstStyle/>
          <a:p>
            <a:pPr indent="0" marL="0">
              <a:buNone/>
            </a:pPr>
            <a:r>
              <a:rPr lang="en-US" sz="1000" b="1" dirty="0">
                <a:solidFill>
                  <a:srgbClr val="FFB3B3"/>
                </a:solidFill>
                <a:latin typeface="Arial" pitchFamily="34" charset="0"/>
                <a:ea typeface="Arial" pitchFamily="34" charset="-122"/>
                <a:cs typeface="Arial" pitchFamily="34" charset="-120"/>
              </a:rPr>
              <a:t>TRADITIONAL OFFLINE SYSTEM</a:t>
            </a:r>
            <a:endParaRPr lang="en-US" sz="1000" dirty="0"/>
          </a:p>
        </p:txBody>
      </p:sp>
      <p:sp>
        <p:nvSpPr>
          <p:cNvPr id="14" name="Shape 12"/>
          <p:cNvSpPr/>
          <p:nvPr/>
        </p:nvSpPr>
        <p:spPr>
          <a:xfrm>
            <a:off x="7589520" y="2011680"/>
            <a:ext cx="3870655" cy="411480"/>
          </a:xfrm>
          <a:prstGeom prst="rect">
            <a:avLst/>
          </a:prstGeom>
          <a:solidFill>
            <a:srgbClr val="1A3E2C"/>
          </a:solidFill>
          <a:ln/>
        </p:spPr>
      </p:sp>
      <p:sp>
        <p:nvSpPr>
          <p:cNvPr id="15" name="Text 13"/>
          <p:cNvSpPr/>
          <p:nvPr/>
        </p:nvSpPr>
        <p:spPr>
          <a:xfrm>
            <a:off x="7680960" y="2011680"/>
            <a:ext cx="3657600" cy="411480"/>
          </a:xfrm>
          <a:prstGeom prst="rect">
            <a:avLst/>
          </a:prstGeom>
          <a:noFill/>
          <a:ln/>
        </p:spPr>
        <p:txBody>
          <a:bodyPr wrap="square" rtlCol="0" anchor="ctr"/>
          <a:lstStyle/>
          <a:p>
            <a:pPr indent="0" marL="0">
              <a:buNone/>
            </a:pPr>
            <a:r>
              <a:rPr lang="en-US" sz="1000" b="1" dirty="0">
                <a:solidFill>
                  <a:srgbClr val="B3FFD6"/>
                </a:solidFill>
                <a:latin typeface="Arial" pitchFamily="34" charset="0"/>
                <a:ea typeface="Arial" pitchFamily="34" charset="-122"/>
                <a:cs typeface="Arial" pitchFamily="34" charset="-120"/>
              </a:rPr>
              <a:t>THE POSHAKH PLATFORM</a:t>
            </a:r>
            <a:endParaRPr lang="en-US" sz="1000" dirty="0"/>
          </a:p>
        </p:txBody>
      </p:sp>
      <p:sp>
        <p:nvSpPr>
          <p:cNvPr id="16" name="Shape 14"/>
          <p:cNvSpPr/>
          <p:nvPr/>
        </p:nvSpPr>
        <p:spPr>
          <a:xfrm>
            <a:off x="731520" y="2468880"/>
            <a:ext cx="2926080" cy="667512"/>
          </a:xfrm>
          <a:prstGeom prst="rect">
            <a:avLst/>
          </a:prstGeom>
          <a:solidFill>
            <a:srgbClr val="FFFFFF"/>
          </a:solidFill>
          <a:ln w="6350">
            <a:solidFill>
              <a:srgbClr val="E2DACD"/>
            </a:solidFill>
            <a:prstDash val="solid"/>
          </a:ln>
        </p:spPr>
      </p:sp>
      <p:sp>
        <p:nvSpPr>
          <p:cNvPr id="17" name="Text 15"/>
          <p:cNvSpPr/>
          <p:nvPr/>
        </p:nvSpPr>
        <p:spPr>
          <a:xfrm>
            <a:off x="868680" y="2468880"/>
            <a:ext cx="2651760" cy="667512"/>
          </a:xfrm>
          <a:prstGeom prst="rect">
            <a:avLst/>
          </a:prstGeom>
          <a:noFill/>
          <a:ln/>
        </p:spPr>
        <p:txBody>
          <a:bodyPr wrap="square" rtlCol="0" anchor="ctr"/>
          <a:lstStyle/>
          <a:p>
            <a:pPr indent="0" marL="0">
              <a:buNone/>
            </a:pPr>
            <a:r>
              <a:rPr lang="en-US" sz="1100" b="1" dirty="0">
                <a:solidFill>
                  <a:srgbClr val="1A1618"/>
                </a:solidFill>
                <a:latin typeface="Arial" pitchFamily="34" charset="0"/>
                <a:ea typeface="Arial" pitchFamily="34" charset="-122"/>
                <a:cs typeface="Arial" pitchFamily="34" charset="-120"/>
              </a:rPr>
              <a:t>Cost to Wear Luxury Couture</a:t>
            </a:r>
            <a:endParaRPr lang="en-US" sz="1100" dirty="0"/>
          </a:p>
        </p:txBody>
      </p:sp>
      <p:sp>
        <p:nvSpPr>
          <p:cNvPr id="18" name="Shape 16"/>
          <p:cNvSpPr/>
          <p:nvPr/>
        </p:nvSpPr>
        <p:spPr>
          <a:xfrm>
            <a:off x="3703320" y="2468880"/>
            <a:ext cx="3840480" cy="667512"/>
          </a:xfrm>
          <a:prstGeom prst="rect">
            <a:avLst/>
          </a:prstGeom>
          <a:solidFill>
            <a:srgbClr val="FFFFFF"/>
          </a:solidFill>
          <a:ln w="6350">
            <a:solidFill>
              <a:srgbClr val="E2DACD"/>
            </a:solidFill>
            <a:prstDash val="solid"/>
          </a:ln>
        </p:spPr>
      </p:sp>
      <p:sp>
        <p:nvSpPr>
          <p:cNvPr id="19" name="Text 17"/>
          <p:cNvSpPr/>
          <p:nvPr/>
        </p:nvSpPr>
        <p:spPr>
          <a:xfrm>
            <a:off x="3840480" y="2468880"/>
            <a:ext cx="3566160" cy="667512"/>
          </a:xfrm>
          <a:prstGeom prst="rect">
            <a:avLst/>
          </a:prstGeom>
          <a:noFill/>
          <a:ln/>
        </p:spPr>
        <p:txBody>
          <a:bodyPr wrap="square" rtlCol="0" anchor="ctr"/>
          <a:lstStyle/>
          <a:p>
            <a:pPr indent="0" marL="0">
              <a:buNone/>
            </a:pPr>
            <a:r>
              <a:rPr lang="en-US" sz="1050" dirty="0">
                <a:solidFill>
                  <a:srgbClr val="C53030"/>
                </a:solidFill>
                <a:latin typeface="Arial" pitchFamily="34" charset="0"/>
                <a:ea typeface="Arial" pitchFamily="34" charset="-122"/>
                <a:cs typeface="Arial" pitchFamily="34" charset="-120"/>
              </a:rPr>
              <a:t>❌ 100% Full Retail Purchase (₹50k-₹1.5L)</a:t>
            </a:r>
            <a:endParaRPr lang="en-US" sz="1050" dirty="0"/>
          </a:p>
        </p:txBody>
      </p:sp>
      <p:sp>
        <p:nvSpPr>
          <p:cNvPr id="20" name="Shape 18"/>
          <p:cNvSpPr/>
          <p:nvPr/>
        </p:nvSpPr>
        <p:spPr>
          <a:xfrm>
            <a:off x="7589520" y="2468880"/>
            <a:ext cx="3870655" cy="667512"/>
          </a:xfrm>
          <a:prstGeom prst="rect">
            <a:avLst/>
          </a:prstGeom>
          <a:solidFill>
            <a:srgbClr val="FFFFFF"/>
          </a:solidFill>
          <a:ln w="6350">
            <a:solidFill>
              <a:srgbClr val="E2DACD"/>
            </a:solidFill>
            <a:prstDash val="solid"/>
          </a:ln>
        </p:spPr>
      </p:sp>
      <p:sp>
        <p:nvSpPr>
          <p:cNvPr id="21" name="Text 19"/>
          <p:cNvSpPr/>
          <p:nvPr/>
        </p:nvSpPr>
        <p:spPr>
          <a:xfrm>
            <a:off x="7726680" y="2468880"/>
            <a:ext cx="3611880" cy="667512"/>
          </a:xfrm>
          <a:prstGeom prst="rect">
            <a:avLst/>
          </a:prstGeom>
          <a:noFill/>
          <a:ln/>
        </p:spPr>
        <p:txBody>
          <a:bodyPr wrap="square" rtlCol="0" anchor="ctr"/>
          <a:lstStyle/>
          <a:p>
            <a:pPr indent="0" marL="0">
              <a:buNone/>
            </a:pPr>
            <a:r>
              <a:rPr lang="en-US" sz="1050" b="1" dirty="0">
                <a:solidFill>
                  <a:srgbClr val="1E7E55"/>
                </a:solidFill>
                <a:latin typeface="Arial" pitchFamily="34" charset="0"/>
                <a:ea typeface="Arial" pitchFamily="34" charset="-122"/>
                <a:cs typeface="Arial" pitchFamily="34" charset="-120"/>
              </a:rPr>
              <a:t>✔ 8-12% Affordable Rental Fee (₹3,000-₹7,000)</a:t>
            </a:r>
            <a:endParaRPr lang="en-US" sz="1050" dirty="0"/>
          </a:p>
        </p:txBody>
      </p:sp>
      <p:sp>
        <p:nvSpPr>
          <p:cNvPr id="22" name="Shape 20"/>
          <p:cNvSpPr/>
          <p:nvPr/>
        </p:nvSpPr>
        <p:spPr>
          <a:xfrm>
            <a:off x="731520" y="3182112"/>
            <a:ext cx="2926080" cy="667512"/>
          </a:xfrm>
          <a:prstGeom prst="rect">
            <a:avLst/>
          </a:prstGeom>
          <a:solidFill>
            <a:srgbClr val="F6F1E9"/>
          </a:solidFill>
          <a:ln w="6350">
            <a:solidFill>
              <a:srgbClr val="E2DACD"/>
            </a:solidFill>
            <a:prstDash val="solid"/>
          </a:ln>
        </p:spPr>
      </p:sp>
      <p:sp>
        <p:nvSpPr>
          <p:cNvPr id="23" name="Text 21"/>
          <p:cNvSpPr/>
          <p:nvPr/>
        </p:nvSpPr>
        <p:spPr>
          <a:xfrm>
            <a:off x="868680" y="3182112"/>
            <a:ext cx="2651760" cy="667512"/>
          </a:xfrm>
          <a:prstGeom prst="rect">
            <a:avLst/>
          </a:prstGeom>
          <a:noFill/>
          <a:ln/>
        </p:spPr>
        <p:txBody>
          <a:bodyPr wrap="square" rtlCol="0" anchor="ctr"/>
          <a:lstStyle/>
          <a:p>
            <a:pPr indent="0" marL="0">
              <a:buNone/>
            </a:pPr>
            <a:r>
              <a:rPr lang="en-US" sz="1100" b="1" dirty="0">
                <a:solidFill>
                  <a:srgbClr val="1A1618"/>
                </a:solidFill>
                <a:latin typeface="Arial" pitchFamily="34" charset="0"/>
                <a:ea typeface="Arial" pitchFamily="34" charset="-122"/>
                <a:cs typeface="Arial" pitchFamily="34" charset="-120"/>
              </a:rPr>
              <a:t>Inventory Transparency</a:t>
            </a:r>
            <a:endParaRPr lang="en-US" sz="1100" dirty="0"/>
          </a:p>
        </p:txBody>
      </p:sp>
      <p:sp>
        <p:nvSpPr>
          <p:cNvPr id="24" name="Shape 22"/>
          <p:cNvSpPr/>
          <p:nvPr/>
        </p:nvSpPr>
        <p:spPr>
          <a:xfrm>
            <a:off x="3703320" y="3182112"/>
            <a:ext cx="3840480" cy="667512"/>
          </a:xfrm>
          <a:prstGeom prst="rect">
            <a:avLst/>
          </a:prstGeom>
          <a:solidFill>
            <a:srgbClr val="F6F1E9"/>
          </a:solidFill>
          <a:ln w="6350">
            <a:solidFill>
              <a:srgbClr val="E2DACD"/>
            </a:solidFill>
            <a:prstDash val="solid"/>
          </a:ln>
        </p:spPr>
      </p:sp>
      <p:sp>
        <p:nvSpPr>
          <p:cNvPr id="25" name="Text 23"/>
          <p:cNvSpPr/>
          <p:nvPr/>
        </p:nvSpPr>
        <p:spPr>
          <a:xfrm>
            <a:off x="3840480" y="3182112"/>
            <a:ext cx="3566160" cy="667512"/>
          </a:xfrm>
          <a:prstGeom prst="rect">
            <a:avLst/>
          </a:prstGeom>
          <a:noFill/>
          <a:ln/>
        </p:spPr>
        <p:txBody>
          <a:bodyPr wrap="square" rtlCol="0" anchor="ctr"/>
          <a:lstStyle/>
          <a:p>
            <a:pPr indent="0" marL="0">
              <a:buNone/>
            </a:pPr>
            <a:r>
              <a:rPr lang="en-US" sz="1050" dirty="0">
                <a:solidFill>
                  <a:srgbClr val="C53030"/>
                </a:solidFill>
                <a:latin typeface="Arial" pitchFamily="34" charset="0"/>
                <a:ea typeface="Arial" pitchFamily="34" charset="-122"/>
                <a:cs typeface="Arial" pitchFamily="34" charset="-120"/>
              </a:rPr>
              <a:t>❌ Uncertain offline shop visits with zero catalog</a:t>
            </a:r>
            <a:endParaRPr lang="en-US" sz="1050" dirty="0"/>
          </a:p>
        </p:txBody>
      </p:sp>
      <p:sp>
        <p:nvSpPr>
          <p:cNvPr id="26" name="Shape 24"/>
          <p:cNvSpPr/>
          <p:nvPr/>
        </p:nvSpPr>
        <p:spPr>
          <a:xfrm>
            <a:off x="7589520" y="3182112"/>
            <a:ext cx="3870655" cy="667512"/>
          </a:xfrm>
          <a:prstGeom prst="rect">
            <a:avLst/>
          </a:prstGeom>
          <a:solidFill>
            <a:srgbClr val="F6F1E9"/>
          </a:solidFill>
          <a:ln w="6350">
            <a:solidFill>
              <a:srgbClr val="E2DACD"/>
            </a:solidFill>
            <a:prstDash val="solid"/>
          </a:ln>
        </p:spPr>
      </p:sp>
      <p:sp>
        <p:nvSpPr>
          <p:cNvPr id="27" name="Text 25"/>
          <p:cNvSpPr/>
          <p:nvPr/>
        </p:nvSpPr>
        <p:spPr>
          <a:xfrm>
            <a:off x="7726680" y="3182112"/>
            <a:ext cx="3611880" cy="667512"/>
          </a:xfrm>
          <a:prstGeom prst="rect">
            <a:avLst/>
          </a:prstGeom>
          <a:noFill/>
          <a:ln/>
        </p:spPr>
        <p:txBody>
          <a:bodyPr wrap="square" rtlCol="0" anchor="ctr"/>
          <a:lstStyle/>
          <a:p>
            <a:pPr indent="0" marL="0">
              <a:buNone/>
            </a:pPr>
            <a:r>
              <a:rPr lang="en-US" sz="1050" b="1" dirty="0">
                <a:solidFill>
                  <a:srgbClr val="1E7E55"/>
                </a:solidFill>
                <a:latin typeface="Arial" pitchFamily="34" charset="0"/>
                <a:ea typeface="Arial" pitchFamily="34" charset="-122"/>
                <a:cs typeface="Arial" pitchFamily="34" charset="-120"/>
              </a:rPr>
              <a:t>✔ High-res online showcase with filters by occasion &amp; fabric</a:t>
            </a:r>
            <a:endParaRPr lang="en-US" sz="1050" dirty="0"/>
          </a:p>
        </p:txBody>
      </p:sp>
      <p:sp>
        <p:nvSpPr>
          <p:cNvPr id="28" name="Shape 26"/>
          <p:cNvSpPr/>
          <p:nvPr/>
        </p:nvSpPr>
        <p:spPr>
          <a:xfrm>
            <a:off x="731520" y="3895344"/>
            <a:ext cx="2926080" cy="667512"/>
          </a:xfrm>
          <a:prstGeom prst="rect">
            <a:avLst/>
          </a:prstGeom>
          <a:solidFill>
            <a:srgbClr val="FFFFFF"/>
          </a:solidFill>
          <a:ln w="6350">
            <a:solidFill>
              <a:srgbClr val="E2DACD"/>
            </a:solidFill>
            <a:prstDash val="solid"/>
          </a:ln>
        </p:spPr>
      </p:sp>
      <p:sp>
        <p:nvSpPr>
          <p:cNvPr id="29" name="Text 27"/>
          <p:cNvSpPr/>
          <p:nvPr/>
        </p:nvSpPr>
        <p:spPr>
          <a:xfrm>
            <a:off x="868680" y="3895344"/>
            <a:ext cx="2651760" cy="667512"/>
          </a:xfrm>
          <a:prstGeom prst="rect">
            <a:avLst/>
          </a:prstGeom>
          <a:noFill/>
          <a:ln/>
        </p:spPr>
        <p:txBody>
          <a:bodyPr wrap="square" rtlCol="0" anchor="ctr"/>
          <a:lstStyle/>
          <a:p>
            <a:pPr indent="0" marL="0">
              <a:buNone/>
            </a:pPr>
            <a:r>
              <a:rPr lang="en-US" sz="1100" b="1" dirty="0">
                <a:solidFill>
                  <a:srgbClr val="1A1618"/>
                </a:solidFill>
                <a:latin typeface="Arial" pitchFamily="34" charset="0"/>
                <a:ea typeface="Arial" pitchFamily="34" charset="-122"/>
                <a:cs typeface="Arial" pitchFamily="34" charset="-120"/>
              </a:rPr>
              <a:t>Deposit Management</a:t>
            </a:r>
            <a:endParaRPr lang="en-US" sz="1100" dirty="0"/>
          </a:p>
        </p:txBody>
      </p:sp>
      <p:sp>
        <p:nvSpPr>
          <p:cNvPr id="30" name="Shape 28"/>
          <p:cNvSpPr/>
          <p:nvPr/>
        </p:nvSpPr>
        <p:spPr>
          <a:xfrm>
            <a:off x="3703320" y="3895344"/>
            <a:ext cx="3840480" cy="667512"/>
          </a:xfrm>
          <a:prstGeom prst="rect">
            <a:avLst/>
          </a:prstGeom>
          <a:solidFill>
            <a:srgbClr val="FFFFFF"/>
          </a:solidFill>
          <a:ln w="6350">
            <a:solidFill>
              <a:srgbClr val="E2DACD"/>
            </a:solidFill>
            <a:prstDash val="solid"/>
          </a:ln>
        </p:spPr>
      </p:sp>
      <p:sp>
        <p:nvSpPr>
          <p:cNvPr id="31" name="Text 29"/>
          <p:cNvSpPr/>
          <p:nvPr/>
        </p:nvSpPr>
        <p:spPr>
          <a:xfrm>
            <a:off x="3840480" y="3895344"/>
            <a:ext cx="3566160" cy="667512"/>
          </a:xfrm>
          <a:prstGeom prst="rect">
            <a:avLst/>
          </a:prstGeom>
          <a:noFill/>
          <a:ln/>
        </p:spPr>
        <p:txBody>
          <a:bodyPr wrap="square" rtlCol="0" anchor="ctr"/>
          <a:lstStyle/>
          <a:p>
            <a:pPr indent="0" marL="0">
              <a:buNone/>
            </a:pPr>
            <a:r>
              <a:rPr lang="en-US" sz="1050" dirty="0">
                <a:solidFill>
                  <a:srgbClr val="C53030"/>
                </a:solidFill>
                <a:latin typeface="Arial" pitchFamily="34" charset="0"/>
                <a:ea typeface="Arial" pitchFamily="34" charset="-122"/>
                <a:cs typeface="Arial" pitchFamily="34" charset="-120"/>
              </a:rPr>
              <a:t>❌ Vague cash receipts prone to withholding disputes</a:t>
            </a:r>
            <a:endParaRPr lang="en-US" sz="1050" dirty="0"/>
          </a:p>
        </p:txBody>
      </p:sp>
      <p:sp>
        <p:nvSpPr>
          <p:cNvPr id="32" name="Shape 30"/>
          <p:cNvSpPr/>
          <p:nvPr/>
        </p:nvSpPr>
        <p:spPr>
          <a:xfrm>
            <a:off x="7589520" y="3895344"/>
            <a:ext cx="3870655" cy="667512"/>
          </a:xfrm>
          <a:prstGeom prst="rect">
            <a:avLst/>
          </a:prstGeom>
          <a:solidFill>
            <a:srgbClr val="FFFFFF"/>
          </a:solidFill>
          <a:ln w="6350">
            <a:solidFill>
              <a:srgbClr val="E2DACD"/>
            </a:solidFill>
            <a:prstDash val="solid"/>
          </a:ln>
        </p:spPr>
      </p:sp>
      <p:sp>
        <p:nvSpPr>
          <p:cNvPr id="33" name="Text 31"/>
          <p:cNvSpPr/>
          <p:nvPr/>
        </p:nvSpPr>
        <p:spPr>
          <a:xfrm>
            <a:off x="7726680" y="3895344"/>
            <a:ext cx="3611880" cy="667512"/>
          </a:xfrm>
          <a:prstGeom prst="rect">
            <a:avLst/>
          </a:prstGeom>
          <a:noFill/>
          <a:ln/>
        </p:spPr>
        <p:txBody>
          <a:bodyPr wrap="square" rtlCol="0" anchor="ctr"/>
          <a:lstStyle/>
          <a:p>
            <a:pPr indent="0" marL="0">
              <a:buNone/>
            </a:pPr>
            <a:r>
              <a:rPr lang="en-US" sz="1050" b="1" dirty="0">
                <a:solidFill>
                  <a:srgbClr val="1E7E55"/>
                </a:solidFill>
                <a:latin typeface="Arial" pitchFamily="34" charset="0"/>
                <a:ea typeface="Arial" pitchFamily="34" charset="-122"/>
                <a:cs typeface="Arial" pitchFamily="34" charset="-120"/>
              </a:rPr>
              <a:t>✔ Clear escrow policy with automated post-inspection release</a:t>
            </a:r>
            <a:endParaRPr lang="en-US" sz="1050" dirty="0"/>
          </a:p>
        </p:txBody>
      </p:sp>
      <p:sp>
        <p:nvSpPr>
          <p:cNvPr id="34" name="Shape 32"/>
          <p:cNvSpPr/>
          <p:nvPr/>
        </p:nvSpPr>
        <p:spPr>
          <a:xfrm>
            <a:off x="731520" y="4608576"/>
            <a:ext cx="2926080" cy="667512"/>
          </a:xfrm>
          <a:prstGeom prst="rect">
            <a:avLst/>
          </a:prstGeom>
          <a:solidFill>
            <a:srgbClr val="F6F1E9"/>
          </a:solidFill>
          <a:ln w="6350">
            <a:solidFill>
              <a:srgbClr val="E2DACD"/>
            </a:solidFill>
            <a:prstDash val="solid"/>
          </a:ln>
        </p:spPr>
      </p:sp>
      <p:sp>
        <p:nvSpPr>
          <p:cNvPr id="35" name="Text 33"/>
          <p:cNvSpPr/>
          <p:nvPr/>
        </p:nvSpPr>
        <p:spPr>
          <a:xfrm>
            <a:off x="868680" y="4608576"/>
            <a:ext cx="2651760" cy="667512"/>
          </a:xfrm>
          <a:prstGeom prst="rect">
            <a:avLst/>
          </a:prstGeom>
          <a:noFill/>
          <a:ln/>
        </p:spPr>
        <p:txBody>
          <a:bodyPr wrap="square" rtlCol="0" anchor="ctr"/>
          <a:lstStyle/>
          <a:p>
            <a:pPr indent="0" marL="0">
              <a:buNone/>
            </a:pPr>
            <a:r>
              <a:rPr lang="en-US" sz="1100" b="1" dirty="0">
                <a:solidFill>
                  <a:srgbClr val="1A1618"/>
                </a:solidFill>
                <a:latin typeface="Arial" pitchFamily="34" charset="0"/>
                <a:ea typeface="Arial" pitchFamily="34" charset="-122"/>
                <a:cs typeface="Arial" pitchFamily="34" charset="-120"/>
              </a:rPr>
              <a:t>Lender Revenue Model</a:t>
            </a:r>
            <a:endParaRPr lang="en-US" sz="1100" dirty="0"/>
          </a:p>
        </p:txBody>
      </p:sp>
      <p:sp>
        <p:nvSpPr>
          <p:cNvPr id="36" name="Shape 34"/>
          <p:cNvSpPr/>
          <p:nvPr/>
        </p:nvSpPr>
        <p:spPr>
          <a:xfrm>
            <a:off x="3703320" y="4608576"/>
            <a:ext cx="3840480" cy="667512"/>
          </a:xfrm>
          <a:prstGeom prst="rect">
            <a:avLst/>
          </a:prstGeom>
          <a:solidFill>
            <a:srgbClr val="F6F1E9"/>
          </a:solidFill>
          <a:ln w="6350">
            <a:solidFill>
              <a:srgbClr val="E2DACD"/>
            </a:solidFill>
            <a:prstDash val="solid"/>
          </a:ln>
        </p:spPr>
      </p:sp>
      <p:sp>
        <p:nvSpPr>
          <p:cNvPr id="37" name="Text 35"/>
          <p:cNvSpPr/>
          <p:nvPr/>
        </p:nvSpPr>
        <p:spPr>
          <a:xfrm>
            <a:off x="3840480" y="4608576"/>
            <a:ext cx="3566160" cy="667512"/>
          </a:xfrm>
          <a:prstGeom prst="rect">
            <a:avLst/>
          </a:prstGeom>
          <a:noFill/>
          <a:ln/>
        </p:spPr>
        <p:txBody>
          <a:bodyPr wrap="square" rtlCol="0" anchor="ctr"/>
          <a:lstStyle/>
          <a:p>
            <a:pPr indent="0" marL="0">
              <a:buNone/>
            </a:pPr>
            <a:r>
              <a:rPr lang="en-US" sz="1050" dirty="0">
                <a:solidFill>
                  <a:srgbClr val="C53030"/>
                </a:solidFill>
                <a:latin typeface="Arial" pitchFamily="34" charset="0"/>
                <a:ea typeface="Arial" pitchFamily="34" charset="-122"/>
                <a:cs typeface="Arial" pitchFamily="34" charset="-120"/>
              </a:rPr>
              <a:t>❌ Wardrobes lock capital with zero returns</a:t>
            </a:r>
            <a:endParaRPr lang="en-US" sz="1050" dirty="0"/>
          </a:p>
        </p:txBody>
      </p:sp>
      <p:sp>
        <p:nvSpPr>
          <p:cNvPr id="38" name="Shape 36"/>
          <p:cNvSpPr/>
          <p:nvPr/>
        </p:nvSpPr>
        <p:spPr>
          <a:xfrm>
            <a:off x="7589520" y="4608576"/>
            <a:ext cx="3870655" cy="667512"/>
          </a:xfrm>
          <a:prstGeom prst="rect">
            <a:avLst/>
          </a:prstGeom>
          <a:solidFill>
            <a:srgbClr val="F6F1E9"/>
          </a:solidFill>
          <a:ln w="6350">
            <a:solidFill>
              <a:srgbClr val="E2DACD"/>
            </a:solidFill>
            <a:prstDash val="solid"/>
          </a:ln>
        </p:spPr>
      </p:sp>
      <p:sp>
        <p:nvSpPr>
          <p:cNvPr id="39" name="Text 37"/>
          <p:cNvSpPr/>
          <p:nvPr/>
        </p:nvSpPr>
        <p:spPr>
          <a:xfrm>
            <a:off x="7726680" y="4608576"/>
            <a:ext cx="3611880" cy="667512"/>
          </a:xfrm>
          <a:prstGeom prst="rect">
            <a:avLst/>
          </a:prstGeom>
          <a:noFill/>
          <a:ln/>
        </p:spPr>
        <p:txBody>
          <a:bodyPr wrap="square" rtlCol="0" anchor="ctr"/>
          <a:lstStyle/>
          <a:p>
            <a:pPr indent="0" marL="0">
              <a:buNone/>
            </a:pPr>
            <a:r>
              <a:rPr lang="en-US" sz="1050" b="1" dirty="0">
                <a:solidFill>
                  <a:srgbClr val="1E7E55"/>
                </a:solidFill>
                <a:latin typeface="Arial" pitchFamily="34" charset="0"/>
                <a:ea typeface="Arial" pitchFamily="34" charset="-122"/>
                <a:cs typeface="Arial" pitchFamily="34" charset="-120"/>
              </a:rPr>
              <a:t>✔ Boutiques &amp; individuals earn steady rental dividends</a:t>
            </a:r>
            <a:endParaRPr lang="en-US" sz="1050" dirty="0"/>
          </a:p>
        </p:txBody>
      </p:sp>
      <p:sp>
        <p:nvSpPr>
          <p:cNvPr id="40" name="Shape 38"/>
          <p:cNvSpPr/>
          <p:nvPr/>
        </p:nvSpPr>
        <p:spPr>
          <a:xfrm>
            <a:off x="731520" y="5321808"/>
            <a:ext cx="2926080" cy="667512"/>
          </a:xfrm>
          <a:prstGeom prst="rect">
            <a:avLst/>
          </a:prstGeom>
          <a:solidFill>
            <a:srgbClr val="FFFFFF"/>
          </a:solidFill>
          <a:ln w="6350">
            <a:solidFill>
              <a:srgbClr val="E2DACD"/>
            </a:solidFill>
            <a:prstDash val="solid"/>
          </a:ln>
        </p:spPr>
      </p:sp>
      <p:sp>
        <p:nvSpPr>
          <p:cNvPr id="41" name="Text 39"/>
          <p:cNvSpPr/>
          <p:nvPr/>
        </p:nvSpPr>
        <p:spPr>
          <a:xfrm>
            <a:off x="868680" y="5321808"/>
            <a:ext cx="2651760" cy="667512"/>
          </a:xfrm>
          <a:prstGeom prst="rect">
            <a:avLst/>
          </a:prstGeom>
          <a:noFill/>
          <a:ln/>
        </p:spPr>
        <p:txBody>
          <a:bodyPr wrap="square" rtlCol="0" anchor="ctr"/>
          <a:lstStyle/>
          <a:p>
            <a:pPr indent="0" marL="0">
              <a:buNone/>
            </a:pPr>
            <a:r>
              <a:rPr lang="en-US" sz="1100" b="1" dirty="0">
                <a:solidFill>
                  <a:srgbClr val="1A1618"/>
                </a:solidFill>
                <a:latin typeface="Arial" pitchFamily="34" charset="0"/>
                <a:ea typeface="Arial" pitchFamily="34" charset="-122"/>
                <a:cs typeface="Arial" pitchFamily="34" charset="-120"/>
              </a:rPr>
              <a:t>Dispute &amp; Quality Recourse</a:t>
            </a:r>
            <a:endParaRPr lang="en-US" sz="1100" dirty="0"/>
          </a:p>
        </p:txBody>
      </p:sp>
      <p:sp>
        <p:nvSpPr>
          <p:cNvPr id="42" name="Shape 40"/>
          <p:cNvSpPr/>
          <p:nvPr/>
        </p:nvSpPr>
        <p:spPr>
          <a:xfrm>
            <a:off x="3703320" y="5321808"/>
            <a:ext cx="3840480" cy="667512"/>
          </a:xfrm>
          <a:prstGeom prst="rect">
            <a:avLst/>
          </a:prstGeom>
          <a:solidFill>
            <a:srgbClr val="FFFFFF"/>
          </a:solidFill>
          <a:ln w="6350">
            <a:solidFill>
              <a:srgbClr val="E2DACD"/>
            </a:solidFill>
            <a:prstDash val="solid"/>
          </a:ln>
        </p:spPr>
      </p:sp>
      <p:sp>
        <p:nvSpPr>
          <p:cNvPr id="43" name="Text 41"/>
          <p:cNvSpPr/>
          <p:nvPr/>
        </p:nvSpPr>
        <p:spPr>
          <a:xfrm>
            <a:off x="3840480" y="5321808"/>
            <a:ext cx="3566160" cy="667512"/>
          </a:xfrm>
          <a:prstGeom prst="rect">
            <a:avLst/>
          </a:prstGeom>
          <a:noFill/>
          <a:ln/>
        </p:spPr>
        <p:txBody>
          <a:bodyPr wrap="square" rtlCol="0" anchor="ctr"/>
          <a:lstStyle/>
          <a:p>
            <a:pPr indent="0" marL="0">
              <a:buNone/>
            </a:pPr>
            <a:r>
              <a:rPr lang="en-US" sz="1050" dirty="0">
                <a:solidFill>
                  <a:srgbClr val="C53030"/>
                </a:solidFill>
                <a:latin typeface="Arial" pitchFamily="34" charset="0"/>
                <a:ea typeface="Arial" pitchFamily="34" charset="-122"/>
                <a:cs typeface="Arial" pitchFamily="34" charset="-120"/>
              </a:rPr>
              <a:t>❌ No formal mediator; renter bears full risk</a:t>
            </a:r>
            <a:endParaRPr lang="en-US" sz="1050" dirty="0"/>
          </a:p>
        </p:txBody>
      </p:sp>
      <p:sp>
        <p:nvSpPr>
          <p:cNvPr id="44" name="Shape 42"/>
          <p:cNvSpPr/>
          <p:nvPr/>
        </p:nvSpPr>
        <p:spPr>
          <a:xfrm>
            <a:off x="7589520" y="5321808"/>
            <a:ext cx="3870655" cy="667512"/>
          </a:xfrm>
          <a:prstGeom prst="rect">
            <a:avLst/>
          </a:prstGeom>
          <a:solidFill>
            <a:srgbClr val="FFFFFF"/>
          </a:solidFill>
          <a:ln w="6350">
            <a:solidFill>
              <a:srgbClr val="E2DACD"/>
            </a:solidFill>
            <a:prstDash val="solid"/>
          </a:ln>
        </p:spPr>
      </p:sp>
      <p:sp>
        <p:nvSpPr>
          <p:cNvPr id="45" name="Text 43"/>
          <p:cNvSpPr/>
          <p:nvPr/>
        </p:nvSpPr>
        <p:spPr>
          <a:xfrm>
            <a:off x="7726680" y="5321808"/>
            <a:ext cx="3611880" cy="667512"/>
          </a:xfrm>
          <a:prstGeom prst="rect">
            <a:avLst/>
          </a:prstGeom>
          <a:noFill/>
          <a:ln/>
        </p:spPr>
        <p:txBody>
          <a:bodyPr wrap="square" rtlCol="0" anchor="ctr"/>
          <a:lstStyle/>
          <a:p>
            <a:pPr indent="0" marL="0">
              <a:buNone/>
            </a:pPr>
            <a:r>
              <a:rPr lang="en-US" sz="1050" b="1" dirty="0">
                <a:solidFill>
                  <a:srgbClr val="1E7E55"/>
                </a:solidFill>
                <a:latin typeface="Arial" pitchFamily="34" charset="0"/>
                <a:ea typeface="Arial" pitchFamily="34" charset="-122"/>
                <a:cs typeface="Arial" pitchFamily="34" charset="-120"/>
              </a:rPr>
              <a:t>✔ Admin panel with formal complaint escalation &amp; refund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09 · ACT III</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1371600"/>
            <a:ext cx="4114800" cy="3200400"/>
          </a:xfrm>
          <a:prstGeom prst="rect">
            <a:avLst/>
          </a:prstGeom>
          <a:noFill/>
          <a:ln/>
        </p:spPr>
        <p:txBody>
          <a:bodyPr wrap="square" rtlCol="0" anchor="ctr"/>
          <a:lstStyle/>
          <a:p>
            <a:pPr algn="l" indent="0" marL="0">
              <a:buNone/>
            </a:pPr>
            <a:r>
              <a:rPr lang="en-US" sz="12000" b="1" dirty="0">
                <a:solidFill>
                  <a:srgbClr val="1E1217"/>
                </a:solidFill>
                <a:latin typeface="Georgia" pitchFamily="34" charset="0"/>
                <a:ea typeface="Georgia" pitchFamily="34" charset="-122"/>
                <a:cs typeface="Georgia" pitchFamily="34" charset="-120"/>
              </a:rPr>
              <a:t>III</a:t>
            </a:r>
            <a:endParaRPr lang="en-US" sz="12000" dirty="0"/>
          </a:p>
        </p:txBody>
      </p:sp>
      <p:sp>
        <p:nvSpPr>
          <p:cNvPr id="6" name="Shape 4"/>
          <p:cNvSpPr/>
          <p:nvPr/>
        </p:nvSpPr>
        <p:spPr>
          <a:xfrm>
            <a:off x="731520" y="1828800"/>
            <a:ext cx="2194560" cy="365760"/>
          </a:xfrm>
          <a:prstGeom prst="roundRect">
            <a:avLst/>
          </a:prstGeom>
          <a:solidFill>
            <a:srgbClr val="C99A2E"/>
          </a:solidFill>
          <a:ln w="12700">
            <a:solidFill>
              <a:srgbClr val="E6B85C"/>
            </a:solidFill>
            <a:prstDash val="solid"/>
          </a:ln>
        </p:spPr>
      </p:sp>
      <p:sp>
        <p:nvSpPr>
          <p:cNvPr id="7" name="Text 5"/>
          <p:cNvSpPr/>
          <p:nvPr/>
        </p:nvSpPr>
        <p:spPr>
          <a:xfrm>
            <a:off x="731520" y="1828800"/>
            <a:ext cx="2194560" cy="365760"/>
          </a:xfrm>
          <a:prstGeom prst="rect">
            <a:avLst/>
          </a:prstGeom>
          <a:noFill/>
          <a:ln/>
        </p:spPr>
        <p:txBody>
          <a:bodyPr wrap="square" rtlCol="0" anchor="ctr"/>
          <a:lstStyle/>
          <a:p>
            <a:pPr algn="ctr" indent="0" marL="0">
              <a:buNone/>
            </a:pPr>
            <a:r>
              <a:rPr lang="en-US" sz="1100" b="1" dirty="0">
                <a:solidFill>
                  <a:srgbClr val="0E0709"/>
                </a:solidFill>
                <a:latin typeface="Arial" pitchFamily="34" charset="0"/>
                <a:ea typeface="Arial" pitchFamily="34" charset="-122"/>
                <a:cs typeface="Arial" pitchFamily="34" charset="-120"/>
              </a:rPr>
              <a:t>ACT III · THE CAST &amp; THE MACHINE</a:t>
            </a:r>
            <a:endParaRPr lang="en-US" sz="1100" dirty="0"/>
          </a:p>
        </p:txBody>
      </p:sp>
      <p:sp>
        <p:nvSpPr>
          <p:cNvPr id="8" name="Text 6"/>
          <p:cNvSpPr/>
          <p:nvPr/>
        </p:nvSpPr>
        <p:spPr>
          <a:xfrm>
            <a:off x="731520" y="2423160"/>
            <a:ext cx="10058400" cy="1005840"/>
          </a:xfrm>
          <a:prstGeom prst="rect">
            <a:avLst/>
          </a:prstGeom>
          <a:noFill/>
          <a:ln/>
        </p:spPr>
        <p:txBody>
          <a:bodyPr wrap="square" rtlCol="0" anchor="ctr"/>
          <a:lstStyle/>
          <a:p>
            <a:pPr indent="0" marL="0">
              <a:buNone/>
            </a:pPr>
            <a:r>
              <a:rPr lang="en-US" sz="4200" b="1" dirty="0">
                <a:solidFill>
                  <a:srgbClr val="FAF7F2"/>
                </a:solidFill>
                <a:latin typeface="Georgia" pitchFamily="34" charset="0"/>
                <a:ea typeface="Georgia" pitchFamily="34" charset="-122"/>
                <a:cs typeface="Georgia" pitchFamily="34" charset="-120"/>
              </a:rPr>
              <a:t>Technical Architecture, User Roles &amp; Functional Engines</a:t>
            </a:r>
            <a:endParaRPr lang="en-US" sz="4200" dirty="0"/>
          </a:p>
        </p:txBody>
      </p:sp>
      <p:sp>
        <p:nvSpPr>
          <p:cNvPr id="9" name="Text 7"/>
          <p:cNvSpPr/>
          <p:nvPr/>
        </p:nvSpPr>
        <p:spPr>
          <a:xfrm>
            <a:off x="731520" y="3520440"/>
            <a:ext cx="9601200" cy="731520"/>
          </a:xfrm>
          <a:prstGeom prst="rect">
            <a:avLst/>
          </a:prstGeom>
          <a:noFill/>
          <a:ln/>
        </p:spPr>
        <p:txBody>
          <a:bodyPr wrap="square" rtlCol="0" anchor="ctr"/>
          <a:lstStyle/>
          <a:p>
            <a:pPr indent="0" marL="0">
              <a:buNone/>
            </a:pPr>
            <a:r>
              <a:rPr lang="en-US" sz="1800" dirty="0">
                <a:solidFill>
                  <a:srgbClr val="E6B85C"/>
                </a:solidFill>
                <a:latin typeface="Arial" pitchFamily="34" charset="0"/>
                <a:ea typeface="Arial" pitchFamily="34" charset="-122"/>
                <a:cs typeface="Arial" pitchFamily="34" charset="-120"/>
              </a:rPr>
              <a:t>A rigorous dissection of the software components, authorization barriers, and system modules.</a:t>
            </a:r>
            <a:endParaRPr lang="en-US" sz="1800" dirty="0"/>
          </a:p>
        </p:txBody>
      </p:sp>
      <p:sp>
        <p:nvSpPr>
          <p:cNvPr id="10" name="Shape 8"/>
          <p:cNvSpPr/>
          <p:nvPr/>
        </p:nvSpPr>
        <p:spPr>
          <a:xfrm>
            <a:off x="9144000" y="2011680"/>
            <a:ext cx="2286000" cy="2743200"/>
          </a:xfrm>
          <a:prstGeom prst="arc">
            <a:avLst/>
          </a:prstGeom>
          <a:noFill/>
          <a:ln w="19050">
            <a:solidFill>
              <a:srgbClr val="C99A2E"/>
            </a:solidFill>
            <a:prstDash val="solid"/>
          </a:ln>
        </p:spPr>
      </p:sp>
      <p:sp>
        <p:nvSpPr>
          <p:cNvPr id="11" name="Shape 9"/>
          <p:cNvSpPr/>
          <p:nvPr/>
        </p:nvSpPr>
        <p:spPr>
          <a:xfrm>
            <a:off x="9372600" y="3383280"/>
            <a:ext cx="1828800" cy="2286000"/>
          </a:xfrm>
          <a:prstGeom prst="rect">
            <a:avLst/>
          </a:prstGeom>
          <a:noFill/>
          <a:ln w="12700">
            <a:solidFill>
              <a:srgbClr val="C99A2E"/>
            </a:solidFill>
            <a:prstDash val="solid"/>
          </a:ln>
        </p:spPr>
      </p:sp>
      <p:sp>
        <p:nvSpPr>
          <p:cNvPr id="12" name="Shape 10"/>
          <p:cNvSpPr/>
          <p:nvPr/>
        </p:nvSpPr>
        <p:spPr>
          <a:xfrm>
            <a:off x="731520" y="5669280"/>
            <a:ext cx="10728655" cy="73152"/>
          </a:xfrm>
          <a:prstGeom prst="rect">
            <a:avLst/>
          </a:prstGeom>
          <a:solidFill>
            <a:srgbClr val="2A1A20"/>
          </a:solidFill>
          <a:ln/>
        </p:spPr>
      </p:sp>
      <p:sp>
        <p:nvSpPr>
          <p:cNvPr id="13" name="Shape 11"/>
          <p:cNvSpPr/>
          <p:nvPr/>
        </p:nvSpPr>
        <p:spPr>
          <a:xfrm>
            <a:off x="731520" y="5669280"/>
            <a:ext cx="5364328" cy="73152"/>
          </a:xfrm>
          <a:prstGeom prst="rect">
            <a:avLst/>
          </a:prstGeom>
          <a:solidFill>
            <a:srgbClr val="C99A2E"/>
          </a:solidFill>
          <a:ln/>
        </p:spPr>
      </p:sp>
      <p:sp>
        <p:nvSpPr>
          <p:cNvPr id="14" name="Text 12"/>
          <p:cNvSpPr/>
          <p:nvPr/>
        </p:nvSpPr>
        <p:spPr>
          <a:xfrm>
            <a:off x="731520" y="5806440"/>
            <a:ext cx="5486400" cy="274320"/>
          </a:xfrm>
          <a:prstGeom prst="rect">
            <a:avLst/>
          </a:prstGeom>
          <a:noFill/>
          <a:ln/>
        </p:spPr>
        <p:txBody>
          <a:bodyPr wrap="square" rtlCol="0" anchor="ctr"/>
          <a:lstStyle/>
          <a:p>
            <a:pPr indent="0" marL="0">
              <a:buNone/>
            </a:pPr>
            <a:r>
              <a:rPr lang="en-US" sz="900" b="1" spc="100" kern="0" dirty="0">
                <a:solidFill>
                  <a:srgbClr val="C99A2E"/>
                </a:solidFill>
                <a:latin typeface="Arial" pitchFamily="34" charset="0"/>
                <a:ea typeface="Arial" pitchFamily="34" charset="-122"/>
                <a:cs typeface="Arial" pitchFamily="34" charset="-120"/>
              </a:rPr>
              <a:t>STORYLINE PROGRESSION: 50% COMPLETED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10 · ACT III</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10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ENGINEERING FOUNDATION</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Layered Technology Stack &amp; Technical Rationale</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High-speed, zero-dependency architecture engineered for extreme reliability and instant loads.</a:t>
            </a:r>
            <a:endParaRPr lang="en-US" sz="1300" dirty="0"/>
          </a:p>
        </p:txBody>
      </p:sp>
      <p:sp>
        <p:nvSpPr>
          <p:cNvPr id="10" name="Shape 8"/>
          <p:cNvSpPr/>
          <p:nvPr/>
        </p:nvSpPr>
        <p:spPr>
          <a:xfrm>
            <a:off x="731520" y="2011680"/>
            <a:ext cx="10728655" cy="914400"/>
          </a:xfrm>
          <a:prstGeom prst="rect">
            <a:avLst/>
          </a:prstGeom>
          <a:solidFill>
            <a:srgbClr val="FFFFFF"/>
          </a:solidFill>
          <a:ln w="12700">
            <a:solidFill>
              <a:srgbClr val="E2DACD"/>
            </a:solidFill>
            <a:prstDash val="solid"/>
          </a:ln>
        </p:spPr>
      </p:sp>
      <p:sp>
        <p:nvSpPr>
          <p:cNvPr id="11" name="Shape 9"/>
          <p:cNvSpPr/>
          <p:nvPr/>
        </p:nvSpPr>
        <p:spPr>
          <a:xfrm>
            <a:off x="731520" y="2011680"/>
            <a:ext cx="109728" cy="914400"/>
          </a:xfrm>
          <a:prstGeom prst="rect">
            <a:avLst/>
          </a:prstGeom>
          <a:solidFill>
            <a:srgbClr val="C99A2E"/>
          </a:solidFill>
          <a:ln/>
        </p:spPr>
      </p:sp>
      <p:sp>
        <p:nvSpPr>
          <p:cNvPr id="12" name="Text 10"/>
          <p:cNvSpPr/>
          <p:nvPr/>
        </p:nvSpPr>
        <p:spPr>
          <a:xfrm>
            <a:off x="1005840" y="2148840"/>
            <a:ext cx="3200400" cy="228600"/>
          </a:xfrm>
          <a:prstGeom prst="rect">
            <a:avLst/>
          </a:prstGeom>
          <a:noFill/>
          <a:ln/>
        </p:spPr>
        <p:txBody>
          <a:bodyPr wrap="square" rtlCol="0" anchor="ctr"/>
          <a:lstStyle/>
          <a:p>
            <a:pPr indent="0" marL="0">
              <a:buNone/>
            </a:pPr>
            <a:r>
              <a:rPr lang="en-US" sz="900" b="1" spc="100" kern="0" dirty="0">
                <a:solidFill>
                  <a:srgbClr val="7A5F20"/>
                </a:solidFill>
                <a:latin typeface="Arial" pitchFamily="34" charset="0"/>
                <a:ea typeface="Arial" pitchFamily="34" charset="-122"/>
                <a:cs typeface="Arial" pitchFamily="34" charset="-120"/>
              </a:rPr>
              <a:t>LAYER 1 · PRESENTATION &amp; UI</a:t>
            </a:r>
            <a:endParaRPr lang="en-US" sz="900" dirty="0"/>
          </a:p>
        </p:txBody>
      </p:sp>
      <p:sp>
        <p:nvSpPr>
          <p:cNvPr id="13" name="Text 11"/>
          <p:cNvSpPr/>
          <p:nvPr/>
        </p:nvSpPr>
        <p:spPr>
          <a:xfrm>
            <a:off x="1005840" y="2377440"/>
            <a:ext cx="4389120" cy="41148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Semantic HTML5 + Custom Luxury CSS3 Design System</a:t>
            </a:r>
            <a:endParaRPr lang="en-US" sz="1400" dirty="0"/>
          </a:p>
        </p:txBody>
      </p:sp>
      <p:sp>
        <p:nvSpPr>
          <p:cNvPr id="14" name="Shape 12"/>
          <p:cNvSpPr/>
          <p:nvPr/>
        </p:nvSpPr>
        <p:spPr>
          <a:xfrm>
            <a:off x="5486400" y="2148840"/>
            <a:ext cx="0" cy="640080"/>
          </a:xfrm>
          <a:prstGeom prst="line">
            <a:avLst/>
          </a:prstGeom>
          <a:noFill/>
          <a:ln w="9525">
            <a:solidFill>
              <a:srgbClr val="E2DACD"/>
            </a:solidFill>
            <a:prstDash val="solid"/>
          </a:ln>
        </p:spPr>
      </p:sp>
      <p:sp>
        <p:nvSpPr>
          <p:cNvPr id="15" name="Text 13"/>
          <p:cNvSpPr/>
          <p:nvPr/>
        </p:nvSpPr>
        <p:spPr>
          <a:xfrm>
            <a:off x="5669280" y="2148840"/>
            <a:ext cx="4937760" cy="201168"/>
          </a:xfrm>
          <a:prstGeom prst="rect">
            <a:avLst/>
          </a:prstGeom>
          <a:noFill/>
          <a:ln/>
        </p:spPr>
        <p:txBody>
          <a:bodyPr wrap="square" rtlCol="0" anchor="ctr"/>
          <a:lstStyle/>
          <a:p>
            <a:pPr indent="0" marL="0">
              <a:buNone/>
            </a:pPr>
            <a:r>
              <a:rPr lang="en-US" sz="900" b="1" dirty="0">
                <a:solidFill>
                  <a:srgbClr val="6B6367"/>
                </a:solidFill>
                <a:latin typeface="Arial" pitchFamily="34" charset="0"/>
                <a:ea typeface="Arial" pitchFamily="34" charset="-122"/>
                <a:cs typeface="Arial" pitchFamily="34" charset="-120"/>
              </a:rPr>
              <a:t>TECHNICAL RATIONALE ("WHY"):</a:t>
            </a:r>
            <a:endParaRPr lang="en-US" sz="900" dirty="0"/>
          </a:p>
        </p:txBody>
      </p:sp>
      <p:sp>
        <p:nvSpPr>
          <p:cNvPr id="16" name="Text 14"/>
          <p:cNvSpPr/>
          <p:nvPr/>
        </p:nvSpPr>
        <p:spPr>
          <a:xfrm>
            <a:off x="5669280" y="2359152"/>
            <a:ext cx="5577840" cy="50292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Pure vanilla architecture guarantees sub-millisecond DOM render times, native responsive fluid layouts, and complete brand design freedom without bulky CSS framework bloat.</a:t>
            </a:r>
            <a:endParaRPr lang="en-US" sz="1050" dirty="0"/>
          </a:p>
        </p:txBody>
      </p:sp>
      <p:sp>
        <p:nvSpPr>
          <p:cNvPr id="17" name="Shape 15"/>
          <p:cNvSpPr/>
          <p:nvPr/>
        </p:nvSpPr>
        <p:spPr>
          <a:xfrm>
            <a:off x="731520" y="3063240"/>
            <a:ext cx="10728655" cy="914400"/>
          </a:xfrm>
          <a:prstGeom prst="rect">
            <a:avLst/>
          </a:prstGeom>
          <a:solidFill>
            <a:srgbClr val="FFFFFF"/>
          </a:solidFill>
          <a:ln w="12700">
            <a:solidFill>
              <a:srgbClr val="E2DACD"/>
            </a:solidFill>
            <a:prstDash val="solid"/>
          </a:ln>
        </p:spPr>
      </p:sp>
      <p:sp>
        <p:nvSpPr>
          <p:cNvPr id="18" name="Shape 16"/>
          <p:cNvSpPr/>
          <p:nvPr/>
        </p:nvSpPr>
        <p:spPr>
          <a:xfrm>
            <a:off x="731520" y="3063240"/>
            <a:ext cx="109728" cy="914400"/>
          </a:xfrm>
          <a:prstGeom prst="rect">
            <a:avLst/>
          </a:prstGeom>
          <a:solidFill>
            <a:srgbClr val="C99A2E"/>
          </a:solidFill>
          <a:ln/>
        </p:spPr>
      </p:sp>
      <p:sp>
        <p:nvSpPr>
          <p:cNvPr id="19" name="Text 17"/>
          <p:cNvSpPr/>
          <p:nvPr/>
        </p:nvSpPr>
        <p:spPr>
          <a:xfrm>
            <a:off x="1005840" y="3200400"/>
            <a:ext cx="3200400" cy="228600"/>
          </a:xfrm>
          <a:prstGeom prst="rect">
            <a:avLst/>
          </a:prstGeom>
          <a:noFill/>
          <a:ln/>
        </p:spPr>
        <p:txBody>
          <a:bodyPr wrap="square" rtlCol="0" anchor="ctr"/>
          <a:lstStyle/>
          <a:p>
            <a:pPr indent="0" marL="0">
              <a:buNone/>
            </a:pPr>
            <a:r>
              <a:rPr lang="en-US" sz="900" b="1" spc="100" kern="0" dirty="0">
                <a:solidFill>
                  <a:srgbClr val="7A5F20"/>
                </a:solidFill>
                <a:latin typeface="Arial" pitchFamily="34" charset="0"/>
                <a:ea typeface="Arial" pitchFamily="34" charset="-122"/>
                <a:cs typeface="Arial" pitchFamily="34" charset="-120"/>
              </a:rPr>
              <a:t>LAYER 2 · CLIENT APPLICATION LOGIC</a:t>
            </a:r>
            <a:endParaRPr lang="en-US" sz="900" dirty="0"/>
          </a:p>
        </p:txBody>
      </p:sp>
      <p:sp>
        <p:nvSpPr>
          <p:cNvPr id="20" name="Text 18"/>
          <p:cNvSpPr/>
          <p:nvPr/>
        </p:nvSpPr>
        <p:spPr>
          <a:xfrm>
            <a:off x="1005840" y="3429000"/>
            <a:ext cx="4389120" cy="41148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Vanilla ES6+ JavaScript Modules (store.js, auth.js, ui-effects.js)</a:t>
            </a:r>
            <a:endParaRPr lang="en-US" sz="1400" dirty="0"/>
          </a:p>
        </p:txBody>
      </p:sp>
      <p:sp>
        <p:nvSpPr>
          <p:cNvPr id="21" name="Shape 19"/>
          <p:cNvSpPr/>
          <p:nvPr/>
        </p:nvSpPr>
        <p:spPr>
          <a:xfrm>
            <a:off x="5486400" y="3200400"/>
            <a:ext cx="0" cy="640080"/>
          </a:xfrm>
          <a:prstGeom prst="line">
            <a:avLst/>
          </a:prstGeom>
          <a:noFill/>
          <a:ln w="9525">
            <a:solidFill>
              <a:srgbClr val="E2DACD"/>
            </a:solidFill>
            <a:prstDash val="solid"/>
          </a:ln>
        </p:spPr>
      </p:sp>
      <p:sp>
        <p:nvSpPr>
          <p:cNvPr id="22" name="Text 20"/>
          <p:cNvSpPr/>
          <p:nvPr/>
        </p:nvSpPr>
        <p:spPr>
          <a:xfrm>
            <a:off x="5669280" y="3200400"/>
            <a:ext cx="4937760" cy="201168"/>
          </a:xfrm>
          <a:prstGeom prst="rect">
            <a:avLst/>
          </a:prstGeom>
          <a:noFill/>
          <a:ln/>
        </p:spPr>
        <p:txBody>
          <a:bodyPr wrap="square" rtlCol="0" anchor="ctr"/>
          <a:lstStyle/>
          <a:p>
            <a:pPr indent="0" marL="0">
              <a:buNone/>
            </a:pPr>
            <a:r>
              <a:rPr lang="en-US" sz="900" b="1" dirty="0">
                <a:solidFill>
                  <a:srgbClr val="6B6367"/>
                </a:solidFill>
                <a:latin typeface="Arial" pitchFamily="34" charset="0"/>
                <a:ea typeface="Arial" pitchFamily="34" charset="-122"/>
                <a:cs typeface="Arial" pitchFamily="34" charset="-120"/>
              </a:rPr>
              <a:t>TECHNICAL RATIONALE ("WHY"):</a:t>
            </a:r>
            <a:endParaRPr lang="en-US" sz="900" dirty="0"/>
          </a:p>
        </p:txBody>
      </p:sp>
      <p:sp>
        <p:nvSpPr>
          <p:cNvPr id="23" name="Text 21"/>
          <p:cNvSpPr/>
          <p:nvPr/>
        </p:nvSpPr>
        <p:spPr>
          <a:xfrm>
            <a:off x="5669280" y="3410712"/>
            <a:ext cx="5577840" cy="50292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Zero external frontend runtime dependencies. Enables instantaneous client-side navigation, immediate reactive state synchronization, and predictable offline reliability.</a:t>
            </a:r>
            <a:endParaRPr lang="en-US" sz="1050" dirty="0"/>
          </a:p>
        </p:txBody>
      </p:sp>
      <p:sp>
        <p:nvSpPr>
          <p:cNvPr id="24" name="Shape 22"/>
          <p:cNvSpPr/>
          <p:nvPr/>
        </p:nvSpPr>
        <p:spPr>
          <a:xfrm>
            <a:off x="731520" y="4114800"/>
            <a:ext cx="10728655" cy="914400"/>
          </a:xfrm>
          <a:prstGeom prst="rect">
            <a:avLst/>
          </a:prstGeom>
          <a:solidFill>
            <a:srgbClr val="FFFFFF"/>
          </a:solidFill>
          <a:ln w="12700">
            <a:solidFill>
              <a:srgbClr val="E2DACD"/>
            </a:solidFill>
            <a:prstDash val="solid"/>
          </a:ln>
        </p:spPr>
      </p:sp>
      <p:sp>
        <p:nvSpPr>
          <p:cNvPr id="25" name="Shape 23"/>
          <p:cNvSpPr/>
          <p:nvPr/>
        </p:nvSpPr>
        <p:spPr>
          <a:xfrm>
            <a:off x="731520" y="4114800"/>
            <a:ext cx="109728" cy="914400"/>
          </a:xfrm>
          <a:prstGeom prst="rect">
            <a:avLst/>
          </a:prstGeom>
          <a:solidFill>
            <a:srgbClr val="C99A2E"/>
          </a:solidFill>
          <a:ln/>
        </p:spPr>
      </p:sp>
      <p:sp>
        <p:nvSpPr>
          <p:cNvPr id="26" name="Text 24"/>
          <p:cNvSpPr/>
          <p:nvPr/>
        </p:nvSpPr>
        <p:spPr>
          <a:xfrm>
            <a:off x="1005840" y="4251960"/>
            <a:ext cx="3200400" cy="228600"/>
          </a:xfrm>
          <a:prstGeom prst="rect">
            <a:avLst/>
          </a:prstGeom>
          <a:noFill/>
          <a:ln/>
        </p:spPr>
        <p:txBody>
          <a:bodyPr wrap="square" rtlCol="0" anchor="ctr"/>
          <a:lstStyle/>
          <a:p>
            <a:pPr indent="0" marL="0">
              <a:buNone/>
            </a:pPr>
            <a:r>
              <a:rPr lang="en-US" sz="900" b="1" spc="100" kern="0" dirty="0">
                <a:solidFill>
                  <a:srgbClr val="7A5F20"/>
                </a:solidFill>
                <a:latin typeface="Arial" pitchFamily="34" charset="0"/>
                <a:ea typeface="Arial" pitchFamily="34" charset="-122"/>
                <a:cs typeface="Arial" pitchFamily="34" charset="-120"/>
              </a:rPr>
              <a:t>LAYER 3 · STATE MANAGEMENT &amp; PERSISTENCE</a:t>
            </a:r>
            <a:endParaRPr lang="en-US" sz="900" dirty="0"/>
          </a:p>
        </p:txBody>
      </p:sp>
      <p:sp>
        <p:nvSpPr>
          <p:cNvPr id="27" name="Text 25"/>
          <p:cNvSpPr/>
          <p:nvPr/>
        </p:nvSpPr>
        <p:spPr>
          <a:xfrm>
            <a:off x="1005840" y="4480560"/>
            <a:ext cx="4389120" cy="41148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Unified Browser LocalStorage API + Session Storage Manager</a:t>
            </a:r>
            <a:endParaRPr lang="en-US" sz="1400" dirty="0"/>
          </a:p>
        </p:txBody>
      </p:sp>
      <p:sp>
        <p:nvSpPr>
          <p:cNvPr id="28" name="Shape 26"/>
          <p:cNvSpPr/>
          <p:nvPr/>
        </p:nvSpPr>
        <p:spPr>
          <a:xfrm>
            <a:off x="5486400" y="4251960"/>
            <a:ext cx="0" cy="640080"/>
          </a:xfrm>
          <a:prstGeom prst="line">
            <a:avLst/>
          </a:prstGeom>
          <a:noFill/>
          <a:ln w="9525">
            <a:solidFill>
              <a:srgbClr val="E2DACD"/>
            </a:solidFill>
            <a:prstDash val="solid"/>
          </a:ln>
        </p:spPr>
      </p:sp>
      <p:sp>
        <p:nvSpPr>
          <p:cNvPr id="29" name="Text 27"/>
          <p:cNvSpPr/>
          <p:nvPr/>
        </p:nvSpPr>
        <p:spPr>
          <a:xfrm>
            <a:off x="5669280" y="4251960"/>
            <a:ext cx="4937760" cy="201168"/>
          </a:xfrm>
          <a:prstGeom prst="rect">
            <a:avLst/>
          </a:prstGeom>
          <a:noFill/>
          <a:ln/>
        </p:spPr>
        <p:txBody>
          <a:bodyPr wrap="square" rtlCol="0" anchor="ctr"/>
          <a:lstStyle/>
          <a:p>
            <a:pPr indent="0" marL="0">
              <a:buNone/>
            </a:pPr>
            <a:r>
              <a:rPr lang="en-US" sz="900" b="1" dirty="0">
                <a:solidFill>
                  <a:srgbClr val="6B6367"/>
                </a:solidFill>
                <a:latin typeface="Arial" pitchFamily="34" charset="0"/>
                <a:ea typeface="Arial" pitchFamily="34" charset="-122"/>
                <a:cs typeface="Arial" pitchFamily="34" charset="-120"/>
              </a:rPr>
              <a:t>TECHNICAL RATIONALE ("WHY"):</a:t>
            </a:r>
            <a:endParaRPr lang="en-US" sz="900" dirty="0"/>
          </a:p>
        </p:txBody>
      </p:sp>
      <p:sp>
        <p:nvSpPr>
          <p:cNvPr id="30" name="Text 28"/>
          <p:cNvSpPr/>
          <p:nvPr/>
        </p:nvSpPr>
        <p:spPr>
          <a:xfrm>
            <a:off x="5669280" y="4462272"/>
            <a:ext cx="5577840" cy="50292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Provides zero-latency, persistent client-side data storage for authenticated users, active cart sessions, listed dress catalogs, and complete order history.</a:t>
            </a:r>
            <a:endParaRPr lang="en-US" sz="1050" dirty="0"/>
          </a:p>
        </p:txBody>
      </p:sp>
      <p:sp>
        <p:nvSpPr>
          <p:cNvPr id="31" name="Shape 29"/>
          <p:cNvSpPr/>
          <p:nvPr/>
        </p:nvSpPr>
        <p:spPr>
          <a:xfrm>
            <a:off x="731520" y="5166360"/>
            <a:ext cx="10728655" cy="914400"/>
          </a:xfrm>
          <a:prstGeom prst="rect">
            <a:avLst/>
          </a:prstGeom>
          <a:solidFill>
            <a:srgbClr val="FFFFFF"/>
          </a:solidFill>
          <a:ln w="12700">
            <a:solidFill>
              <a:srgbClr val="E2DACD"/>
            </a:solidFill>
            <a:prstDash val="solid"/>
          </a:ln>
        </p:spPr>
      </p:sp>
      <p:sp>
        <p:nvSpPr>
          <p:cNvPr id="32" name="Shape 30"/>
          <p:cNvSpPr/>
          <p:nvPr/>
        </p:nvSpPr>
        <p:spPr>
          <a:xfrm>
            <a:off x="731520" y="5166360"/>
            <a:ext cx="109728" cy="914400"/>
          </a:xfrm>
          <a:prstGeom prst="rect">
            <a:avLst/>
          </a:prstGeom>
          <a:solidFill>
            <a:srgbClr val="C99A2E"/>
          </a:solidFill>
          <a:ln/>
        </p:spPr>
      </p:sp>
      <p:sp>
        <p:nvSpPr>
          <p:cNvPr id="33" name="Text 31"/>
          <p:cNvSpPr/>
          <p:nvPr/>
        </p:nvSpPr>
        <p:spPr>
          <a:xfrm>
            <a:off x="1005840" y="5303520"/>
            <a:ext cx="3200400" cy="228600"/>
          </a:xfrm>
          <a:prstGeom prst="rect">
            <a:avLst/>
          </a:prstGeom>
          <a:noFill/>
          <a:ln/>
        </p:spPr>
        <p:txBody>
          <a:bodyPr wrap="square" rtlCol="0" anchor="ctr"/>
          <a:lstStyle/>
          <a:p>
            <a:pPr indent="0" marL="0">
              <a:buNone/>
            </a:pPr>
            <a:r>
              <a:rPr lang="en-US" sz="900" b="1" spc="100" kern="0" dirty="0">
                <a:solidFill>
                  <a:srgbClr val="7A5F20"/>
                </a:solidFill>
                <a:latin typeface="Arial" pitchFamily="34" charset="0"/>
                <a:ea typeface="Arial" pitchFamily="34" charset="-122"/>
                <a:cs typeface="Arial" pitchFamily="34" charset="-120"/>
              </a:rPr>
              <a:t>LAYER 4 · LOCAL RUNTIME &amp; SERVING ENGINE</a:t>
            </a:r>
            <a:endParaRPr lang="en-US" sz="900" dirty="0"/>
          </a:p>
        </p:txBody>
      </p:sp>
      <p:sp>
        <p:nvSpPr>
          <p:cNvPr id="34" name="Text 32"/>
          <p:cNvSpPr/>
          <p:nvPr/>
        </p:nvSpPr>
        <p:spPr>
          <a:xfrm>
            <a:off x="1005840" y="5532120"/>
            <a:ext cx="4389120" cy="41148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Node.js Native HTTP Daemon (server.js, zero external npm dependencies)</a:t>
            </a:r>
            <a:endParaRPr lang="en-US" sz="1400" dirty="0"/>
          </a:p>
        </p:txBody>
      </p:sp>
      <p:sp>
        <p:nvSpPr>
          <p:cNvPr id="35" name="Shape 33"/>
          <p:cNvSpPr/>
          <p:nvPr/>
        </p:nvSpPr>
        <p:spPr>
          <a:xfrm>
            <a:off x="5486400" y="5303520"/>
            <a:ext cx="0" cy="640080"/>
          </a:xfrm>
          <a:prstGeom prst="line">
            <a:avLst/>
          </a:prstGeom>
          <a:noFill/>
          <a:ln w="9525">
            <a:solidFill>
              <a:srgbClr val="E2DACD"/>
            </a:solidFill>
            <a:prstDash val="solid"/>
          </a:ln>
        </p:spPr>
      </p:sp>
      <p:sp>
        <p:nvSpPr>
          <p:cNvPr id="36" name="Text 34"/>
          <p:cNvSpPr/>
          <p:nvPr/>
        </p:nvSpPr>
        <p:spPr>
          <a:xfrm>
            <a:off x="5669280" y="5303520"/>
            <a:ext cx="4937760" cy="201168"/>
          </a:xfrm>
          <a:prstGeom prst="rect">
            <a:avLst/>
          </a:prstGeom>
          <a:noFill/>
          <a:ln/>
        </p:spPr>
        <p:txBody>
          <a:bodyPr wrap="square" rtlCol="0" anchor="ctr"/>
          <a:lstStyle/>
          <a:p>
            <a:pPr indent="0" marL="0">
              <a:buNone/>
            </a:pPr>
            <a:r>
              <a:rPr lang="en-US" sz="900" b="1" dirty="0">
                <a:solidFill>
                  <a:srgbClr val="6B6367"/>
                </a:solidFill>
                <a:latin typeface="Arial" pitchFamily="34" charset="0"/>
                <a:ea typeface="Arial" pitchFamily="34" charset="-122"/>
                <a:cs typeface="Arial" pitchFamily="34" charset="-120"/>
              </a:rPr>
              <a:t>TECHNICAL RATIONALE ("WHY"):</a:t>
            </a:r>
            <a:endParaRPr lang="en-US" sz="900" dirty="0"/>
          </a:p>
        </p:txBody>
      </p:sp>
      <p:sp>
        <p:nvSpPr>
          <p:cNvPr id="37" name="Text 35"/>
          <p:cNvSpPr/>
          <p:nvPr/>
        </p:nvSpPr>
        <p:spPr>
          <a:xfrm>
            <a:off x="5669280" y="5513832"/>
            <a:ext cx="5577840" cy="50292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Self-contained, cross-platform static file serving engine with automatic MIME resolution (HTML/CSS/JS/images), path sanitization, and clean route handling.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11 · ACT III</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11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ACCESS CONTROL SPECIFICATION</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User Personas &amp; Role-Based Access Control (RBAC)</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Three clearly segregated user classes with distinct operational boundaries.</a:t>
            </a:r>
            <a:endParaRPr lang="en-US" sz="1300" dirty="0"/>
          </a:p>
        </p:txBody>
      </p:sp>
      <p:sp>
        <p:nvSpPr>
          <p:cNvPr id="10" name="Shape 8"/>
          <p:cNvSpPr/>
          <p:nvPr/>
        </p:nvSpPr>
        <p:spPr>
          <a:xfrm>
            <a:off x="731520" y="2011680"/>
            <a:ext cx="3410712" cy="4023360"/>
          </a:xfrm>
          <a:prstGeom prst="rect">
            <a:avLst/>
          </a:prstGeom>
          <a:solidFill>
            <a:srgbClr val="FFFFFF"/>
          </a:solidFill>
          <a:ln w="19050">
            <a:solidFill>
              <a:srgbClr val="7A5F20"/>
            </a:solidFill>
            <a:prstDash val="solid"/>
          </a:ln>
        </p:spPr>
      </p:sp>
      <p:sp>
        <p:nvSpPr>
          <p:cNvPr id="11" name="Text 9"/>
          <p:cNvSpPr/>
          <p:nvPr/>
        </p:nvSpPr>
        <p:spPr>
          <a:xfrm>
            <a:off x="960120" y="2148840"/>
            <a:ext cx="2926080" cy="32004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CUSTOMER / RENTER</a:t>
            </a:r>
            <a:endParaRPr lang="en-US" sz="1400" dirty="0"/>
          </a:p>
        </p:txBody>
      </p:sp>
      <p:sp>
        <p:nvSpPr>
          <p:cNvPr id="12" name="Text 10"/>
          <p:cNvSpPr/>
          <p:nvPr/>
        </p:nvSpPr>
        <p:spPr>
          <a:xfrm>
            <a:off x="960120" y="2468880"/>
            <a:ext cx="2926080" cy="274320"/>
          </a:xfrm>
          <a:prstGeom prst="rect">
            <a:avLst/>
          </a:prstGeom>
          <a:noFill/>
          <a:ln/>
        </p:spPr>
        <p:txBody>
          <a:bodyPr wrap="square" rtlCol="0" anchor="ctr"/>
          <a:lstStyle/>
          <a:p>
            <a:pPr indent="0" marL="0">
              <a:buNone/>
            </a:pPr>
            <a:r>
              <a:rPr lang="en-US" sz="1000" i="1" dirty="0">
                <a:solidFill>
                  <a:srgbClr val="6B6367"/>
                </a:solidFill>
                <a:latin typeface="Arial" pitchFamily="34" charset="0"/>
                <a:ea typeface="Arial" pitchFamily="34" charset="-122"/>
                <a:cs typeface="Arial" pitchFamily="34" charset="-120"/>
              </a:rPr>
              <a:t>Wedding Attendees, Brides &amp; Festive Shoppers</a:t>
            </a:r>
            <a:endParaRPr lang="en-US" sz="1000" dirty="0"/>
          </a:p>
        </p:txBody>
      </p:sp>
      <p:sp>
        <p:nvSpPr>
          <p:cNvPr id="13" name="Shape 11"/>
          <p:cNvSpPr/>
          <p:nvPr/>
        </p:nvSpPr>
        <p:spPr>
          <a:xfrm>
            <a:off x="960120" y="2788920"/>
            <a:ext cx="2926080" cy="0"/>
          </a:xfrm>
          <a:prstGeom prst="line">
            <a:avLst/>
          </a:prstGeom>
          <a:noFill/>
          <a:ln w="9525">
            <a:solidFill>
              <a:srgbClr val="E2DACD"/>
            </a:solidFill>
            <a:prstDash val="solid"/>
          </a:ln>
        </p:spPr>
      </p:sp>
      <p:sp>
        <p:nvSpPr>
          <p:cNvPr id="14" name="Text 12"/>
          <p:cNvSpPr/>
          <p:nvPr/>
        </p:nvSpPr>
        <p:spPr>
          <a:xfrm>
            <a:off x="960120" y="2880360"/>
            <a:ext cx="2926080" cy="228600"/>
          </a:xfrm>
          <a:prstGeom prst="rect">
            <a:avLst/>
          </a:prstGeom>
          <a:noFill/>
          <a:ln/>
        </p:spPr>
        <p:txBody>
          <a:bodyPr wrap="square" rtlCol="0" anchor="ctr"/>
          <a:lstStyle/>
          <a:p>
            <a:pPr indent="0" marL="0">
              <a:buNone/>
            </a:pPr>
            <a:r>
              <a:rPr lang="en-US" sz="850" b="1" dirty="0">
                <a:solidFill>
                  <a:srgbClr val="1E7E55"/>
                </a:solidFill>
                <a:latin typeface="Arial" pitchFamily="34" charset="0"/>
                <a:ea typeface="Arial" pitchFamily="34" charset="-122"/>
                <a:cs typeface="Arial" pitchFamily="34" charset="-120"/>
              </a:rPr>
              <a:t>PERMITTED CAPABILITIES ("CAN DO"):</a:t>
            </a:r>
            <a:endParaRPr lang="en-US" sz="850" dirty="0"/>
          </a:p>
        </p:txBody>
      </p:sp>
      <p:sp>
        <p:nvSpPr>
          <p:cNvPr id="15" name="Text 13"/>
          <p:cNvSpPr/>
          <p:nvPr/>
        </p:nvSpPr>
        <p:spPr>
          <a:xfrm>
            <a:off x="960120" y="3108960"/>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Browse &amp; filter luxury ethnic wear catalog</a:t>
            </a:r>
            <a:endParaRPr lang="en-US" sz="950" dirty="0"/>
          </a:p>
        </p:txBody>
      </p:sp>
      <p:sp>
        <p:nvSpPr>
          <p:cNvPr id="16" name="Text 14"/>
          <p:cNvSpPr/>
          <p:nvPr/>
        </p:nvSpPr>
        <p:spPr>
          <a:xfrm>
            <a:off x="960120" y="3438144"/>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Select rental dates (3/5/7 days) with dynamic pricing</a:t>
            </a:r>
            <a:endParaRPr lang="en-US" sz="950" dirty="0"/>
          </a:p>
        </p:txBody>
      </p:sp>
      <p:sp>
        <p:nvSpPr>
          <p:cNvPr id="17" name="Text 15"/>
          <p:cNvSpPr/>
          <p:nvPr/>
        </p:nvSpPr>
        <p:spPr>
          <a:xfrm>
            <a:off x="960120" y="3767328"/>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Initiate checkout with deposit escrow calculation</a:t>
            </a:r>
            <a:endParaRPr lang="en-US" sz="950" dirty="0"/>
          </a:p>
        </p:txBody>
      </p:sp>
      <p:sp>
        <p:nvSpPr>
          <p:cNvPr id="18" name="Text 16"/>
          <p:cNvSpPr/>
          <p:nvPr/>
        </p:nvSpPr>
        <p:spPr>
          <a:xfrm>
            <a:off x="960120" y="4096512"/>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Chat directly with boutique lenders in real-time</a:t>
            </a:r>
            <a:endParaRPr lang="en-US" sz="950" dirty="0"/>
          </a:p>
        </p:txBody>
      </p:sp>
      <p:sp>
        <p:nvSpPr>
          <p:cNvPr id="19" name="Text 17"/>
          <p:cNvSpPr/>
          <p:nvPr/>
        </p:nvSpPr>
        <p:spPr>
          <a:xfrm>
            <a:off x="960120" y="4425696"/>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Submit reviews &amp; file formal quality complaints</a:t>
            </a:r>
            <a:endParaRPr lang="en-US" sz="950" dirty="0"/>
          </a:p>
        </p:txBody>
      </p:sp>
      <p:sp>
        <p:nvSpPr>
          <p:cNvPr id="20" name="Text 18"/>
          <p:cNvSpPr/>
          <p:nvPr/>
        </p:nvSpPr>
        <p:spPr>
          <a:xfrm>
            <a:off x="960120" y="4846320"/>
            <a:ext cx="2926080" cy="228600"/>
          </a:xfrm>
          <a:prstGeom prst="rect">
            <a:avLst/>
          </a:prstGeom>
          <a:noFill/>
          <a:ln/>
        </p:spPr>
        <p:txBody>
          <a:bodyPr wrap="square" rtlCol="0" anchor="ctr"/>
          <a:lstStyle/>
          <a:p>
            <a:pPr indent="0" marL="0">
              <a:buNone/>
            </a:pPr>
            <a:r>
              <a:rPr lang="en-US" sz="850" b="1" dirty="0">
                <a:solidFill>
                  <a:srgbClr val="C53030"/>
                </a:solidFill>
                <a:latin typeface="Arial" pitchFamily="34" charset="0"/>
                <a:ea typeface="Arial" pitchFamily="34" charset="-122"/>
                <a:cs typeface="Arial" pitchFamily="34" charset="-120"/>
              </a:rPr>
              <a:t>SYSTEM RESTRICTIONS ("CANNOT DO"):</a:t>
            </a:r>
            <a:endParaRPr lang="en-US" sz="850" dirty="0"/>
          </a:p>
        </p:txBody>
      </p:sp>
      <p:sp>
        <p:nvSpPr>
          <p:cNvPr id="21" name="Text 19"/>
          <p:cNvSpPr/>
          <p:nvPr/>
        </p:nvSpPr>
        <p:spPr>
          <a:xfrm>
            <a:off x="960120" y="5074920"/>
            <a:ext cx="2926080" cy="32004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 Cannot edit boutique inventory or base prices</a:t>
            </a:r>
            <a:endParaRPr lang="en-US" sz="900" dirty="0"/>
          </a:p>
        </p:txBody>
      </p:sp>
      <p:sp>
        <p:nvSpPr>
          <p:cNvPr id="22" name="Text 20"/>
          <p:cNvSpPr/>
          <p:nvPr/>
        </p:nvSpPr>
        <p:spPr>
          <a:xfrm>
            <a:off x="960120" y="5404104"/>
            <a:ext cx="2926080" cy="32004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 Cannot access the administrative audit portal</a:t>
            </a:r>
            <a:endParaRPr lang="en-US" sz="900" dirty="0"/>
          </a:p>
        </p:txBody>
      </p:sp>
      <p:sp>
        <p:nvSpPr>
          <p:cNvPr id="23" name="Text 21"/>
          <p:cNvSpPr/>
          <p:nvPr/>
        </p:nvSpPr>
        <p:spPr>
          <a:xfrm>
            <a:off x="960120" y="5733288"/>
            <a:ext cx="2926080" cy="32004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 Cannot authorize deposit refunds directly</a:t>
            </a:r>
            <a:endParaRPr lang="en-US" sz="900" dirty="0"/>
          </a:p>
        </p:txBody>
      </p:sp>
      <p:sp>
        <p:nvSpPr>
          <p:cNvPr id="24" name="Shape 22"/>
          <p:cNvSpPr/>
          <p:nvPr/>
        </p:nvSpPr>
        <p:spPr>
          <a:xfrm>
            <a:off x="4389120" y="2011680"/>
            <a:ext cx="3410712" cy="4023360"/>
          </a:xfrm>
          <a:prstGeom prst="rect">
            <a:avLst/>
          </a:prstGeom>
          <a:solidFill>
            <a:srgbClr val="FFFFFF"/>
          </a:solidFill>
          <a:ln w="19050">
            <a:solidFill>
              <a:srgbClr val="C99A2E"/>
            </a:solidFill>
            <a:prstDash val="solid"/>
          </a:ln>
        </p:spPr>
      </p:sp>
      <p:sp>
        <p:nvSpPr>
          <p:cNvPr id="25" name="Text 23"/>
          <p:cNvSpPr/>
          <p:nvPr/>
        </p:nvSpPr>
        <p:spPr>
          <a:xfrm>
            <a:off x="4617720" y="2148840"/>
            <a:ext cx="2926080" cy="32004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BOUTIQUE / LENDER</a:t>
            </a:r>
            <a:endParaRPr lang="en-US" sz="1400" dirty="0"/>
          </a:p>
        </p:txBody>
      </p:sp>
      <p:sp>
        <p:nvSpPr>
          <p:cNvPr id="26" name="Text 24"/>
          <p:cNvSpPr/>
          <p:nvPr/>
        </p:nvSpPr>
        <p:spPr>
          <a:xfrm>
            <a:off x="4617720" y="2468880"/>
            <a:ext cx="2926080" cy="274320"/>
          </a:xfrm>
          <a:prstGeom prst="rect">
            <a:avLst/>
          </a:prstGeom>
          <a:noFill/>
          <a:ln/>
        </p:spPr>
        <p:txBody>
          <a:bodyPr wrap="square" rtlCol="0" anchor="ctr"/>
          <a:lstStyle/>
          <a:p>
            <a:pPr indent="0" marL="0">
              <a:buNone/>
            </a:pPr>
            <a:r>
              <a:rPr lang="en-US" sz="1000" i="1" dirty="0">
                <a:solidFill>
                  <a:srgbClr val="6B6367"/>
                </a:solidFill>
                <a:latin typeface="Arial" pitchFamily="34" charset="0"/>
                <a:ea typeface="Arial" pitchFamily="34" charset="-122"/>
                <a:cs typeface="Arial" pitchFamily="34" charset="-120"/>
              </a:rPr>
              <a:t>Verified Boutiques &amp; Heritage Wardrobe Owners</a:t>
            </a:r>
            <a:endParaRPr lang="en-US" sz="1000" dirty="0"/>
          </a:p>
        </p:txBody>
      </p:sp>
      <p:sp>
        <p:nvSpPr>
          <p:cNvPr id="27" name="Shape 25"/>
          <p:cNvSpPr/>
          <p:nvPr/>
        </p:nvSpPr>
        <p:spPr>
          <a:xfrm>
            <a:off x="4617720" y="2788920"/>
            <a:ext cx="2926080" cy="0"/>
          </a:xfrm>
          <a:prstGeom prst="line">
            <a:avLst/>
          </a:prstGeom>
          <a:noFill/>
          <a:ln w="9525">
            <a:solidFill>
              <a:srgbClr val="E2DACD"/>
            </a:solidFill>
            <a:prstDash val="solid"/>
          </a:ln>
        </p:spPr>
      </p:sp>
      <p:sp>
        <p:nvSpPr>
          <p:cNvPr id="28" name="Text 26"/>
          <p:cNvSpPr/>
          <p:nvPr/>
        </p:nvSpPr>
        <p:spPr>
          <a:xfrm>
            <a:off x="4617720" y="2880360"/>
            <a:ext cx="2926080" cy="228600"/>
          </a:xfrm>
          <a:prstGeom prst="rect">
            <a:avLst/>
          </a:prstGeom>
          <a:noFill/>
          <a:ln/>
        </p:spPr>
        <p:txBody>
          <a:bodyPr wrap="square" rtlCol="0" anchor="ctr"/>
          <a:lstStyle/>
          <a:p>
            <a:pPr indent="0" marL="0">
              <a:buNone/>
            </a:pPr>
            <a:r>
              <a:rPr lang="en-US" sz="850" b="1" dirty="0">
                <a:solidFill>
                  <a:srgbClr val="1E7E55"/>
                </a:solidFill>
                <a:latin typeface="Arial" pitchFamily="34" charset="0"/>
                <a:ea typeface="Arial" pitchFamily="34" charset="-122"/>
                <a:cs typeface="Arial" pitchFamily="34" charset="-120"/>
              </a:rPr>
              <a:t>PERMITTED CAPABILITIES ("CAN DO"):</a:t>
            </a:r>
            <a:endParaRPr lang="en-US" sz="850" dirty="0"/>
          </a:p>
        </p:txBody>
      </p:sp>
      <p:sp>
        <p:nvSpPr>
          <p:cNvPr id="29" name="Text 27"/>
          <p:cNvSpPr/>
          <p:nvPr/>
        </p:nvSpPr>
        <p:spPr>
          <a:xfrm>
            <a:off x="4617720" y="3108960"/>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Create &amp; manage boutique profile (avatar, bio, city)</a:t>
            </a:r>
            <a:endParaRPr lang="en-US" sz="950" dirty="0"/>
          </a:p>
        </p:txBody>
      </p:sp>
      <p:sp>
        <p:nvSpPr>
          <p:cNvPr id="30" name="Text 28"/>
          <p:cNvSpPr/>
          <p:nvPr/>
        </p:nvSpPr>
        <p:spPr>
          <a:xfrm>
            <a:off x="4617720" y="3438144"/>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List, edit &amp; toggle availability for dress outfits</a:t>
            </a:r>
            <a:endParaRPr lang="en-US" sz="950" dirty="0"/>
          </a:p>
        </p:txBody>
      </p:sp>
      <p:sp>
        <p:nvSpPr>
          <p:cNvPr id="31" name="Text 29"/>
          <p:cNvSpPr/>
          <p:nvPr/>
        </p:nvSpPr>
        <p:spPr>
          <a:xfrm>
            <a:off x="4617720" y="3767328"/>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Track active rentals, dispatch dates &amp; return status</a:t>
            </a:r>
            <a:endParaRPr lang="en-US" sz="950" dirty="0"/>
          </a:p>
        </p:txBody>
      </p:sp>
      <p:sp>
        <p:nvSpPr>
          <p:cNvPr id="32" name="Text 30"/>
          <p:cNvSpPr/>
          <p:nvPr/>
        </p:nvSpPr>
        <p:spPr>
          <a:xfrm>
            <a:off x="4617720" y="4096512"/>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Engage in direct pre-rental customer chats</a:t>
            </a:r>
            <a:endParaRPr lang="en-US" sz="950" dirty="0"/>
          </a:p>
        </p:txBody>
      </p:sp>
      <p:sp>
        <p:nvSpPr>
          <p:cNvPr id="33" name="Text 31"/>
          <p:cNvSpPr/>
          <p:nvPr/>
        </p:nvSpPr>
        <p:spPr>
          <a:xfrm>
            <a:off x="4617720" y="4425696"/>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Inspect returned garments &amp; sign off on condition</a:t>
            </a:r>
            <a:endParaRPr lang="en-US" sz="950" dirty="0"/>
          </a:p>
        </p:txBody>
      </p:sp>
      <p:sp>
        <p:nvSpPr>
          <p:cNvPr id="34" name="Text 32"/>
          <p:cNvSpPr/>
          <p:nvPr/>
        </p:nvSpPr>
        <p:spPr>
          <a:xfrm>
            <a:off x="4617720" y="4846320"/>
            <a:ext cx="2926080" cy="228600"/>
          </a:xfrm>
          <a:prstGeom prst="rect">
            <a:avLst/>
          </a:prstGeom>
          <a:noFill/>
          <a:ln/>
        </p:spPr>
        <p:txBody>
          <a:bodyPr wrap="square" rtlCol="0" anchor="ctr"/>
          <a:lstStyle/>
          <a:p>
            <a:pPr indent="0" marL="0">
              <a:buNone/>
            </a:pPr>
            <a:r>
              <a:rPr lang="en-US" sz="850" b="1" dirty="0">
                <a:solidFill>
                  <a:srgbClr val="C53030"/>
                </a:solidFill>
                <a:latin typeface="Arial" pitchFamily="34" charset="0"/>
                <a:ea typeface="Arial" pitchFamily="34" charset="-122"/>
                <a:cs typeface="Arial" pitchFamily="34" charset="-120"/>
              </a:rPr>
              <a:t>SYSTEM RESTRICTIONS ("CANNOT DO"):</a:t>
            </a:r>
            <a:endParaRPr lang="en-US" sz="850" dirty="0"/>
          </a:p>
        </p:txBody>
      </p:sp>
      <p:sp>
        <p:nvSpPr>
          <p:cNvPr id="35" name="Text 33"/>
          <p:cNvSpPr/>
          <p:nvPr/>
        </p:nvSpPr>
        <p:spPr>
          <a:xfrm>
            <a:off x="4617720" y="5074920"/>
            <a:ext cx="2926080" cy="32004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 Cannot alter administrative dispute verdicts</a:t>
            </a:r>
            <a:endParaRPr lang="en-US" sz="900" dirty="0"/>
          </a:p>
        </p:txBody>
      </p:sp>
      <p:sp>
        <p:nvSpPr>
          <p:cNvPr id="36" name="Text 34"/>
          <p:cNvSpPr/>
          <p:nvPr/>
        </p:nvSpPr>
        <p:spPr>
          <a:xfrm>
            <a:off x="4617720" y="5404104"/>
            <a:ext cx="2926080" cy="32004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 Cannot unilaterally seize customer deposit balances</a:t>
            </a:r>
            <a:endParaRPr lang="en-US" sz="900" dirty="0"/>
          </a:p>
        </p:txBody>
      </p:sp>
      <p:sp>
        <p:nvSpPr>
          <p:cNvPr id="37" name="Text 35"/>
          <p:cNvSpPr/>
          <p:nvPr/>
        </p:nvSpPr>
        <p:spPr>
          <a:xfrm>
            <a:off x="4617720" y="5733288"/>
            <a:ext cx="2926080" cy="32004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 Cannot modify platform fee commission rates</a:t>
            </a:r>
            <a:endParaRPr lang="en-US" sz="900" dirty="0"/>
          </a:p>
        </p:txBody>
      </p:sp>
      <p:sp>
        <p:nvSpPr>
          <p:cNvPr id="38" name="Shape 36"/>
          <p:cNvSpPr/>
          <p:nvPr/>
        </p:nvSpPr>
        <p:spPr>
          <a:xfrm>
            <a:off x="8046720" y="2011680"/>
            <a:ext cx="3410712" cy="4023360"/>
          </a:xfrm>
          <a:prstGeom prst="rect">
            <a:avLst/>
          </a:prstGeom>
          <a:solidFill>
            <a:srgbClr val="FFFFFF"/>
          </a:solidFill>
          <a:ln w="19050">
            <a:solidFill>
              <a:srgbClr val="C53030"/>
            </a:solidFill>
            <a:prstDash val="solid"/>
          </a:ln>
        </p:spPr>
      </p:sp>
      <p:sp>
        <p:nvSpPr>
          <p:cNvPr id="39" name="Text 37"/>
          <p:cNvSpPr/>
          <p:nvPr/>
        </p:nvSpPr>
        <p:spPr>
          <a:xfrm>
            <a:off x="8275320" y="2148840"/>
            <a:ext cx="2926080" cy="32004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SYSTEM ADMINISTRATOR</a:t>
            </a:r>
            <a:endParaRPr lang="en-US" sz="1400" dirty="0"/>
          </a:p>
        </p:txBody>
      </p:sp>
      <p:sp>
        <p:nvSpPr>
          <p:cNvPr id="40" name="Text 38"/>
          <p:cNvSpPr/>
          <p:nvPr/>
        </p:nvSpPr>
        <p:spPr>
          <a:xfrm>
            <a:off x="8275320" y="2468880"/>
            <a:ext cx="2926080" cy="274320"/>
          </a:xfrm>
          <a:prstGeom prst="rect">
            <a:avLst/>
          </a:prstGeom>
          <a:noFill/>
          <a:ln/>
        </p:spPr>
        <p:txBody>
          <a:bodyPr wrap="square" rtlCol="0" anchor="ctr"/>
          <a:lstStyle/>
          <a:p>
            <a:pPr indent="0" marL="0">
              <a:buNone/>
            </a:pPr>
            <a:r>
              <a:rPr lang="en-US" sz="1000" i="1" dirty="0">
                <a:solidFill>
                  <a:srgbClr val="6B6367"/>
                </a:solidFill>
                <a:latin typeface="Arial" pitchFamily="34" charset="0"/>
                <a:ea typeface="Arial" pitchFamily="34" charset="-122"/>
                <a:cs typeface="Arial" pitchFamily="34" charset="-120"/>
              </a:rPr>
              <a:t>Platform Compliance &amp; Escrow Governance Officers</a:t>
            </a:r>
            <a:endParaRPr lang="en-US" sz="1000" dirty="0"/>
          </a:p>
        </p:txBody>
      </p:sp>
      <p:sp>
        <p:nvSpPr>
          <p:cNvPr id="41" name="Shape 39"/>
          <p:cNvSpPr/>
          <p:nvPr/>
        </p:nvSpPr>
        <p:spPr>
          <a:xfrm>
            <a:off x="8275320" y="2788920"/>
            <a:ext cx="2926080" cy="0"/>
          </a:xfrm>
          <a:prstGeom prst="line">
            <a:avLst/>
          </a:prstGeom>
          <a:noFill/>
          <a:ln w="9525">
            <a:solidFill>
              <a:srgbClr val="E2DACD"/>
            </a:solidFill>
            <a:prstDash val="solid"/>
          </a:ln>
        </p:spPr>
      </p:sp>
      <p:sp>
        <p:nvSpPr>
          <p:cNvPr id="42" name="Text 40"/>
          <p:cNvSpPr/>
          <p:nvPr/>
        </p:nvSpPr>
        <p:spPr>
          <a:xfrm>
            <a:off x="8275320" y="2880360"/>
            <a:ext cx="2926080" cy="228600"/>
          </a:xfrm>
          <a:prstGeom prst="rect">
            <a:avLst/>
          </a:prstGeom>
          <a:noFill/>
          <a:ln/>
        </p:spPr>
        <p:txBody>
          <a:bodyPr wrap="square" rtlCol="0" anchor="ctr"/>
          <a:lstStyle/>
          <a:p>
            <a:pPr indent="0" marL="0">
              <a:buNone/>
            </a:pPr>
            <a:r>
              <a:rPr lang="en-US" sz="850" b="1" dirty="0">
                <a:solidFill>
                  <a:srgbClr val="1E7E55"/>
                </a:solidFill>
                <a:latin typeface="Arial" pitchFamily="34" charset="0"/>
                <a:ea typeface="Arial" pitchFamily="34" charset="-122"/>
                <a:cs typeface="Arial" pitchFamily="34" charset="-120"/>
              </a:rPr>
              <a:t>PERMITTED CAPABILITIES ("CAN DO"):</a:t>
            </a:r>
            <a:endParaRPr lang="en-US" sz="850" dirty="0"/>
          </a:p>
        </p:txBody>
      </p:sp>
      <p:sp>
        <p:nvSpPr>
          <p:cNvPr id="43" name="Text 41"/>
          <p:cNvSpPr/>
          <p:nvPr/>
        </p:nvSpPr>
        <p:spPr>
          <a:xfrm>
            <a:off x="8275320" y="3108960"/>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Monitor global catalog, user accounts &amp; active bookings</a:t>
            </a:r>
            <a:endParaRPr lang="en-US" sz="950" dirty="0"/>
          </a:p>
        </p:txBody>
      </p:sp>
      <p:sp>
        <p:nvSpPr>
          <p:cNvPr id="44" name="Text 42"/>
          <p:cNvSpPr/>
          <p:nvPr/>
        </p:nvSpPr>
        <p:spPr>
          <a:xfrm>
            <a:off x="8275320" y="3438144"/>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Mediate &amp; resolve complaints between Renters &amp; Lenders</a:t>
            </a:r>
            <a:endParaRPr lang="en-US" sz="950" dirty="0"/>
          </a:p>
        </p:txBody>
      </p:sp>
      <p:sp>
        <p:nvSpPr>
          <p:cNvPr id="45" name="Text 43"/>
          <p:cNvSpPr/>
          <p:nvPr/>
        </p:nvSpPr>
        <p:spPr>
          <a:xfrm>
            <a:off x="8275320" y="3767328"/>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Authorize security deposit deductions or full releases</a:t>
            </a:r>
            <a:endParaRPr lang="en-US" sz="950" dirty="0"/>
          </a:p>
        </p:txBody>
      </p:sp>
      <p:sp>
        <p:nvSpPr>
          <p:cNvPr id="46" name="Text 44"/>
          <p:cNvSpPr/>
          <p:nvPr/>
        </p:nvSpPr>
        <p:spPr>
          <a:xfrm>
            <a:off x="8275320" y="4096512"/>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Audit boutique verification statuses &amp; metrics</a:t>
            </a:r>
            <a:endParaRPr lang="en-US" sz="950" dirty="0"/>
          </a:p>
        </p:txBody>
      </p:sp>
      <p:sp>
        <p:nvSpPr>
          <p:cNvPr id="47" name="Text 45"/>
          <p:cNvSpPr/>
          <p:nvPr/>
        </p:nvSpPr>
        <p:spPr>
          <a:xfrm>
            <a:off x="8275320" y="4425696"/>
            <a:ext cx="2926080" cy="320040"/>
          </a:xfrm>
          <a:prstGeom prst="rect">
            <a:avLst/>
          </a:prstGeom>
          <a:noFill/>
          <a:ln/>
        </p:spPr>
        <p:txBody>
          <a:bodyPr wrap="square" rtlCol="0" anchor="ctr"/>
          <a:lstStyle/>
          <a:p>
            <a:pPr indent="0" marL="0">
              <a:buNone/>
            </a:pPr>
            <a:r>
              <a:rPr lang="en-US" sz="950" dirty="0">
                <a:solidFill>
                  <a:srgbClr val="1A1618"/>
                </a:solidFill>
                <a:latin typeface="Arial" pitchFamily="34" charset="0"/>
                <a:ea typeface="Arial" pitchFamily="34" charset="-122"/>
                <a:cs typeface="Arial" pitchFamily="34" charset="-120"/>
              </a:rPr>
              <a:t>✔ Manage platform configurations and data seeds</a:t>
            </a:r>
            <a:endParaRPr lang="en-US" sz="950" dirty="0"/>
          </a:p>
        </p:txBody>
      </p:sp>
      <p:sp>
        <p:nvSpPr>
          <p:cNvPr id="48" name="Text 46"/>
          <p:cNvSpPr/>
          <p:nvPr/>
        </p:nvSpPr>
        <p:spPr>
          <a:xfrm>
            <a:off x="8275320" y="4846320"/>
            <a:ext cx="2926080" cy="228600"/>
          </a:xfrm>
          <a:prstGeom prst="rect">
            <a:avLst/>
          </a:prstGeom>
          <a:noFill/>
          <a:ln/>
        </p:spPr>
        <p:txBody>
          <a:bodyPr wrap="square" rtlCol="0" anchor="ctr"/>
          <a:lstStyle/>
          <a:p>
            <a:pPr indent="0" marL="0">
              <a:buNone/>
            </a:pPr>
            <a:r>
              <a:rPr lang="en-US" sz="850" b="1" dirty="0">
                <a:solidFill>
                  <a:srgbClr val="C53030"/>
                </a:solidFill>
                <a:latin typeface="Arial" pitchFamily="34" charset="0"/>
                <a:ea typeface="Arial" pitchFamily="34" charset="-122"/>
                <a:cs typeface="Arial" pitchFamily="34" charset="-120"/>
              </a:rPr>
              <a:t>SYSTEM RESTRICTIONS ("CANNOT DO"):</a:t>
            </a:r>
            <a:endParaRPr lang="en-US" sz="850" dirty="0"/>
          </a:p>
        </p:txBody>
      </p:sp>
      <p:sp>
        <p:nvSpPr>
          <p:cNvPr id="49" name="Text 47"/>
          <p:cNvSpPr/>
          <p:nvPr/>
        </p:nvSpPr>
        <p:spPr>
          <a:xfrm>
            <a:off x="8275320" y="5074920"/>
            <a:ext cx="2926080" cy="32004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 Cannot impersonate user credentials</a:t>
            </a:r>
            <a:endParaRPr lang="en-US" sz="900" dirty="0"/>
          </a:p>
        </p:txBody>
      </p:sp>
      <p:sp>
        <p:nvSpPr>
          <p:cNvPr id="50" name="Text 48"/>
          <p:cNvSpPr/>
          <p:nvPr/>
        </p:nvSpPr>
        <p:spPr>
          <a:xfrm>
            <a:off x="8275320" y="5404104"/>
            <a:ext cx="2926080" cy="32004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 Cannot alter signed rental contract dates after dispatch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12 · ACT III</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12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FUNCTIONAL DECOMPOSITION</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Six Core Platform Subsystems</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Decoupled functional modules handling the complete lifecycle of luxury couture rental.</a:t>
            </a:r>
            <a:endParaRPr lang="en-US" sz="1300" dirty="0"/>
          </a:p>
        </p:txBody>
      </p:sp>
      <p:sp>
        <p:nvSpPr>
          <p:cNvPr id="10" name="Shape 8"/>
          <p:cNvSpPr/>
          <p:nvPr/>
        </p:nvSpPr>
        <p:spPr>
          <a:xfrm>
            <a:off x="731520" y="2011680"/>
            <a:ext cx="3410712" cy="1920240"/>
          </a:xfrm>
          <a:prstGeom prst="rect">
            <a:avLst/>
          </a:prstGeom>
          <a:solidFill>
            <a:srgbClr val="FFFFFF"/>
          </a:solidFill>
          <a:ln w="12700">
            <a:solidFill>
              <a:srgbClr val="E2DACD"/>
            </a:solidFill>
            <a:prstDash val="solid"/>
          </a:ln>
        </p:spPr>
      </p:sp>
      <p:sp>
        <p:nvSpPr>
          <p:cNvPr id="11" name="Shape 9"/>
          <p:cNvSpPr/>
          <p:nvPr/>
        </p:nvSpPr>
        <p:spPr>
          <a:xfrm>
            <a:off x="731520" y="2011680"/>
            <a:ext cx="3410712" cy="45720"/>
          </a:xfrm>
          <a:prstGeom prst="rect">
            <a:avLst/>
          </a:prstGeom>
          <a:solidFill>
            <a:srgbClr val="C99A2E"/>
          </a:solidFill>
          <a:ln/>
        </p:spPr>
      </p:sp>
      <p:sp>
        <p:nvSpPr>
          <p:cNvPr id="12" name="Text 10"/>
          <p:cNvSpPr/>
          <p:nvPr/>
        </p:nvSpPr>
        <p:spPr>
          <a:xfrm>
            <a:off x="960120" y="2176272"/>
            <a:ext cx="1371600" cy="228600"/>
          </a:xfrm>
          <a:prstGeom prst="rect">
            <a:avLst/>
          </a:prstGeom>
          <a:noFill/>
          <a:ln/>
        </p:spPr>
        <p:txBody>
          <a:bodyPr wrap="square" rtlCol="0" anchor="ctr"/>
          <a:lstStyle/>
          <a:p>
            <a:pPr indent="0" marL="0">
              <a:buNone/>
            </a:pPr>
            <a:r>
              <a:rPr lang="en-US" sz="950" b="1" dirty="0">
                <a:solidFill>
                  <a:srgbClr val="7A5F20"/>
                </a:solidFill>
                <a:latin typeface="Consolas" pitchFamily="34" charset="0"/>
                <a:ea typeface="Consolas" pitchFamily="34" charset="-122"/>
                <a:cs typeface="Consolas" pitchFamily="34" charset="-120"/>
              </a:rPr>
              <a:t>MOD 01</a:t>
            </a:r>
            <a:endParaRPr lang="en-US" sz="950" dirty="0"/>
          </a:p>
        </p:txBody>
      </p:sp>
      <p:sp>
        <p:nvSpPr>
          <p:cNvPr id="13" name="Text 11"/>
          <p:cNvSpPr/>
          <p:nvPr/>
        </p:nvSpPr>
        <p:spPr>
          <a:xfrm>
            <a:off x="960120" y="2423160"/>
            <a:ext cx="2926080" cy="45720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Authentication &amp; Session Store</a:t>
            </a:r>
            <a:endParaRPr lang="en-US" sz="1400" dirty="0"/>
          </a:p>
        </p:txBody>
      </p:sp>
      <p:sp>
        <p:nvSpPr>
          <p:cNvPr id="14" name="Text 12"/>
          <p:cNvSpPr/>
          <p:nvPr/>
        </p:nvSpPr>
        <p:spPr>
          <a:xfrm>
            <a:off x="960120" y="2907792"/>
            <a:ext cx="2926080" cy="91440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Manages user registration, role detection (Admin/Renter/Lender), active credential persistence, and protected route routing.</a:t>
            </a:r>
            <a:endParaRPr lang="en-US" sz="1050" dirty="0"/>
          </a:p>
        </p:txBody>
      </p:sp>
      <p:sp>
        <p:nvSpPr>
          <p:cNvPr id="15" name="Shape 13"/>
          <p:cNvSpPr/>
          <p:nvPr/>
        </p:nvSpPr>
        <p:spPr>
          <a:xfrm>
            <a:off x="4389120" y="2011680"/>
            <a:ext cx="3410712" cy="1920240"/>
          </a:xfrm>
          <a:prstGeom prst="rect">
            <a:avLst/>
          </a:prstGeom>
          <a:solidFill>
            <a:srgbClr val="FFFFFF"/>
          </a:solidFill>
          <a:ln w="12700">
            <a:solidFill>
              <a:srgbClr val="E2DACD"/>
            </a:solidFill>
            <a:prstDash val="solid"/>
          </a:ln>
        </p:spPr>
      </p:sp>
      <p:sp>
        <p:nvSpPr>
          <p:cNvPr id="16" name="Shape 14"/>
          <p:cNvSpPr/>
          <p:nvPr/>
        </p:nvSpPr>
        <p:spPr>
          <a:xfrm>
            <a:off x="4389120" y="2011680"/>
            <a:ext cx="3410712" cy="45720"/>
          </a:xfrm>
          <a:prstGeom prst="rect">
            <a:avLst/>
          </a:prstGeom>
          <a:solidFill>
            <a:srgbClr val="C99A2E"/>
          </a:solidFill>
          <a:ln/>
        </p:spPr>
      </p:sp>
      <p:sp>
        <p:nvSpPr>
          <p:cNvPr id="17" name="Text 15"/>
          <p:cNvSpPr/>
          <p:nvPr/>
        </p:nvSpPr>
        <p:spPr>
          <a:xfrm>
            <a:off x="4617720" y="2176272"/>
            <a:ext cx="1371600" cy="228600"/>
          </a:xfrm>
          <a:prstGeom prst="rect">
            <a:avLst/>
          </a:prstGeom>
          <a:noFill/>
          <a:ln/>
        </p:spPr>
        <p:txBody>
          <a:bodyPr wrap="square" rtlCol="0" anchor="ctr"/>
          <a:lstStyle/>
          <a:p>
            <a:pPr indent="0" marL="0">
              <a:buNone/>
            </a:pPr>
            <a:r>
              <a:rPr lang="en-US" sz="950" b="1" dirty="0">
                <a:solidFill>
                  <a:srgbClr val="7A5F20"/>
                </a:solidFill>
                <a:latin typeface="Consolas" pitchFamily="34" charset="0"/>
                <a:ea typeface="Consolas" pitchFamily="34" charset="-122"/>
                <a:cs typeface="Consolas" pitchFamily="34" charset="-120"/>
              </a:rPr>
              <a:t>MOD 02</a:t>
            </a:r>
            <a:endParaRPr lang="en-US" sz="950" dirty="0"/>
          </a:p>
        </p:txBody>
      </p:sp>
      <p:sp>
        <p:nvSpPr>
          <p:cNvPr id="18" name="Text 16"/>
          <p:cNvSpPr/>
          <p:nvPr/>
        </p:nvSpPr>
        <p:spPr>
          <a:xfrm>
            <a:off x="4617720" y="2423160"/>
            <a:ext cx="2926080" cy="45720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Luxury Catalog &amp; Filtering Engine</a:t>
            </a:r>
            <a:endParaRPr lang="en-US" sz="1400" dirty="0"/>
          </a:p>
        </p:txBody>
      </p:sp>
      <p:sp>
        <p:nvSpPr>
          <p:cNvPr id="19" name="Text 17"/>
          <p:cNvSpPr/>
          <p:nvPr/>
        </p:nvSpPr>
        <p:spPr>
          <a:xfrm>
            <a:off x="4617720" y="2907792"/>
            <a:ext cx="2926080" cy="91440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Powers multi-criteria queries across Category (Lehenga, Saree, Sherwani), Occasions, Price Slabs, and Boutique locations.</a:t>
            </a:r>
            <a:endParaRPr lang="en-US" sz="1050" dirty="0"/>
          </a:p>
        </p:txBody>
      </p:sp>
      <p:sp>
        <p:nvSpPr>
          <p:cNvPr id="20" name="Shape 18"/>
          <p:cNvSpPr/>
          <p:nvPr/>
        </p:nvSpPr>
        <p:spPr>
          <a:xfrm>
            <a:off x="8046720" y="2011680"/>
            <a:ext cx="3410712" cy="1920240"/>
          </a:xfrm>
          <a:prstGeom prst="rect">
            <a:avLst/>
          </a:prstGeom>
          <a:solidFill>
            <a:srgbClr val="FFFFFF"/>
          </a:solidFill>
          <a:ln w="12700">
            <a:solidFill>
              <a:srgbClr val="E2DACD"/>
            </a:solidFill>
            <a:prstDash val="solid"/>
          </a:ln>
        </p:spPr>
      </p:sp>
      <p:sp>
        <p:nvSpPr>
          <p:cNvPr id="21" name="Shape 19"/>
          <p:cNvSpPr/>
          <p:nvPr/>
        </p:nvSpPr>
        <p:spPr>
          <a:xfrm>
            <a:off x="8046720" y="2011680"/>
            <a:ext cx="3410712" cy="45720"/>
          </a:xfrm>
          <a:prstGeom prst="rect">
            <a:avLst/>
          </a:prstGeom>
          <a:solidFill>
            <a:srgbClr val="C99A2E"/>
          </a:solidFill>
          <a:ln/>
        </p:spPr>
      </p:sp>
      <p:sp>
        <p:nvSpPr>
          <p:cNvPr id="22" name="Text 20"/>
          <p:cNvSpPr/>
          <p:nvPr/>
        </p:nvSpPr>
        <p:spPr>
          <a:xfrm>
            <a:off x="8275320" y="2176272"/>
            <a:ext cx="1371600" cy="228600"/>
          </a:xfrm>
          <a:prstGeom prst="rect">
            <a:avLst/>
          </a:prstGeom>
          <a:noFill/>
          <a:ln/>
        </p:spPr>
        <p:txBody>
          <a:bodyPr wrap="square" rtlCol="0" anchor="ctr"/>
          <a:lstStyle/>
          <a:p>
            <a:pPr indent="0" marL="0">
              <a:buNone/>
            </a:pPr>
            <a:r>
              <a:rPr lang="en-US" sz="950" b="1" dirty="0">
                <a:solidFill>
                  <a:srgbClr val="7A5F20"/>
                </a:solidFill>
                <a:latin typeface="Consolas" pitchFamily="34" charset="0"/>
                <a:ea typeface="Consolas" pitchFamily="34" charset="-122"/>
                <a:cs typeface="Consolas" pitchFamily="34" charset="-120"/>
              </a:rPr>
              <a:t>MOD 03</a:t>
            </a:r>
            <a:endParaRPr lang="en-US" sz="950" dirty="0"/>
          </a:p>
        </p:txBody>
      </p:sp>
      <p:sp>
        <p:nvSpPr>
          <p:cNvPr id="23" name="Text 21"/>
          <p:cNvSpPr/>
          <p:nvPr/>
        </p:nvSpPr>
        <p:spPr>
          <a:xfrm>
            <a:off x="8275320" y="2423160"/>
            <a:ext cx="2926080" cy="45720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Rental Booking &amp; Escrow Calculator</a:t>
            </a:r>
            <a:endParaRPr lang="en-US" sz="1400" dirty="0"/>
          </a:p>
        </p:txBody>
      </p:sp>
      <p:sp>
        <p:nvSpPr>
          <p:cNvPr id="24" name="Text 22"/>
          <p:cNvSpPr/>
          <p:nvPr/>
        </p:nvSpPr>
        <p:spPr>
          <a:xfrm>
            <a:off x="8275320" y="2907792"/>
            <a:ext cx="2926080" cy="91440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Dynamically calculates 3/5/7-day rental rates, refundable deposit escrows, delivery logistics, and generates order IDs.</a:t>
            </a:r>
            <a:endParaRPr lang="en-US" sz="1050" dirty="0"/>
          </a:p>
        </p:txBody>
      </p:sp>
      <p:sp>
        <p:nvSpPr>
          <p:cNvPr id="25" name="Shape 23"/>
          <p:cNvSpPr/>
          <p:nvPr/>
        </p:nvSpPr>
        <p:spPr>
          <a:xfrm>
            <a:off x="731520" y="4114800"/>
            <a:ext cx="3410712" cy="1920240"/>
          </a:xfrm>
          <a:prstGeom prst="rect">
            <a:avLst/>
          </a:prstGeom>
          <a:solidFill>
            <a:srgbClr val="FFFFFF"/>
          </a:solidFill>
          <a:ln w="12700">
            <a:solidFill>
              <a:srgbClr val="E2DACD"/>
            </a:solidFill>
            <a:prstDash val="solid"/>
          </a:ln>
        </p:spPr>
      </p:sp>
      <p:sp>
        <p:nvSpPr>
          <p:cNvPr id="26" name="Shape 24"/>
          <p:cNvSpPr/>
          <p:nvPr/>
        </p:nvSpPr>
        <p:spPr>
          <a:xfrm>
            <a:off x="731520" y="4114800"/>
            <a:ext cx="3410712" cy="45720"/>
          </a:xfrm>
          <a:prstGeom prst="rect">
            <a:avLst/>
          </a:prstGeom>
          <a:solidFill>
            <a:srgbClr val="C99A2E"/>
          </a:solidFill>
          <a:ln/>
        </p:spPr>
      </p:sp>
      <p:sp>
        <p:nvSpPr>
          <p:cNvPr id="27" name="Text 25"/>
          <p:cNvSpPr/>
          <p:nvPr/>
        </p:nvSpPr>
        <p:spPr>
          <a:xfrm>
            <a:off x="960120" y="4279392"/>
            <a:ext cx="1371600" cy="228600"/>
          </a:xfrm>
          <a:prstGeom prst="rect">
            <a:avLst/>
          </a:prstGeom>
          <a:noFill/>
          <a:ln/>
        </p:spPr>
        <p:txBody>
          <a:bodyPr wrap="square" rtlCol="0" anchor="ctr"/>
          <a:lstStyle/>
          <a:p>
            <a:pPr indent="0" marL="0">
              <a:buNone/>
            </a:pPr>
            <a:r>
              <a:rPr lang="en-US" sz="950" b="1" dirty="0">
                <a:solidFill>
                  <a:srgbClr val="7A5F20"/>
                </a:solidFill>
                <a:latin typeface="Consolas" pitchFamily="34" charset="0"/>
                <a:ea typeface="Consolas" pitchFamily="34" charset="-122"/>
                <a:cs typeface="Consolas" pitchFamily="34" charset="-120"/>
              </a:rPr>
              <a:t>MOD 04</a:t>
            </a:r>
            <a:endParaRPr lang="en-US" sz="950" dirty="0"/>
          </a:p>
        </p:txBody>
      </p:sp>
      <p:sp>
        <p:nvSpPr>
          <p:cNvPr id="28" name="Text 26"/>
          <p:cNvSpPr/>
          <p:nvPr/>
        </p:nvSpPr>
        <p:spPr>
          <a:xfrm>
            <a:off x="960120" y="4526280"/>
            <a:ext cx="2926080" cy="45720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Direct In-App Messaging Tunnel</a:t>
            </a:r>
            <a:endParaRPr lang="en-US" sz="1400" dirty="0"/>
          </a:p>
        </p:txBody>
      </p:sp>
      <p:sp>
        <p:nvSpPr>
          <p:cNvPr id="29" name="Text 27"/>
          <p:cNvSpPr/>
          <p:nvPr/>
        </p:nvSpPr>
        <p:spPr>
          <a:xfrm>
            <a:off x="960120" y="5010912"/>
            <a:ext cx="2926080" cy="91440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Enables asynchronous pre-booking communication between renter and boutique lender for custom fitting and blouse sizing questions.</a:t>
            </a:r>
            <a:endParaRPr lang="en-US" sz="1050" dirty="0"/>
          </a:p>
        </p:txBody>
      </p:sp>
      <p:sp>
        <p:nvSpPr>
          <p:cNvPr id="30" name="Shape 28"/>
          <p:cNvSpPr/>
          <p:nvPr/>
        </p:nvSpPr>
        <p:spPr>
          <a:xfrm>
            <a:off x="4389120" y="4114800"/>
            <a:ext cx="3410712" cy="1920240"/>
          </a:xfrm>
          <a:prstGeom prst="rect">
            <a:avLst/>
          </a:prstGeom>
          <a:solidFill>
            <a:srgbClr val="FFFFFF"/>
          </a:solidFill>
          <a:ln w="12700">
            <a:solidFill>
              <a:srgbClr val="E2DACD"/>
            </a:solidFill>
            <a:prstDash val="solid"/>
          </a:ln>
        </p:spPr>
      </p:sp>
      <p:sp>
        <p:nvSpPr>
          <p:cNvPr id="31" name="Shape 29"/>
          <p:cNvSpPr/>
          <p:nvPr/>
        </p:nvSpPr>
        <p:spPr>
          <a:xfrm>
            <a:off x="4389120" y="4114800"/>
            <a:ext cx="3410712" cy="45720"/>
          </a:xfrm>
          <a:prstGeom prst="rect">
            <a:avLst/>
          </a:prstGeom>
          <a:solidFill>
            <a:srgbClr val="C99A2E"/>
          </a:solidFill>
          <a:ln/>
        </p:spPr>
      </p:sp>
      <p:sp>
        <p:nvSpPr>
          <p:cNvPr id="32" name="Text 30"/>
          <p:cNvSpPr/>
          <p:nvPr/>
        </p:nvSpPr>
        <p:spPr>
          <a:xfrm>
            <a:off x="4617720" y="4279392"/>
            <a:ext cx="1371600" cy="228600"/>
          </a:xfrm>
          <a:prstGeom prst="rect">
            <a:avLst/>
          </a:prstGeom>
          <a:noFill/>
          <a:ln/>
        </p:spPr>
        <p:txBody>
          <a:bodyPr wrap="square" rtlCol="0" anchor="ctr"/>
          <a:lstStyle/>
          <a:p>
            <a:pPr indent="0" marL="0">
              <a:buNone/>
            </a:pPr>
            <a:r>
              <a:rPr lang="en-US" sz="950" b="1" dirty="0">
                <a:solidFill>
                  <a:srgbClr val="7A5F20"/>
                </a:solidFill>
                <a:latin typeface="Consolas" pitchFamily="34" charset="0"/>
                <a:ea typeface="Consolas" pitchFamily="34" charset="-122"/>
                <a:cs typeface="Consolas" pitchFamily="34" charset="-120"/>
              </a:rPr>
              <a:t>MOD 05</a:t>
            </a:r>
            <a:endParaRPr lang="en-US" sz="950" dirty="0"/>
          </a:p>
        </p:txBody>
      </p:sp>
      <p:sp>
        <p:nvSpPr>
          <p:cNvPr id="33" name="Text 31"/>
          <p:cNvSpPr/>
          <p:nvPr/>
        </p:nvSpPr>
        <p:spPr>
          <a:xfrm>
            <a:off x="4617720" y="4526280"/>
            <a:ext cx="2926080" cy="45720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Lender Inventory &amp; Analytics Hub</a:t>
            </a:r>
            <a:endParaRPr lang="en-US" sz="1400" dirty="0"/>
          </a:p>
        </p:txBody>
      </p:sp>
      <p:sp>
        <p:nvSpPr>
          <p:cNvPr id="34" name="Text 32"/>
          <p:cNvSpPr/>
          <p:nvPr/>
        </p:nvSpPr>
        <p:spPr>
          <a:xfrm>
            <a:off x="4617720" y="5010912"/>
            <a:ext cx="2926080" cy="91440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Empowers boutique partners to list garments, upload multi-angle photography, update status (Available/Rented), and track earnings.</a:t>
            </a:r>
            <a:endParaRPr lang="en-US" sz="1050" dirty="0"/>
          </a:p>
        </p:txBody>
      </p:sp>
      <p:sp>
        <p:nvSpPr>
          <p:cNvPr id="35" name="Shape 33"/>
          <p:cNvSpPr/>
          <p:nvPr/>
        </p:nvSpPr>
        <p:spPr>
          <a:xfrm>
            <a:off x="8046720" y="4114800"/>
            <a:ext cx="3410712" cy="1920240"/>
          </a:xfrm>
          <a:prstGeom prst="rect">
            <a:avLst/>
          </a:prstGeom>
          <a:solidFill>
            <a:srgbClr val="FFFFFF"/>
          </a:solidFill>
          <a:ln w="12700">
            <a:solidFill>
              <a:srgbClr val="E2DACD"/>
            </a:solidFill>
            <a:prstDash val="solid"/>
          </a:ln>
        </p:spPr>
      </p:sp>
      <p:sp>
        <p:nvSpPr>
          <p:cNvPr id="36" name="Shape 34"/>
          <p:cNvSpPr/>
          <p:nvPr/>
        </p:nvSpPr>
        <p:spPr>
          <a:xfrm>
            <a:off x="8046720" y="4114800"/>
            <a:ext cx="3410712" cy="45720"/>
          </a:xfrm>
          <a:prstGeom prst="rect">
            <a:avLst/>
          </a:prstGeom>
          <a:solidFill>
            <a:srgbClr val="C99A2E"/>
          </a:solidFill>
          <a:ln/>
        </p:spPr>
      </p:sp>
      <p:sp>
        <p:nvSpPr>
          <p:cNvPr id="37" name="Text 35"/>
          <p:cNvSpPr/>
          <p:nvPr/>
        </p:nvSpPr>
        <p:spPr>
          <a:xfrm>
            <a:off x="8275320" y="4279392"/>
            <a:ext cx="1371600" cy="228600"/>
          </a:xfrm>
          <a:prstGeom prst="rect">
            <a:avLst/>
          </a:prstGeom>
          <a:noFill/>
          <a:ln/>
        </p:spPr>
        <p:txBody>
          <a:bodyPr wrap="square" rtlCol="0" anchor="ctr"/>
          <a:lstStyle/>
          <a:p>
            <a:pPr indent="0" marL="0">
              <a:buNone/>
            </a:pPr>
            <a:r>
              <a:rPr lang="en-US" sz="950" b="1" dirty="0">
                <a:solidFill>
                  <a:srgbClr val="7A5F20"/>
                </a:solidFill>
                <a:latin typeface="Consolas" pitchFamily="34" charset="0"/>
                <a:ea typeface="Consolas" pitchFamily="34" charset="-122"/>
                <a:cs typeface="Consolas" pitchFamily="34" charset="-120"/>
              </a:rPr>
              <a:t>MOD 06</a:t>
            </a:r>
            <a:endParaRPr lang="en-US" sz="950" dirty="0"/>
          </a:p>
        </p:txBody>
      </p:sp>
      <p:sp>
        <p:nvSpPr>
          <p:cNvPr id="38" name="Text 36"/>
          <p:cNvSpPr/>
          <p:nvPr/>
        </p:nvSpPr>
        <p:spPr>
          <a:xfrm>
            <a:off x="8275320" y="4526280"/>
            <a:ext cx="2926080" cy="457200"/>
          </a:xfrm>
          <a:prstGeom prst="rect">
            <a:avLst/>
          </a:prstGeom>
          <a:noFill/>
          <a:ln/>
        </p:spPr>
        <p:txBody>
          <a:bodyPr wrap="square" rtlCol="0" anchor="ctr"/>
          <a:lstStyle/>
          <a:p>
            <a:pPr indent="0" marL="0">
              <a:buNone/>
            </a:pPr>
            <a:r>
              <a:rPr lang="en-US" sz="1400" b="1" dirty="0">
                <a:solidFill>
                  <a:srgbClr val="1A1618"/>
                </a:solidFill>
                <a:latin typeface="Georgia" pitchFamily="34" charset="0"/>
                <a:ea typeface="Georgia" pitchFamily="34" charset="-122"/>
                <a:cs typeface="Georgia" pitchFamily="34" charset="-120"/>
              </a:rPr>
              <a:t>Admin Governance &amp; Dispute Desk</a:t>
            </a:r>
            <a:endParaRPr lang="en-US" sz="1400" dirty="0"/>
          </a:p>
        </p:txBody>
      </p:sp>
      <p:sp>
        <p:nvSpPr>
          <p:cNvPr id="39" name="Text 37"/>
          <p:cNvSpPr/>
          <p:nvPr/>
        </p:nvSpPr>
        <p:spPr>
          <a:xfrm>
            <a:off x="8275320" y="5010912"/>
            <a:ext cx="2926080" cy="91440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Central audit console providing dispute escalation, damage claims processing, inspection sign-offs, and deposit refund triggers.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13 · ACT IV</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1371600"/>
            <a:ext cx="4114800" cy="3200400"/>
          </a:xfrm>
          <a:prstGeom prst="rect">
            <a:avLst/>
          </a:prstGeom>
          <a:noFill/>
          <a:ln/>
        </p:spPr>
        <p:txBody>
          <a:bodyPr wrap="square" rtlCol="0" anchor="ctr"/>
          <a:lstStyle/>
          <a:p>
            <a:pPr algn="l" indent="0" marL="0">
              <a:buNone/>
            </a:pPr>
            <a:r>
              <a:rPr lang="en-US" sz="12000" b="1" dirty="0">
                <a:solidFill>
                  <a:srgbClr val="1E1217"/>
                </a:solidFill>
                <a:latin typeface="Georgia" pitchFamily="34" charset="0"/>
                <a:ea typeface="Georgia" pitchFamily="34" charset="-122"/>
                <a:cs typeface="Georgia" pitchFamily="34" charset="-120"/>
              </a:rPr>
              <a:t>IV</a:t>
            </a:r>
            <a:endParaRPr lang="en-US" sz="12000" dirty="0"/>
          </a:p>
        </p:txBody>
      </p:sp>
      <p:sp>
        <p:nvSpPr>
          <p:cNvPr id="6" name="Shape 4"/>
          <p:cNvSpPr/>
          <p:nvPr/>
        </p:nvSpPr>
        <p:spPr>
          <a:xfrm>
            <a:off x="731520" y="1828800"/>
            <a:ext cx="2194560" cy="365760"/>
          </a:xfrm>
          <a:prstGeom prst="roundRect">
            <a:avLst/>
          </a:prstGeom>
          <a:solidFill>
            <a:srgbClr val="C99A2E"/>
          </a:solidFill>
          <a:ln w="12700">
            <a:solidFill>
              <a:srgbClr val="E6B85C"/>
            </a:solidFill>
            <a:prstDash val="solid"/>
          </a:ln>
        </p:spPr>
      </p:sp>
      <p:sp>
        <p:nvSpPr>
          <p:cNvPr id="7" name="Text 5"/>
          <p:cNvSpPr/>
          <p:nvPr/>
        </p:nvSpPr>
        <p:spPr>
          <a:xfrm>
            <a:off x="731520" y="1828800"/>
            <a:ext cx="2194560" cy="365760"/>
          </a:xfrm>
          <a:prstGeom prst="rect">
            <a:avLst/>
          </a:prstGeom>
          <a:noFill/>
          <a:ln/>
        </p:spPr>
        <p:txBody>
          <a:bodyPr wrap="square" rtlCol="0" anchor="ctr"/>
          <a:lstStyle/>
          <a:p>
            <a:pPr algn="ctr" indent="0" marL="0">
              <a:buNone/>
            </a:pPr>
            <a:r>
              <a:rPr lang="en-US" sz="1100" b="1" dirty="0">
                <a:solidFill>
                  <a:srgbClr val="0E0709"/>
                </a:solidFill>
                <a:latin typeface="Arial" pitchFamily="34" charset="0"/>
                <a:ea typeface="Arial" pitchFamily="34" charset="-122"/>
                <a:cs typeface="Arial" pitchFamily="34" charset="-120"/>
              </a:rPr>
              <a:t>ACT IV · THE BLUEPRINTS</a:t>
            </a:r>
            <a:endParaRPr lang="en-US" sz="1100" dirty="0"/>
          </a:p>
        </p:txBody>
      </p:sp>
      <p:sp>
        <p:nvSpPr>
          <p:cNvPr id="8" name="Text 6"/>
          <p:cNvSpPr/>
          <p:nvPr/>
        </p:nvSpPr>
        <p:spPr>
          <a:xfrm>
            <a:off x="731520" y="2423160"/>
            <a:ext cx="10058400" cy="1005840"/>
          </a:xfrm>
          <a:prstGeom prst="rect">
            <a:avLst/>
          </a:prstGeom>
          <a:noFill/>
          <a:ln/>
        </p:spPr>
        <p:txBody>
          <a:bodyPr wrap="square" rtlCol="0" anchor="ctr"/>
          <a:lstStyle/>
          <a:p>
            <a:pPr indent="0" marL="0">
              <a:buNone/>
            </a:pPr>
            <a:r>
              <a:rPr lang="en-US" sz="4200" b="1" dirty="0">
                <a:solidFill>
                  <a:srgbClr val="FAF7F2"/>
                </a:solidFill>
                <a:latin typeface="Georgia" pitchFamily="34" charset="0"/>
                <a:ea typeface="Georgia" pitchFamily="34" charset="-122"/>
                <a:cs typeface="Georgia" pitchFamily="34" charset="-120"/>
              </a:rPr>
              <a:t>Formal UML Software Engineering Specifications</a:t>
            </a:r>
            <a:endParaRPr lang="en-US" sz="4200" dirty="0"/>
          </a:p>
        </p:txBody>
      </p:sp>
      <p:sp>
        <p:nvSpPr>
          <p:cNvPr id="9" name="Text 7"/>
          <p:cNvSpPr/>
          <p:nvPr/>
        </p:nvSpPr>
        <p:spPr>
          <a:xfrm>
            <a:off x="731520" y="3520440"/>
            <a:ext cx="9601200" cy="731520"/>
          </a:xfrm>
          <a:prstGeom prst="rect">
            <a:avLst/>
          </a:prstGeom>
          <a:noFill/>
          <a:ln/>
        </p:spPr>
        <p:txBody>
          <a:bodyPr wrap="square" rtlCol="0" anchor="ctr"/>
          <a:lstStyle/>
          <a:p>
            <a:pPr indent="0" marL="0">
              <a:buNone/>
            </a:pPr>
            <a:r>
              <a:rPr lang="en-US" sz="1800" dirty="0">
                <a:solidFill>
                  <a:srgbClr val="E6B85C"/>
                </a:solidFill>
                <a:latin typeface="Arial" pitchFamily="34" charset="0"/>
                <a:ea typeface="Arial" pitchFamily="34" charset="-122"/>
                <a:cs typeface="Arial" pitchFamily="34" charset="-120"/>
              </a:rPr>
              <a:t>Behavioral, structural, and state machine models defining platform operations.</a:t>
            </a:r>
            <a:endParaRPr lang="en-US" sz="1800" dirty="0"/>
          </a:p>
        </p:txBody>
      </p:sp>
      <p:sp>
        <p:nvSpPr>
          <p:cNvPr id="10" name="Shape 8"/>
          <p:cNvSpPr/>
          <p:nvPr/>
        </p:nvSpPr>
        <p:spPr>
          <a:xfrm>
            <a:off x="9144000" y="2011680"/>
            <a:ext cx="2286000" cy="2743200"/>
          </a:xfrm>
          <a:prstGeom prst="arc">
            <a:avLst/>
          </a:prstGeom>
          <a:noFill/>
          <a:ln w="19050">
            <a:solidFill>
              <a:srgbClr val="C99A2E"/>
            </a:solidFill>
            <a:prstDash val="solid"/>
          </a:ln>
        </p:spPr>
      </p:sp>
      <p:sp>
        <p:nvSpPr>
          <p:cNvPr id="11" name="Shape 9"/>
          <p:cNvSpPr/>
          <p:nvPr/>
        </p:nvSpPr>
        <p:spPr>
          <a:xfrm>
            <a:off x="9372600" y="3383280"/>
            <a:ext cx="1828800" cy="2286000"/>
          </a:xfrm>
          <a:prstGeom prst="rect">
            <a:avLst/>
          </a:prstGeom>
          <a:noFill/>
          <a:ln w="12700">
            <a:solidFill>
              <a:srgbClr val="C99A2E"/>
            </a:solidFill>
            <a:prstDash val="solid"/>
          </a:ln>
        </p:spPr>
      </p:sp>
      <p:sp>
        <p:nvSpPr>
          <p:cNvPr id="12" name="Shape 10"/>
          <p:cNvSpPr/>
          <p:nvPr/>
        </p:nvSpPr>
        <p:spPr>
          <a:xfrm>
            <a:off x="731520" y="5669280"/>
            <a:ext cx="10728655" cy="73152"/>
          </a:xfrm>
          <a:prstGeom prst="rect">
            <a:avLst/>
          </a:prstGeom>
          <a:solidFill>
            <a:srgbClr val="2A1A20"/>
          </a:solidFill>
          <a:ln/>
        </p:spPr>
      </p:sp>
      <p:sp>
        <p:nvSpPr>
          <p:cNvPr id="13" name="Shape 11"/>
          <p:cNvSpPr/>
          <p:nvPr/>
        </p:nvSpPr>
        <p:spPr>
          <a:xfrm>
            <a:off x="731520" y="5669280"/>
            <a:ext cx="7080912" cy="73152"/>
          </a:xfrm>
          <a:prstGeom prst="rect">
            <a:avLst/>
          </a:prstGeom>
          <a:solidFill>
            <a:srgbClr val="C99A2E"/>
          </a:solidFill>
          <a:ln/>
        </p:spPr>
      </p:sp>
      <p:sp>
        <p:nvSpPr>
          <p:cNvPr id="14" name="Text 12"/>
          <p:cNvSpPr/>
          <p:nvPr/>
        </p:nvSpPr>
        <p:spPr>
          <a:xfrm>
            <a:off x="731520" y="5806440"/>
            <a:ext cx="5486400" cy="274320"/>
          </a:xfrm>
          <a:prstGeom prst="rect">
            <a:avLst/>
          </a:prstGeom>
          <a:noFill/>
          <a:ln/>
        </p:spPr>
        <p:txBody>
          <a:bodyPr wrap="square" rtlCol="0" anchor="ctr"/>
          <a:lstStyle/>
          <a:p>
            <a:pPr indent="0" marL="0">
              <a:buNone/>
            </a:pPr>
            <a:r>
              <a:rPr lang="en-US" sz="900" b="1" spc="100" kern="0" dirty="0">
                <a:solidFill>
                  <a:srgbClr val="C99A2E"/>
                </a:solidFill>
                <a:latin typeface="Arial" pitchFamily="34" charset="0"/>
                <a:ea typeface="Arial" pitchFamily="34" charset="-122"/>
                <a:cs typeface="Arial" pitchFamily="34" charset="-120"/>
              </a:rPr>
              <a:t>STORYLINE PROGRESSION: 66% COMPLETED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14 · ACT IV</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14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UML BEHAVIORAL MODEL</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Use Case Diagram: Actors &amp; System Boundary</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Standard UML specifications detailing actor interactions, «include» and «extend» relationships.</a:t>
            </a:r>
            <a:endParaRPr lang="en-US" sz="1300" dirty="0"/>
          </a:p>
        </p:txBody>
      </p:sp>
      <p:sp>
        <p:nvSpPr>
          <p:cNvPr id="10" name="Shape 8"/>
          <p:cNvSpPr/>
          <p:nvPr/>
        </p:nvSpPr>
        <p:spPr>
          <a:xfrm>
            <a:off x="731520" y="2011680"/>
            <a:ext cx="2011680" cy="4023360"/>
          </a:xfrm>
          <a:prstGeom prst="roundRect">
            <a:avLst/>
          </a:prstGeom>
          <a:solidFill>
            <a:srgbClr val="FFFFFF"/>
          </a:solidFill>
          <a:ln w="19050">
            <a:solidFill>
              <a:srgbClr val="C99A2E"/>
            </a:solidFill>
            <a:prstDash val="solid"/>
          </a:ln>
        </p:spPr>
      </p:sp>
      <p:sp>
        <p:nvSpPr>
          <p:cNvPr id="11" name="Text 9"/>
          <p:cNvSpPr/>
          <p:nvPr/>
        </p:nvSpPr>
        <p:spPr>
          <a:xfrm>
            <a:off x="822960" y="2194560"/>
            <a:ext cx="1828800" cy="731520"/>
          </a:xfrm>
          <a:prstGeom prst="rect">
            <a:avLst/>
          </a:prstGeom>
          <a:noFill/>
          <a:ln/>
        </p:spPr>
        <p:txBody>
          <a:bodyPr wrap="square" rtlCol="0" anchor="ctr"/>
          <a:lstStyle/>
          <a:p>
            <a:pPr algn="ctr" indent="0" marL="0">
              <a:buNone/>
            </a:pPr>
            <a:r>
              <a:rPr lang="en-US" sz="1300" b="1" dirty="0">
                <a:solidFill>
                  <a:srgbClr val="1A1618"/>
                </a:solidFill>
                <a:latin typeface="Georgia" pitchFamily="34" charset="0"/>
                <a:ea typeface="Georgia" pitchFamily="34" charset="-122"/>
                <a:cs typeface="Georgia" pitchFamily="34" charset="-120"/>
              </a:rPr>
              <a:t>ACTOR:</a:t>
            </a:r>
            <a:endParaRPr lang="en-US" sz="1300" dirty="0"/>
          </a:p>
          <a:p>
            <a:pPr algn="ctr" indent="0" marL="0">
              <a:buNone/>
            </a:pPr>
            <a:r>
              <a:rPr lang="en-US" sz="1300" b="1" dirty="0">
                <a:solidFill>
                  <a:srgbClr val="1A1618"/>
                </a:solidFill>
                <a:latin typeface="Georgia" pitchFamily="34" charset="0"/>
                <a:ea typeface="Georgia" pitchFamily="34" charset="-122"/>
                <a:cs typeface="Georgia" pitchFamily="34" charset="-120"/>
              </a:rPr>
              <a:t>RENTER</a:t>
            </a:r>
            <a:endParaRPr lang="en-US" sz="1300" dirty="0"/>
          </a:p>
          <a:p>
            <a:pPr algn="ctr" indent="0" marL="0">
              <a:buNone/>
            </a:pPr>
            <a:r>
              <a:rPr lang="en-US" sz="1300" b="1" dirty="0">
                <a:solidFill>
                  <a:srgbClr val="1A1618"/>
                </a:solidFill>
                <a:latin typeface="Georgia" pitchFamily="34" charset="0"/>
                <a:ea typeface="Georgia" pitchFamily="34" charset="-122"/>
                <a:cs typeface="Georgia" pitchFamily="34" charset="-120"/>
              </a:rPr>
              <a:t>(Customer)</a:t>
            </a:r>
            <a:endParaRPr lang="en-US" sz="1300" dirty="0"/>
          </a:p>
        </p:txBody>
      </p:sp>
      <p:sp>
        <p:nvSpPr>
          <p:cNvPr id="12" name="Text 10"/>
          <p:cNvSpPr/>
          <p:nvPr/>
        </p:nvSpPr>
        <p:spPr>
          <a:xfrm>
            <a:off x="914400" y="3017520"/>
            <a:ext cx="1645920" cy="2743200"/>
          </a:xfrm>
          <a:prstGeom prst="rect">
            <a:avLst/>
          </a:prstGeom>
          <a:noFill/>
          <a:ln/>
        </p:spPr>
        <p:txBody>
          <a:bodyPr wrap="square" rtlCol="0" anchor="ctr"/>
          <a:lstStyle/>
          <a:p>
            <a:pPr indent="0" marL="0">
              <a:buNone/>
            </a:pPr>
            <a:r>
              <a:rPr lang="en-US" sz="1050" dirty="0">
                <a:solidFill>
                  <a:srgbClr val="6B6367"/>
                </a:solidFill>
                <a:latin typeface="Arial" pitchFamily="34" charset="0"/>
                <a:ea typeface="Arial" pitchFamily="34" charset="-122"/>
                <a:cs typeface="Arial" pitchFamily="34" charset="-120"/>
              </a:rPr>
              <a:t>• Browse Catalog</a:t>
            </a:r>
            <a:endParaRPr lang="en-US" sz="1050" dirty="0"/>
          </a:p>
          <a:p>
            <a:pPr indent="0" marL="0">
              <a:buNone/>
            </a:pPr>
            <a:r>
              <a:rPr lang="en-US" sz="1050" dirty="0">
                <a:solidFill>
                  <a:srgbClr val="6B6367"/>
                </a:solidFill>
                <a:latin typeface="Arial" pitchFamily="34" charset="0"/>
                <a:ea typeface="Arial" pitchFamily="34" charset="-122"/>
                <a:cs typeface="Arial" pitchFamily="34" charset="-120"/>
              </a:rPr>
              <a:t>• Filter Occasion</a:t>
            </a:r>
            <a:endParaRPr lang="en-US" sz="1050" dirty="0"/>
          </a:p>
          <a:p>
            <a:pPr indent="0" marL="0">
              <a:buNone/>
            </a:pPr>
            <a:r>
              <a:rPr lang="en-US" sz="1050" dirty="0">
                <a:solidFill>
                  <a:srgbClr val="6B6367"/>
                </a:solidFill>
                <a:latin typeface="Arial" pitchFamily="34" charset="0"/>
                <a:ea typeface="Arial" pitchFamily="34" charset="-122"/>
                <a:cs typeface="Arial" pitchFamily="34" charset="-120"/>
              </a:rPr>
              <a:t>• Book Rental</a:t>
            </a:r>
            <a:endParaRPr lang="en-US" sz="1050" dirty="0"/>
          </a:p>
          <a:p>
            <a:pPr indent="0" marL="0">
              <a:buNone/>
            </a:pPr>
            <a:r>
              <a:rPr lang="en-US" sz="1050" dirty="0">
                <a:solidFill>
                  <a:srgbClr val="6B6367"/>
                </a:solidFill>
                <a:latin typeface="Arial" pitchFamily="34" charset="0"/>
                <a:ea typeface="Arial" pitchFamily="34" charset="-122"/>
                <a:cs typeface="Arial" pitchFamily="34" charset="-120"/>
              </a:rPr>
              <a:t>• Escrow Deposit</a:t>
            </a:r>
            <a:endParaRPr lang="en-US" sz="1050" dirty="0"/>
          </a:p>
          <a:p>
            <a:pPr indent="0" marL="0">
              <a:buNone/>
            </a:pPr>
            <a:r>
              <a:rPr lang="en-US" sz="1050" dirty="0">
                <a:solidFill>
                  <a:srgbClr val="6B6367"/>
                </a:solidFill>
                <a:latin typeface="Arial" pitchFamily="34" charset="0"/>
                <a:ea typeface="Arial" pitchFamily="34" charset="-122"/>
                <a:cs typeface="Arial" pitchFamily="34" charset="-120"/>
              </a:rPr>
              <a:t>• Chat Lender</a:t>
            </a:r>
            <a:endParaRPr lang="en-US" sz="1050" dirty="0"/>
          </a:p>
          <a:p>
            <a:pPr indent="0" marL="0">
              <a:buNone/>
            </a:pPr>
            <a:r>
              <a:rPr lang="en-US" sz="1050" dirty="0">
                <a:solidFill>
                  <a:srgbClr val="6B6367"/>
                </a:solidFill>
                <a:latin typeface="Arial" pitchFamily="34" charset="0"/>
                <a:ea typeface="Arial" pitchFamily="34" charset="-122"/>
                <a:cs typeface="Arial" pitchFamily="34" charset="-120"/>
              </a:rPr>
              <a:t>• File Dispute</a:t>
            </a:r>
            <a:endParaRPr lang="en-US" sz="1050" dirty="0"/>
          </a:p>
        </p:txBody>
      </p:sp>
      <p:sp>
        <p:nvSpPr>
          <p:cNvPr id="13" name="Shape 11"/>
          <p:cNvSpPr/>
          <p:nvPr/>
        </p:nvSpPr>
        <p:spPr>
          <a:xfrm>
            <a:off x="3017520" y="2011680"/>
            <a:ext cx="6217920" cy="4023360"/>
          </a:xfrm>
          <a:prstGeom prst="rect">
            <a:avLst/>
          </a:prstGeom>
          <a:solidFill>
            <a:srgbClr val="F5EFE6"/>
          </a:solidFill>
          <a:ln w="19050">
            <a:solidFill>
              <a:srgbClr val="7A5F20"/>
            </a:solidFill>
            <a:prstDash val="solid"/>
          </a:ln>
        </p:spPr>
      </p:sp>
      <p:sp>
        <p:nvSpPr>
          <p:cNvPr id="14" name="Text 12"/>
          <p:cNvSpPr/>
          <p:nvPr/>
        </p:nvSpPr>
        <p:spPr>
          <a:xfrm>
            <a:off x="3200400" y="2103120"/>
            <a:ext cx="5852160" cy="274320"/>
          </a:xfrm>
          <a:prstGeom prst="rect">
            <a:avLst/>
          </a:prstGeom>
          <a:noFill/>
          <a:ln/>
        </p:spPr>
        <p:txBody>
          <a:bodyPr wrap="square" rtlCol="0" anchor="ctr"/>
          <a:lstStyle/>
          <a:p>
            <a:pPr indent="0" marL="0">
              <a:buNone/>
            </a:pPr>
            <a:r>
              <a:rPr lang="en-US" sz="1000" b="1" dirty="0">
                <a:solidFill>
                  <a:srgbClr val="7A5F20"/>
                </a:solidFill>
                <a:latin typeface="Consolas" pitchFamily="34" charset="0"/>
                <a:ea typeface="Consolas" pitchFamily="34" charset="-122"/>
                <a:cs typeface="Consolas" pitchFamily="34" charset="-120"/>
              </a:rPr>
              <a:t>SYSTEM BOUNDARY: POSHAKH PLATFORM</a:t>
            </a:r>
            <a:endParaRPr lang="en-US" sz="1000" dirty="0"/>
          </a:p>
        </p:txBody>
      </p:sp>
      <p:sp>
        <p:nvSpPr>
          <p:cNvPr id="15" name="Shape 13"/>
          <p:cNvSpPr/>
          <p:nvPr/>
        </p:nvSpPr>
        <p:spPr>
          <a:xfrm>
            <a:off x="3291840" y="2468880"/>
            <a:ext cx="2651760" cy="685800"/>
          </a:xfrm>
          <a:prstGeom prst="ellipse">
            <a:avLst/>
          </a:prstGeom>
          <a:solidFill>
            <a:srgbClr val="FFFFFF"/>
          </a:solidFill>
          <a:ln w="12700">
            <a:solidFill>
              <a:srgbClr val="C99A2E"/>
            </a:solidFill>
            <a:prstDash val="solid"/>
          </a:ln>
        </p:spPr>
      </p:sp>
      <p:sp>
        <p:nvSpPr>
          <p:cNvPr id="16" name="Text 14"/>
          <p:cNvSpPr/>
          <p:nvPr/>
        </p:nvSpPr>
        <p:spPr>
          <a:xfrm>
            <a:off x="3383280" y="2542032"/>
            <a:ext cx="2468880" cy="347472"/>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UC1: Authenticate &amp; Role Session</a:t>
            </a:r>
            <a:endParaRPr lang="en-US" sz="950" dirty="0"/>
          </a:p>
        </p:txBody>
      </p:sp>
      <p:sp>
        <p:nvSpPr>
          <p:cNvPr id="17" name="Text 15"/>
          <p:cNvSpPr/>
          <p:nvPr/>
        </p:nvSpPr>
        <p:spPr>
          <a:xfrm>
            <a:off x="3383280" y="2871216"/>
            <a:ext cx="2468880" cy="228600"/>
          </a:xfrm>
          <a:prstGeom prst="rect">
            <a:avLst/>
          </a:prstGeom>
          <a:noFill/>
          <a:ln/>
        </p:spPr>
        <p:txBody>
          <a:bodyPr wrap="square" rtlCol="0" anchor="ctr"/>
          <a:lstStyle/>
          <a:p>
            <a:pPr algn="ctr" indent="0" marL="0">
              <a:buNone/>
            </a:pPr>
            <a:r>
              <a:rPr lang="en-US" sz="800" i="1" dirty="0">
                <a:solidFill>
                  <a:srgbClr val="7A5F20"/>
                </a:solidFill>
                <a:latin typeface="Consolas" pitchFamily="34" charset="0"/>
                <a:ea typeface="Consolas" pitchFamily="34" charset="-122"/>
                <a:cs typeface="Consolas" pitchFamily="34" charset="-120"/>
              </a:rPr>
              <a:t>«include» in UC3</a:t>
            </a:r>
            <a:endParaRPr lang="en-US" sz="800" dirty="0"/>
          </a:p>
        </p:txBody>
      </p:sp>
      <p:sp>
        <p:nvSpPr>
          <p:cNvPr id="18" name="Shape 16"/>
          <p:cNvSpPr/>
          <p:nvPr/>
        </p:nvSpPr>
        <p:spPr>
          <a:xfrm>
            <a:off x="6400800" y="2468880"/>
            <a:ext cx="2560320" cy="685800"/>
          </a:xfrm>
          <a:prstGeom prst="ellipse">
            <a:avLst/>
          </a:prstGeom>
          <a:solidFill>
            <a:srgbClr val="FFFFFF"/>
          </a:solidFill>
          <a:ln w="12700">
            <a:solidFill>
              <a:srgbClr val="C99A2E"/>
            </a:solidFill>
            <a:prstDash val="solid"/>
          </a:ln>
        </p:spPr>
      </p:sp>
      <p:sp>
        <p:nvSpPr>
          <p:cNvPr id="19" name="Text 17"/>
          <p:cNvSpPr/>
          <p:nvPr/>
        </p:nvSpPr>
        <p:spPr>
          <a:xfrm>
            <a:off x="6492240" y="2542032"/>
            <a:ext cx="2377440" cy="347472"/>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UC2: Browse &amp; Filter Dresses</a:t>
            </a:r>
            <a:endParaRPr lang="en-US" sz="950" dirty="0"/>
          </a:p>
        </p:txBody>
      </p:sp>
      <p:sp>
        <p:nvSpPr>
          <p:cNvPr id="20" name="Text 18"/>
          <p:cNvSpPr/>
          <p:nvPr/>
        </p:nvSpPr>
        <p:spPr>
          <a:xfrm>
            <a:off x="6492240" y="2871216"/>
            <a:ext cx="2377440" cy="228600"/>
          </a:xfrm>
          <a:prstGeom prst="rect">
            <a:avLst/>
          </a:prstGeom>
          <a:noFill/>
          <a:ln/>
        </p:spPr>
        <p:txBody>
          <a:bodyPr wrap="square" rtlCol="0" anchor="ctr"/>
          <a:lstStyle/>
          <a:p>
            <a:pPr algn="ctr" indent="0" marL="0">
              <a:buNone/>
            </a:pPr>
            <a:r>
              <a:rPr lang="en-US" sz="800" i="1" dirty="0">
                <a:solidFill>
                  <a:srgbClr val="7A5F20"/>
                </a:solidFill>
                <a:latin typeface="Consolas" pitchFamily="34" charset="0"/>
                <a:ea typeface="Consolas" pitchFamily="34" charset="-122"/>
                <a:cs typeface="Consolas" pitchFamily="34" charset="-120"/>
              </a:rPr>
              <a:t>General Access</a:t>
            </a:r>
            <a:endParaRPr lang="en-US" sz="800" dirty="0"/>
          </a:p>
        </p:txBody>
      </p:sp>
      <p:sp>
        <p:nvSpPr>
          <p:cNvPr id="21" name="Shape 19"/>
          <p:cNvSpPr/>
          <p:nvPr/>
        </p:nvSpPr>
        <p:spPr>
          <a:xfrm>
            <a:off x="3291840" y="3383280"/>
            <a:ext cx="2743200" cy="685800"/>
          </a:xfrm>
          <a:prstGeom prst="ellipse">
            <a:avLst/>
          </a:prstGeom>
          <a:solidFill>
            <a:srgbClr val="FFFFFF"/>
          </a:solidFill>
          <a:ln w="12700">
            <a:solidFill>
              <a:srgbClr val="C99A2E"/>
            </a:solidFill>
            <a:prstDash val="solid"/>
          </a:ln>
        </p:spPr>
      </p:sp>
      <p:sp>
        <p:nvSpPr>
          <p:cNvPr id="22" name="Text 20"/>
          <p:cNvSpPr/>
          <p:nvPr/>
        </p:nvSpPr>
        <p:spPr>
          <a:xfrm>
            <a:off x="3383280" y="3456432"/>
            <a:ext cx="2560320" cy="347472"/>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UC3: Reserve Outfit &amp; Escrow Deposit</a:t>
            </a:r>
            <a:endParaRPr lang="en-US" sz="950" dirty="0"/>
          </a:p>
        </p:txBody>
      </p:sp>
      <p:sp>
        <p:nvSpPr>
          <p:cNvPr id="23" name="Text 21"/>
          <p:cNvSpPr/>
          <p:nvPr/>
        </p:nvSpPr>
        <p:spPr>
          <a:xfrm>
            <a:off x="3383280" y="3785616"/>
            <a:ext cx="2560320" cy="228600"/>
          </a:xfrm>
          <a:prstGeom prst="rect">
            <a:avLst/>
          </a:prstGeom>
          <a:noFill/>
          <a:ln/>
        </p:spPr>
        <p:txBody>
          <a:bodyPr wrap="square" rtlCol="0" anchor="ctr"/>
          <a:lstStyle/>
          <a:p>
            <a:pPr algn="ctr" indent="0" marL="0">
              <a:buNone/>
            </a:pPr>
            <a:r>
              <a:rPr lang="en-US" sz="800" i="1" dirty="0">
                <a:solidFill>
                  <a:srgbClr val="7A5F20"/>
                </a:solidFill>
                <a:latin typeface="Consolas" pitchFamily="34" charset="0"/>
                <a:ea typeface="Consolas" pitchFamily="34" charset="-122"/>
                <a:cs typeface="Consolas" pitchFamily="34" charset="-120"/>
              </a:rPr>
              <a:t>«include» Payment Escrow</a:t>
            </a:r>
            <a:endParaRPr lang="en-US" sz="800" dirty="0"/>
          </a:p>
        </p:txBody>
      </p:sp>
      <p:sp>
        <p:nvSpPr>
          <p:cNvPr id="24" name="Shape 22"/>
          <p:cNvSpPr/>
          <p:nvPr/>
        </p:nvSpPr>
        <p:spPr>
          <a:xfrm>
            <a:off x="6400800" y="3383280"/>
            <a:ext cx="2560320" cy="685800"/>
          </a:xfrm>
          <a:prstGeom prst="ellipse">
            <a:avLst/>
          </a:prstGeom>
          <a:solidFill>
            <a:srgbClr val="FFFFFF"/>
          </a:solidFill>
          <a:ln w="12700">
            <a:solidFill>
              <a:srgbClr val="C99A2E"/>
            </a:solidFill>
            <a:prstDash val="solid"/>
          </a:ln>
        </p:spPr>
      </p:sp>
      <p:sp>
        <p:nvSpPr>
          <p:cNvPr id="25" name="Text 23"/>
          <p:cNvSpPr/>
          <p:nvPr/>
        </p:nvSpPr>
        <p:spPr>
          <a:xfrm>
            <a:off x="6492240" y="3456432"/>
            <a:ext cx="2377440" cy="347472"/>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UC4: Direct Boutique Inquiry Chat</a:t>
            </a:r>
            <a:endParaRPr lang="en-US" sz="950" dirty="0"/>
          </a:p>
        </p:txBody>
      </p:sp>
      <p:sp>
        <p:nvSpPr>
          <p:cNvPr id="26" name="Text 24"/>
          <p:cNvSpPr/>
          <p:nvPr/>
        </p:nvSpPr>
        <p:spPr>
          <a:xfrm>
            <a:off x="6492240" y="3785616"/>
            <a:ext cx="2377440" cy="228600"/>
          </a:xfrm>
          <a:prstGeom prst="rect">
            <a:avLst/>
          </a:prstGeom>
          <a:noFill/>
          <a:ln/>
        </p:spPr>
        <p:txBody>
          <a:bodyPr wrap="square" rtlCol="0" anchor="ctr"/>
          <a:lstStyle/>
          <a:p>
            <a:pPr algn="ctr" indent="0" marL="0">
              <a:buNone/>
            </a:pPr>
            <a:r>
              <a:rPr lang="en-US" sz="800" i="1" dirty="0">
                <a:solidFill>
                  <a:srgbClr val="7A5F20"/>
                </a:solidFill>
                <a:latin typeface="Consolas" pitchFamily="34" charset="0"/>
                <a:ea typeface="Consolas" pitchFamily="34" charset="-122"/>
                <a:cs typeface="Consolas" pitchFamily="34" charset="-120"/>
              </a:rPr>
              <a:t>«extend» on Inquiries</a:t>
            </a:r>
            <a:endParaRPr lang="en-US" sz="800" dirty="0"/>
          </a:p>
        </p:txBody>
      </p:sp>
      <p:sp>
        <p:nvSpPr>
          <p:cNvPr id="27" name="Shape 25"/>
          <p:cNvSpPr/>
          <p:nvPr/>
        </p:nvSpPr>
        <p:spPr>
          <a:xfrm>
            <a:off x="3291840" y="4297680"/>
            <a:ext cx="2743200" cy="685800"/>
          </a:xfrm>
          <a:prstGeom prst="ellipse">
            <a:avLst/>
          </a:prstGeom>
          <a:solidFill>
            <a:srgbClr val="FFFFFF"/>
          </a:solidFill>
          <a:ln w="12700">
            <a:solidFill>
              <a:srgbClr val="C99A2E"/>
            </a:solidFill>
            <a:prstDash val="solid"/>
          </a:ln>
        </p:spPr>
      </p:sp>
      <p:sp>
        <p:nvSpPr>
          <p:cNvPr id="28" name="Text 26"/>
          <p:cNvSpPr/>
          <p:nvPr/>
        </p:nvSpPr>
        <p:spPr>
          <a:xfrm>
            <a:off x="3383280" y="4370832"/>
            <a:ext cx="2560320" cy="347472"/>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UC5: Dispatch &amp; Return Outfit</a:t>
            </a:r>
            <a:endParaRPr lang="en-US" sz="950" dirty="0"/>
          </a:p>
        </p:txBody>
      </p:sp>
      <p:sp>
        <p:nvSpPr>
          <p:cNvPr id="29" name="Text 27"/>
          <p:cNvSpPr/>
          <p:nvPr/>
        </p:nvSpPr>
        <p:spPr>
          <a:xfrm>
            <a:off x="3383280" y="4700016"/>
            <a:ext cx="2560320" cy="228600"/>
          </a:xfrm>
          <a:prstGeom prst="rect">
            <a:avLst/>
          </a:prstGeom>
          <a:noFill/>
          <a:ln/>
        </p:spPr>
        <p:txBody>
          <a:bodyPr wrap="square" rtlCol="0" anchor="ctr"/>
          <a:lstStyle/>
          <a:p>
            <a:pPr algn="ctr" indent="0" marL="0">
              <a:buNone/>
            </a:pPr>
            <a:r>
              <a:rPr lang="en-US" sz="800" i="1" dirty="0">
                <a:solidFill>
                  <a:srgbClr val="7A5F20"/>
                </a:solidFill>
                <a:latin typeface="Consolas" pitchFamily="34" charset="0"/>
                <a:ea typeface="Consolas" pitchFamily="34" charset="-122"/>
                <a:cs typeface="Consolas" pitchFamily="34" charset="-120"/>
              </a:rPr>
              <a:t>Status Update</a:t>
            </a:r>
            <a:endParaRPr lang="en-US" sz="800" dirty="0"/>
          </a:p>
        </p:txBody>
      </p:sp>
      <p:sp>
        <p:nvSpPr>
          <p:cNvPr id="30" name="Shape 28"/>
          <p:cNvSpPr/>
          <p:nvPr/>
        </p:nvSpPr>
        <p:spPr>
          <a:xfrm>
            <a:off x="6400800" y="4297680"/>
            <a:ext cx="2560320" cy="685800"/>
          </a:xfrm>
          <a:prstGeom prst="ellipse">
            <a:avLst/>
          </a:prstGeom>
          <a:solidFill>
            <a:srgbClr val="FFFFFF"/>
          </a:solidFill>
          <a:ln w="12700">
            <a:solidFill>
              <a:srgbClr val="C99A2E"/>
            </a:solidFill>
            <a:prstDash val="solid"/>
          </a:ln>
        </p:spPr>
      </p:sp>
      <p:sp>
        <p:nvSpPr>
          <p:cNvPr id="31" name="Text 29"/>
          <p:cNvSpPr/>
          <p:nvPr/>
        </p:nvSpPr>
        <p:spPr>
          <a:xfrm>
            <a:off x="6492240" y="4370832"/>
            <a:ext cx="2377440" cy="347472"/>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UC6: Mediate Dispute &amp; Settle Escrow</a:t>
            </a:r>
            <a:endParaRPr lang="en-US" sz="950" dirty="0"/>
          </a:p>
        </p:txBody>
      </p:sp>
      <p:sp>
        <p:nvSpPr>
          <p:cNvPr id="32" name="Text 30"/>
          <p:cNvSpPr/>
          <p:nvPr/>
        </p:nvSpPr>
        <p:spPr>
          <a:xfrm>
            <a:off x="6492240" y="4700016"/>
            <a:ext cx="2377440" cy="228600"/>
          </a:xfrm>
          <a:prstGeom prst="rect">
            <a:avLst/>
          </a:prstGeom>
          <a:noFill/>
          <a:ln/>
        </p:spPr>
        <p:txBody>
          <a:bodyPr wrap="square" rtlCol="0" anchor="ctr"/>
          <a:lstStyle/>
          <a:p>
            <a:pPr algn="ctr" indent="0" marL="0">
              <a:buNone/>
            </a:pPr>
            <a:r>
              <a:rPr lang="en-US" sz="800" i="1" dirty="0">
                <a:solidFill>
                  <a:srgbClr val="7A5F20"/>
                </a:solidFill>
                <a:latin typeface="Consolas" pitchFamily="34" charset="0"/>
                <a:ea typeface="Consolas" pitchFamily="34" charset="-122"/>
                <a:cs typeface="Consolas" pitchFamily="34" charset="-120"/>
              </a:rPr>
              <a:t>«extend» on Damage</a:t>
            </a:r>
            <a:endParaRPr lang="en-US" sz="800" dirty="0"/>
          </a:p>
        </p:txBody>
      </p:sp>
      <p:sp>
        <p:nvSpPr>
          <p:cNvPr id="33" name="Shape 31"/>
          <p:cNvSpPr/>
          <p:nvPr/>
        </p:nvSpPr>
        <p:spPr>
          <a:xfrm>
            <a:off x="4846320" y="5212080"/>
            <a:ext cx="2743200" cy="685800"/>
          </a:xfrm>
          <a:prstGeom prst="ellipse">
            <a:avLst/>
          </a:prstGeom>
          <a:solidFill>
            <a:srgbClr val="FFFFFF"/>
          </a:solidFill>
          <a:ln w="12700">
            <a:solidFill>
              <a:srgbClr val="C99A2E"/>
            </a:solidFill>
            <a:prstDash val="solid"/>
          </a:ln>
        </p:spPr>
      </p:sp>
      <p:sp>
        <p:nvSpPr>
          <p:cNvPr id="34" name="Text 32"/>
          <p:cNvSpPr/>
          <p:nvPr/>
        </p:nvSpPr>
        <p:spPr>
          <a:xfrm>
            <a:off x="4937760" y="5285232"/>
            <a:ext cx="2560320" cy="347472"/>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UC7: Manage Boutique Inventory</a:t>
            </a:r>
            <a:endParaRPr lang="en-US" sz="950" dirty="0"/>
          </a:p>
        </p:txBody>
      </p:sp>
      <p:sp>
        <p:nvSpPr>
          <p:cNvPr id="35" name="Text 33"/>
          <p:cNvSpPr/>
          <p:nvPr/>
        </p:nvSpPr>
        <p:spPr>
          <a:xfrm>
            <a:off x="4937760" y="5614416"/>
            <a:ext cx="2560320" cy="228600"/>
          </a:xfrm>
          <a:prstGeom prst="rect">
            <a:avLst/>
          </a:prstGeom>
          <a:noFill/>
          <a:ln/>
        </p:spPr>
        <p:txBody>
          <a:bodyPr wrap="square" rtlCol="0" anchor="ctr"/>
          <a:lstStyle/>
          <a:p>
            <a:pPr algn="ctr" indent="0" marL="0">
              <a:buNone/>
            </a:pPr>
            <a:r>
              <a:rPr lang="en-US" sz="800" i="1" dirty="0">
                <a:solidFill>
                  <a:srgbClr val="7A5F20"/>
                </a:solidFill>
                <a:latin typeface="Consolas" pitchFamily="34" charset="0"/>
                <a:ea typeface="Consolas" pitchFamily="34" charset="-122"/>
                <a:cs typeface="Consolas" pitchFamily="34" charset="-120"/>
              </a:rPr>
              <a:t>Lender Core</a:t>
            </a:r>
            <a:endParaRPr lang="en-US" sz="800" dirty="0"/>
          </a:p>
        </p:txBody>
      </p:sp>
      <p:sp>
        <p:nvSpPr>
          <p:cNvPr id="36" name="Shape 34"/>
          <p:cNvSpPr/>
          <p:nvPr/>
        </p:nvSpPr>
        <p:spPr>
          <a:xfrm>
            <a:off x="9418320" y="2011680"/>
            <a:ext cx="2011680" cy="1920240"/>
          </a:xfrm>
          <a:prstGeom prst="roundRect">
            <a:avLst/>
          </a:prstGeom>
          <a:solidFill>
            <a:srgbClr val="FFFFFF"/>
          </a:solidFill>
          <a:ln w="19050">
            <a:solidFill>
              <a:srgbClr val="C99A2E"/>
            </a:solidFill>
            <a:prstDash val="solid"/>
          </a:ln>
        </p:spPr>
      </p:sp>
      <p:sp>
        <p:nvSpPr>
          <p:cNvPr id="37" name="Text 35"/>
          <p:cNvSpPr/>
          <p:nvPr/>
        </p:nvSpPr>
        <p:spPr>
          <a:xfrm>
            <a:off x="9509760" y="2103120"/>
            <a:ext cx="1828800" cy="457200"/>
          </a:xfrm>
          <a:prstGeom prst="rect">
            <a:avLst/>
          </a:prstGeom>
          <a:noFill/>
          <a:ln/>
        </p:spPr>
        <p:txBody>
          <a:bodyPr wrap="square" rtlCol="0" anchor="ctr"/>
          <a:lstStyle/>
          <a:p>
            <a:pPr algn="ctr" indent="0" marL="0">
              <a:buNone/>
            </a:pPr>
            <a:r>
              <a:rPr lang="en-US" sz="1100" b="1" dirty="0">
                <a:solidFill>
                  <a:srgbClr val="1A1618"/>
                </a:solidFill>
                <a:latin typeface="Georgia" pitchFamily="34" charset="0"/>
                <a:ea typeface="Georgia" pitchFamily="34" charset="-122"/>
                <a:cs typeface="Georgia" pitchFamily="34" charset="-120"/>
              </a:rPr>
              <a:t>ACTOR:</a:t>
            </a:r>
            <a:endParaRPr lang="en-US" sz="1100" dirty="0"/>
          </a:p>
          <a:p>
            <a:pPr algn="ctr" indent="0" marL="0">
              <a:buNone/>
            </a:pPr>
            <a:r>
              <a:rPr lang="en-US" sz="1100" b="1" dirty="0">
                <a:solidFill>
                  <a:srgbClr val="1A1618"/>
                </a:solidFill>
                <a:latin typeface="Georgia" pitchFamily="34" charset="0"/>
                <a:ea typeface="Georgia" pitchFamily="34" charset="-122"/>
                <a:cs typeface="Georgia" pitchFamily="34" charset="-120"/>
              </a:rPr>
              <a:t>BOUTIQUE LENDER</a:t>
            </a:r>
            <a:endParaRPr lang="en-US" sz="1100" dirty="0"/>
          </a:p>
        </p:txBody>
      </p:sp>
      <p:sp>
        <p:nvSpPr>
          <p:cNvPr id="38" name="Text 36"/>
          <p:cNvSpPr/>
          <p:nvPr/>
        </p:nvSpPr>
        <p:spPr>
          <a:xfrm>
            <a:off x="9601200" y="2606040"/>
            <a:ext cx="1645920" cy="1188720"/>
          </a:xfrm>
          <a:prstGeom prst="rect">
            <a:avLst/>
          </a:prstGeom>
          <a:noFill/>
          <a:ln/>
        </p:spPr>
        <p:txBody>
          <a:bodyPr wrap="square" rtlCol="0" anchor="ctr"/>
          <a:lstStyle/>
          <a:p>
            <a:pPr indent="0" marL="0">
              <a:buNone/>
            </a:pPr>
            <a:r>
              <a:rPr lang="en-US" sz="1000" dirty="0">
                <a:solidFill>
                  <a:srgbClr val="6B6367"/>
                </a:solidFill>
                <a:latin typeface="Arial" pitchFamily="34" charset="0"/>
                <a:ea typeface="Arial" pitchFamily="34" charset="-122"/>
                <a:cs typeface="Arial" pitchFamily="34" charset="-120"/>
              </a:rPr>
              <a:t>• List Garments</a:t>
            </a:r>
            <a:endParaRPr lang="en-US" sz="1000" dirty="0"/>
          </a:p>
          <a:p>
            <a:pPr indent="0" marL="0">
              <a:buNone/>
            </a:pPr>
            <a:r>
              <a:rPr lang="en-US" sz="1000" dirty="0">
                <a:solidFill>
                  <a:srgbClr val="6B6367"/>
                </a:solidFill>
                <a:latin typeface="Arial" pitchFamily="34" charset="0"/>
                <a:ea typeface="Arial" pitchFamily="34" charset="-122"/>
                <a:cs typeface="Arial" pitchFamily="34" charset="-120"/>
              </a:rPr>
              <a:t>• Track Orders</a:t>
            </a:r>
            <a:endParaRPr lang="en-US" sz="1000" dirty="0"/>
          </a:p>
          <a:p>
            <a:pPr indent="0" marL="0">
              <a:buNone/>
            </a:pPr>
            <a:r>
              <a:rPr lang="en-US" sz="1000" dirty="0">
                <a:solidFill>
                  <a:srgbClr val="6B6367"/>
                </a:solidFill>
                <a:latin typeface="Arial" pitchFamily="34" charset="0"/>
                <a:ea typeface="Arial" pitchFamily="34" charset="-122"/>
                <a:cs typeface="Arial" pitchFamily="34" charset="-120"/>
              </a:rPr>
              <a:t>• Sign Off Returns</a:t>
            </a:r>
            <a:endParaRPr lang="en-US" sz="1000" dirty="0"/>
          </a:p>
        </p:txBody>
      </p:sp>
      <p:sp>
        <p:nvSpPr>
          <p:cNvPr id="39" name="Shape 37"/>
          <p:cNvSpPr/>
          <p:nvPr/>
        </p:nvSpPr>
        <p:spPr>
          <a:xfrm>
            <a:off x="9418320" y="4114800"/>
            <a:ext cx="2011680" cy="1920240"/>
          </a:xfrm>
          <a:prstGeom prst="roundRect">
            <a:avLst/>
          </a:prstGeom>
          <a:solidFill>
            <a:srgbClr val="FFFFFF"/>
          </a:solidFill>
          <a:ln w="19050">
            <a:solidFill>
              <a:srgbClr val="C53030"/>
            </a:solidFill>
            <a:prstDash val="solid"/>
          </a:ln>
        </p:spPr>
      </p:sp>
      <p:sp>
        <p:nvSpPr>
          <p:cNvPr id="40" name="Text 38"/>
          <p:cNvSpPr/>
          <p:nvPr/>
        </p:nvSpPr>
        <p:spPr>
          <a:xfrm>
            <a:off x="9509760" y="4206240"/>
            <a:ext cx="1828800" cy="457200"/>
          </a:xfrm>
          <a:prstGeom prst="rect">
            <a:avLst/>
          </a:prstGeom>
          <a:noFill/>
          <a:ln/>
        </p:spPr>
        <p:txBody>
          <a:bodyPr wrap="square" rtlCol="0" anchor="ctr"/>
          <a:lstStyle/>
          <a:p>
            <a:pPr algn="ctr" indent="0" marL="0">
              <a:buNone/>
            </a:pPr>
            <a:r>
              <a:rPr lang="en-US" sz="1100" b="1" dirty="0">
                <a:solidFill>
                  <a:srgbClr val="C53030"/>
                </a:solidFill>
                <a:latin typeface="Georgia" pitchFamily="34" charset="0"/>
                <a:ea typeface="Georgia" pitchFamily="34" charset="-122"/>
                <a:cs typeface="Georgia" pitchFamily="34" charset="-120"/>
              </a:rPr>
              <a:t>ACTOR:</a:t>
            </a:r>
            <a:endParaRPr lang="en-US" sz="1100" dirty="0"/>
          </a:p>
          <a:p>
            <a:pPr algn="ctr" indent="0" marL="0">
              <a:buNone/>
            </a:pPr>
            <a:r>
              <a:rPr lang="en-US" sz="1100" b="1" dirty="0">
                <a:solidFill>
                  <a:srgbClr val="C53030"/>
                </a:solidFill>
                <a:latin typeface="Georgia" pitchFamily="34" charset="0"/>
                <a:ea typeface="Georgia" pitchFamily="34" charset="-122"/>
                <a:cs typeface="Georgia" pitchFamily="34" charset="-120"/>
              </a:rPr>
              <a:t>ADMINISTRATOR</a:t>
            </a:r>
            <a:endParaRPr lang="en-US" sz="1100" dirty="0"/>
          </a:p>
        </p:txBody>
      </p:sp>
      <p:sp>
        <p:nvSpPr>
          <p:cNvPr id="41" name="Text 39"/>
          <p:cNvSpPr/>
          <p:nvPr/>
        </p:nvSpPr>
        <p:spPr>
          <a:xfrm>
            <a:off x="9601200" y="4709160"/>
            <a:ext cx="1645920" cy="1188720"/>
          </a:xfrm>
          <a:prstGeom prst="rect">
            <a:avLst/>
          </a:prstGeom>
          <a:noFill/>
          <a:ln/>
        </p:spPr>
        <p:txBody>
          <a:bodyPr wrap="square" rtlCol="0" anchor="ctr"/>
          <a:lstStyle/>
          <a:p>
            <a:pPr indent="0" marL="0">
              <a:buNone/>
            </a:pPr>
            <a:r>
              <a:rPr lang="en-US" sz="1000" dirty="0">
                <a:solidFill>
                  <a:srgbClr val="6B6367"/>
                </a:solidFill>
                <a:latin typeface="Arial" pitchFamily="34" charset="0"/>
                <a:ea typeface="Arial" pitchFamily="34" charset="-122"/>
                <a:cs typeface="Arial" pitchFamily="34" charset="-120"/>
              </a:rPr>
              <a:t>• Audit Platform</a:t>
            </a:r>
            <a:endParaRPr lang="en-US" sz="1000" dirty="0"/>
          </a:p>
          <a:p>
            <a:pPr indent="0" marL="0">
              <a:buNone/>
            </a:pPr>
            <a:r>
              <a:rPr lang="en-US" sz="1000" dirty="0">
                <a:solidFill>
                  <a:srgbClr val="6B6367"/>
                </a:solidFill>
                <a:latin typeface="Arial" pitchFamily="34" charset="0"/>
                <a:ea typeface="Arial" pitchFamily="34" charset="-122"/>
                <a:cs typeface="Arial" pitchFamily="34" charset="-120"/>
              </a:rPr>
              <a:t>• Resolve Complaints</a:t>
            </a:r>
            <a:endParaRPr lang="en-US" sz="1000" dirty="0"/>
          </a:p>
          <a:p>
            <a:pPr indent="0" marL="0">
              <a:buNone/>
            </a:pPr>
            <a:r>
              <a:rPr lang="en-US" sz="1000" dirty="0">
                <a:solidFill>
                  <a:srgbClr val="6B6367"/>
                </a:solidFill>
                <a:latin typeface="Arial" pitchFamily="34" charset="0"/>
                <a:ea typeface="Arial" pitchFamily="34" charset="-122"/>
                <a:cs typeface="Arial" pitchFamily="34" charset="-120"/>
              </a:rPr>
              <a:t>• Release Escrow</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15 · ACT IV</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15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UML DYNAMIC INTERACTION MODEL</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Sequence Diagram: Rental Booking &amp; Deposit Escrow Lifecycle</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Lifelines, synchronous calls, return messages, and the conditional alternative fragment.</a:t>
            </a:r>
            <a:endParaRPr lang="en-US" sz="1300" dirty="0"/>
          </a:p>
        </p:txBody>
      </p:sp>
      <p:sp>
        <p:nvSpPr>
          <p:cNvPr id="10" name="Shape 8"/>
          <p:cNvSpPr/>
          <p:nvPr/>
        </p:nvSpPr>
        <p:spPr>
          <a:xfrm>
            <a:off x="457200" y="2011680"/>
            <a:ext cx="1280160" cy="411480"/>
          </a:xfrm>
          <a:prstGeom prst="rect">
            <a:avLst/>
          </a:prstGeom>
          <a:solidFill>
            <a:srgbClr val="FFFFFF"/>
          </a:solidFill>
          <a:ln w="12700">
            <a:solidFill>
              <a:srgbClr val="C99A2E"/>
            </a:solidFill>
            <a:prstDash val="solid"/>
          </a:ln>
        </p:spPr>
      </p:sp>
      <p:sp>
        <p:nvSpPr>
          <p:cNvPr id="11" name="Text 9"/>
          <p:cNvSpPr/>
          <p:nvPr/>
        </p:nvSpPr>
        <p:spPr>
          <a:xfrm>
            <a:off x="457200" y="2011680"/>
            <a:ext cx="1280160" cy="41148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:Renter</a:t>
            </a:r>
            <a:endParaRPr lang="en-US" sz="1000" dirty="0"/>
          </a:p>
        </p:txBody>
      </p:sp>
      <p:sp>
        <p:nvSpPr>
          <p:cNvPr id="12" name="Shape 10"/>
          <p:cNvSpPr/>
          <p:nvPr/>
        </p:nvSpPr>
        <p:spPr>
          <a:xfrm>
            <a:off x="1097280" y="2423160"/>
            <a:ext cx="0" cy="3657600"/>
          </a:xfrm>
          <a:prstGeom prst="line">
            <a:avLst/>
          </a:prstGeom>
          <a:noFill/>
          <a:ln w="12700">
            <a:solidFill>
              <a:srgbClr val="E2DACD"/>
            </a:solidFill>
            <a:prstDash val="dash"/>
          </a:ln>
        </p:spPr>
      </p:sp>
      <p:sp>
        <p:nvSpPr>
          <p:cNvPr id="13" name="Shape 11"/>
          <p:cNvSpPr/>
          <p:nvPr/>
        </p:nvSpPr>
        <p:spPr>
          <a:xfrm>
            <a:off x="2834640" y="2011680"/>
            <a:ext cx="1280160" cy="411480"/>
          </a:xfrm>
          <a:prstGeom prst="rect">
            <a:avLst/>
          </a:prstGeom>
          <a:solidFill>
            <a:srgbClr val="FFFFFF"/>
          </a:solidFill>
          <a:ln w="12700">
            <a:solidFill>
              <a:srgbClr val="C99A2E"/>
            </a:solidFill>
            <a:prstDash val="solid"/>
          </a:ln>
        </p:spPr>
      </p:sp>
      <p:sp>
        <p:nvSpPr>
          <p:cNvPr id="14" name="Text 12"/>
          <p:cNvSpPr/>
          <p:nvPr/>
        </p:nvSpPr>
        <p:spPr>
          <a:xfrm>
            <a:off x="2834640" y="2011680"/>
            <a:ext cx="1280160" cy="41148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:WebStoreUI</a:t>
            </a:r>
            <a:endParaRPr lang="en-US" sz="1000" dirty="0"/>
          </a:p>
        </p:txBody>
      </p:sp>
      <p:sp>
        <p:nvSpPr>
          <p:cNvPr id="15" name="Shape 13"/>
          <p:cNvSpPr/>
          <p:nvPr/>
        </p:nvSpPr>
        <p:spPr>
          <a:xfrm>
            <a:off x="3474720" y="2423160"/>
            <a:ext cx="0" cy="3657600"/>
          </a:xfrm>
          <a:prstGeom prst="line">
            <a:avLst/>
          </a:prstGeom>
          <a:noFill/>
          <a:ln w="12700">
            <a:solidFill>
              <a:srgbClr val="E2DACD"/>
            </a:solidFill>
            <a:prstDash val="dash"/>
          </a:ln>
        </p:spPr>
      </p:sp>
      <p:sp>
        <p:nvSpPr>
          <p:cNvPr id="16" name="Shape 14"/>
          <p:cNvSpPr/>
          <p:nvPr/>
        </p:nvSpPr>
        <p:spPr>
          <a:xfrm>
            <a:off x="5212080" y="2011680"/>
            <a:ext cx="1280160" cy="411480"/>
          </a:xfrm>
          <a:prstGeom prst="rect">
            <a:avLst/>
          </a:prstGeom>
          <a:solidFill>
            <a:srgbClr val="FFFFFF"/>
          </a:solidFill>
          <a:ln w="12700">
            <a:solidFill>
              <a:srgbClr val="C99A2E"/>
            </a:solidFill>
            <a:prstDash val="solid"/>
          </a:ln>
        </p:spPr>
      </p:sp>
      <p:sp>
        <p:nvSpPr>
          <p:cNvPr id="17" name="Text 15"/>
          <p:cNvSpPr/>
          <p:nvPr/>
        </p:nvSpPr>
        <p:spPr>
          <a:xfrm>
            <a:off x="5212080" y="2011680"/>
            <a:ext cx="1280160" cy="41148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:RentalEngine</a:t>
            </a:r>
            <a:endParaRPr lang="en-US" sz="1000" dirty="0"/>
          </a:p>
        </p:txBody>
      </p:sp>
      <p:sp>
        <p:nvSpPr>
          <p:cNvPr id="18" name="Shape 16"/>
          <p:cNvSpPr/>
          <p:nvPr/>
        </p:nvSpPr>
        <p:spPr>
          <a:xfrm>
            <a:off x="5852160" y="2423160"/>
            <a:ext cx="0" cy="3657600"/>
          </a:xfrm>
          <a:prstGeom prst="line">
            <a:avLst/>
          </a:prstGeom>
          <a:noFill/>
          <a:ln w="12700">
            <a:solidFill>
              <a:srgbClr val="E2DACD"/>
            </a:solidFill>
            <a:prstDash val="dash"/>
          </a:ln>
        </p:spPr>
      </p:sp>
      <p:sp>
        <p:nvSpPr>
          <p:cNvPr id="19" name="Shape 17"/>
          <p:cNvSpPr/>
          <p:nvPr/>
        </p:nvSpPr>
        <p:spPr>
          <a:xfrm>
            <a:off x="7589520" y="2011680"/>
            <a:ext cx="1280160" cy="411480"/>
          </a:xfrm>
          <a:prstGeom prst="rect">
            <a:avLst/>
          </a:prstGeom>
          <a:solidFill>
            <a:srgbClr val="FFFFFF"/>
          </a:solidFill>
          <a:ln w="12700">
            <a:solidFill>
              <a:srgbClr val="C99A2E"/>
            </a:solidFill>
            <a:prstDash val="solid"/>
          </a:ln>
        </p:spPr>
      </p:sp>
      <p:sp>
        <p:nvSpPr>
          <p:cNvPr id="20" name="Text 18"/>
          <p:cNvSpPr/>
          <p:nvPr/>
        </p:nvSpPr>
        <p:spPr>
          <a:xfrm>
            <a:off x="7589520" y="2011680"/>
            <a:ext cx="1280160" cy="41148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:BoutiqueLender</a:t>
            </a:r>
            <a:endParaRPr lang="en-US" sz="1000" dirty="0"/>
          </a:p>
        </p:txBody>
      </p:sp>
      <p:sp>
        <p:nvSpPr>
          <p:cNvPr id="21" name="Shape 19"/>
          <p:cNvSpPr/>
          <p:nvPr/>
        </p:nvSpPr>
        <p:spPr>
          <a:xfrm>
            <a:off x="8229600" y="2423160"/>
            <a:ext cx="0" cy="3657600"/>
          </a:xfrm>
          <a:prstGeom prst="line">
            <a:avLst/>
          </a:prstGeom>
          <a:noFill/>
          <a:ln w="12700">
            <a:solidFill>
              <a:srgbClr val="E2DACD"/>
            </a:solidFill>
            <a:prstDash val="dash"/>
          </a:ln>
        </p:spPr>
      </p:sp>
      <p:sp>
        <p:nvSpPr>
          <p:cNvPr id="22" name="Shape 20"/>
          <p:cNvSpPr/>
          <p:nvPr/>
        </p:nvSpPr>
        <p:spPr>
          <a:xfrm>
            <a:off x="9875520" y="2011680"/>
            <a:ext cx="1280160" cy="411480"/>
          </a:xfrm>
          <a:prstGeom prst="rect">
            <a:avLst/>
          </a:prstGeom>
          <a:solidFill>
            <a:srgbClr val="FFFFFF"/>
          </a:solidFill>
          <a:ln w="12700">
            <a:solidFill>
              <a:srgbClr val="C99A2E"/>
            </a:solidFill>
            <a:prstDash val="solid"/>
          </a:ln>
        </p:spPr>
      </p:sp>
      <p:sp>
        <p:nvSpPr>
          <p:cNvPr id="23" name="Text 21"/>
          <p:cNvSpPr/>
          <p:nvPr/>
        </p:nvSpPr>
        <p:spPr>
          <a:xfrm>
            <a:off x="9875520" y="2011680"/>
            <a:ext cx="1280160" cy="41148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:EscrowVault</a:t>
            </a:r>
            <a:endParaRPr lang="en-US" sz="1000" dirty="0"/>
          </a:p>
        </p:txBody>
      </p:sp>
      <p:sp>
        <p:nvSpPr>
          <p:cNvPr id="24" name="Shape 22"/>
          <p:cNvSpPr/>
          <p:nvPr/>
        </p:nvSpPr>
        <p:spPr>
          <a:xfrm>
            <a:off x="10515600" y="2423160"/>
            <a:ext cx="0" cy="3657600"/>
          </a:xfrm>
          <a:prstGeom prst="line">
            <a:avLst/>
          </a:prstGeom>
          <a:noFill/>
          <a:ln w="12700">
            <a:solidFill>
              <a:srgbClr val="E2DACD"/>
            </a:solidFill>
            <a:prstDash val="dash"/>
          </a:ln>
        </p:spPr>
      </p:sp>
      <p:sp>
        <p:nvSpPr>
          <p:cNvPr id="25" name="Shape 23"/>
          <p:cNvSpPr/>
          <p:nvPr/>
        </p:nvSpPr>
        <p:spPr>
          <a:xfrm>
            <a:off x="1097280" y="2651760"/>
            <a:ext cx="2377440" cy="0"/>
          </a:xfrm>
          <a:prstGeom prst="line">
            <a:avLst/>
          </a:prstGeom>
          <a:noFill/>
          <a:ln w="19050">
            <a:solidFill>
              <a:srgbClr val="7A5F20"/>
            </a:solidFill>
            <a:prstDash val="solid"/>
          </a:ln>
        </p:spPr>
      </p:sp>
      <p:sp>
        <p:nvSpPr>
          <p:cNvPr id="26" name="Text 24"/>
          <p:cNvSpPr/>
          <p:nvPr/>
        </p:nvSpPr>
        <p:spPr>
          <a:xfrm>
            <a:off x="1188720" y="2395728"/>
            <a:ext cx="219456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1: selectDates(outfitId, 3days)</a:t>
            </a:r>
            <a:endParaRPr lang="en-US" sz="850" dirty="0"/>
          </a:p>
        </p:txBody>
      </p:sp>
      <p:sp>
        <p:nvSpPr>
          <p:cNvPr id="27" name="Shape 25"/>
          <p:cNvSpPr/>
          <p:nvPr/>
        </p:nvSpPr>
        <p:spPr>
          <a:xfrm>
            <a:off x="3474720" y="3017520"/>
            <a:ext cx="2377440" cy="0"/>
          </a:xfrm>
          <a:prstGeom prst="line">
            <a:avLst/>
          </a:prstGeom>
          <a:noFill/>
          <a:ln w="19050">
            <a:solidFill>
              <a:srgbClr val="7A5F20"/>
            </a:solidFill>
            <a:prstDash val="solid"/>
          </a:ln>
        </p:spPr>
      </p:sp>
      <p:sp>
        <p:nvSpPr>
          <p:cNvPr id="28" name="Text 26"/>
          <p:cNvSpPr/>
          <p:nvPr/>
        </p:nvSpPr>
        <p:spPr>
          <a:xfrm>
            <a:off x="3566160" y="2761488"/>
            <a:ext cx="219456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2: checkAvailabilityAndDeposit()</a:t>
            </a:r>
            <a:endParaRPr lang="en-US" sz="850" dirty="0"/>
          </a:p>
        </p:txBody>
      </p:sp>
      <p:sp>
        <p:nvSpPr>
          <p:cNvPr id="29" name="Shape 27"/>
          <p:cNvSpPr/>
          <p:nvPr/>
        </p:nvSpPr>
        <p:spPr>
          <a:xfrm>
            <a:off x="3474720" y="3383280"/>
            <a:ext cx="2377440" cy="0"/>
          </a:xfrm>
          <a:prstGeom prst="line">
            <a:avLst/>
          </a:prstGeom>
          <a:noFill/>
          <a:ln w="19050">
            <a:solidFill>
              <a:srgbClr val="1E7E55"/>
            </a:solidFill>
            <a:prstDash val="dash"/>
          </a:ln>
        </p:spPr>
      </p:sp>
      <p:sp>
        <p:nvSpPr>
          <p:cNvPr id="30" name="Text 28"/>
          <p:cNvSpPr/>
          <p:nvPr/>
        </p:nvSpPr>
        <p:spPr>
          <a:xfrm>
            <a:off x="3566160" y="3127248"/>
            <a:ext cx="219456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3: return priceQuote + depositRequired</a:t>
            </a:r>
            <a:endParaRPr lang="en-US" sz="850" dirty="0"/>
          </a:p>
        </p:txBody>
      </p:sp>
      <p:sp>
        <p:nvSpPr>
          <p:cNvPr id="31" name="Shape 29"/>
          <p:cNvSpPr/>
          <p:nvPr/>
        </p:nvSpPr>
        <p:spPr>
          <a:xfrm>
            <a:off x="1097280" y="3749040"/>
            <a:ext cx="9418320" cy="0"/>
          </a:xfrm>
          <a:prstGeom prst="line">
            <a:avLst/>
          </a:prstGeom>
          <a:noFill/>
          <a:ln w="19050">
            <a:solidFill>
              <a:srgbClr val="7A5F20"/>
            </a:solidFill>
            <a:prstDash val="solid"/>
          </a:ln>
        </p:spPr>
      </p:sp>
      <p:sp>
        <p:nvSpPr>
          <p:cNvPr id="32" name="Text 30"/>
          <p:cNvSpPr/>
          <p:nvPr/>
        </p:nvSpPr>
        <p:spPr>
          <a:xfrm>
            <a:off x="1188720" y="3493008"/>
            <a:ext cx="923544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4: submitPayment(RentalFee + SecurityDeposit)</a:t>
            </a:r>
            <a:endParaRPr lang="en-US" sz="850" dirty="0"/>
          </a:p>
        </p:txBody>
      </p:sp>
      <p:sp>
        <p:nvSpPr>
          <p:cNvPr id="33" name="Shape 31"/>
          <p:cNvSpPr/>
          <p:nvPr/>
        </p:nvSpPr>
        <p:spPr>
          <a:xfrm>
            <a:off x="5852160" y="4114800"/>
            <a:ext cx="4663440" cy="0"/>
          </a:xfrm>
          <a:prstGeom prst="line">
            <a:avLst/>
          </a:prstGeom>
          <a:noFill/>
          <a:ln w="19050">
            <a:solidFill>
              <a:srgbClr val="7A5F20"/>
            </a:solidFill>
            <a:prstDash val="solid"/>
          </a:ln>
        </p:spPr>
      </p:sp>
      <p:sp>
        <p:nvSpPr>
          <p:cNvPr id="34" name="Text 32"/>
          <p:cNvSpPr/>
          <p:nvPr/>
        </p:nvSpPr>
        <p:spPr>
          <a:xfrm>
            <a:off x="5943600" y="3858768"/>
            <a:ext cx="448056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5: lockDepositInEscrow(orderId)</a:t>
            </a:r>
            <a:endParaRPr lang="en-US" sz="850" dirty="0"/>
          </a:p>
        </p:txBody>
      </p:sp>
      <p:sp>
        <p:nvSpPr>
          <p:cNvPr id="35" name="Shape 33"/>
          <p:cNvSpPr/>
          <p:nvPr/>
        </p:nvSpPr>
        <p:spPr>
          <a:xfrm>
            <a:off x="5852160" y="4480560"/>
            <a:ext cx="2377440" cy="0"/>
          </a:xfrm>
          <a:prstGeom prst="line">
            <a:avLst/>
          </a:prstGeom>
          <a:noFill/>
          <a:ln w="19050">
            <a:solidFill>
              <a:srgbClr val="1E7E55"/>
            </a:solidFill>
            <a:prstDash val="dash"/>
          </a:ln>
        </p:spPr>
      </p:sp>
      <p:sp>
        <p:nvSpPr>
          <p:cNvPr id="36" name="Text 34"/>
          <p:cNvSpPr/>
          <p:nvPr/>
        </p:nvSpPr>
        <p:spPr>
          <a:xfrm>
            <a:off x="5943600" y="4224528"/>
            <a:ext cx="219456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6: notifyOrderBooked(dispatchDate)</a:t>
            </a:r>
            <a:endParaRPr lang="en-US" sz="850" dirty="0"/>
          </a:p>
        </p:txBody>
      </p:sp>
      <p:sp>
        <p:nvSpPr>
          <p:cNvPr id="37" name="Shape 35"/>
          <p:cNvSpPr/>
          <p:nvPr/>
        </p:nvSpPr>
        <p:spPr>
          <a:xfrm>
            <a:off x="5852160" y="4846320"/>
            <a:ext cx="2377440" cy="0"/>
          </a:xfrm>
          <a:prstGeom prst="line">
            <a:avLst/>
          </a:prstGeom>
          <a:noFill/>
          <a:ln w="19050">
            <a:solidFill>
              <a:srgbClr val="7A5F20"/>
            </a:solidFill>
            <a:prstDash val="solid"/>
          </a:ln>
        </p:spPr>
      </p:sp>
      <p:sp>
        <p:nvSpPr>
          <p:cNvPr id="38" name="Text 36"/>
          <p:cNvSpPr/>
          <p:nvPr/>
        </p:nvSpPr>
        <p:spPr>
          <a:xfrm>
            <a:off x="5943600" y="4590288"/>
            <a:ext cx="219456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7: confirmGarmentDispatched(trackingCode)</a:t>
            </a:r>
            <a:endParaRPr lang="en-US" sz="850" dirty="0"/>
          </a:p>
        </p:txBody>
      </p:sp>
      <p:sp>
        <p:nvSpPr>
          <p:cNvPr id="39" name="Shape 37"/>
          <p:cNvSpPr/>
          <p:nvPr/>
        </p:nvSpPr>
        <p:spPr>
          <a:xfrm>
            <a:off x="5852160" y="5212080"/>
            <a:ext cx="4663440" cy="0"/>
          </a:xfrm>
          <a:prstGeom prst="line">
            <a:avLst/>
          </a:prstGeom>
          <a:noFill/>
          <a:ln w="19050">
            <a:solidFill>
              <a:srgbClr val="7A5F20"/>
            </a:solidFill>
            <a:prstDash val="solid"/>
          </a:ln>
        </p:spPr>
      </p:sp>
      <p:sp>
        <p:nvSpPr>
          <p:cNvPr id="40" name="Text 38"/>
          <p:cNvSpPr/>
          <p:nvPr/>
        </p:nvSpPr>
        <p:spPr>
          <a:xfrm>
            <a:off x="5943600" y="4956048"/>
            <a:ext cx="448056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8: [Post-Return OK] releaseDepositToRenter()</a:t>
            </a:r>
            <a:endParaRPr lang="en-US" sz="850" dirty="0"/>
          </a:p>
        </p:txBody>
      </p:sp>
      <p:sp>
        <p:nvSpPr>
          <p:cNvPr id="41" name="Shape 39"/>
          <p:cNvSpPr/>
          <p:nvPr/>
        </p:nvSpPr>
        <p:spPr>
          <a:xfrm>
            <a:off x="1097280" y="5577840"/>
            <a:ext cx="9418320" cy="0"/>
          </a:xfrm>
          <a:prstGeom prst="line">
            <a:avLst/>
          </a:prstGeom>
          <a:noFill/>
          <a:ln w="19050">
            <a:solidFill>
              <a:srgbClr val="1E7E55"/>
            </a:solidFill>
            <a:prstDash val="dash"/>
          </a:ln>
        </p:spPr>
      </p:sp>
      <p:sp>
        <p:nvSpPr>
          <p:cNvPr id="42" name="Text 40"/>
          <p:cNvSpPr/>
          <p:nvPr/>
        </p:nvSpPr>
        <p:spPr>
          <a:xfrm>
            <a:off x="1188720" y="5321808"/>
            <a:ext cx="9235440" cy="228600"/>
          </a:xfrm>
          <a:prstGeom prst="rect">
            <a:avLst/>
          </a:prstGeom>
          <a:noFill/>
          <a:ln/>
        </p:spPr>
        <p:txBody>
          <a:bodyPr wrap="square" rtlCol="0" anchor="ctr"/>
          <a:lstStyle/>
          <a:p>
            <a:pPr algn="ctr" indent="0" marL="0">
              <a:buNone/>
            </a:pPr>
            <a:r>
              <a:rPr lang="en-US" sz="850" dirty="0">
                <a:solidFill>
                  <a:srgbClr val="1A1618"/>
                </a:solidFill>
                <a:latin typeface="Consolas" pitchFamily="34" charset="0"/>
                <a:ea typeface="Consolas" pitchFamily="34" charset="-122"/>
                <a:cs typeface="Consolas" pitchFamily="34" charset="-120"/>
              </a:rPr>
              <a:t>9: notifyDepositRefundComplete()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16 · ACT IV</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16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UML PROCESS WORKFLOW</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Activity Diagram: Multi-Swimlane Order Fulfillment</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Parallel activity flows across Renter, Boutique Lender, and Platform System.</a:t>
            </a:r>
            <a:endParaRPr lang="en-US" sz="1300" dirty="0"/>
          </a:p>
        </p:txBody>
      </p:sp>
      <p:sp>
        <p:nvSpPr>
          <p:cNvPr id="10" name="Shape 8"/>
          <p:cNvSpPr/>
          <p:nvPr/>
        </p:nvSpPr>
        <p:spPr>
          <a:xfrm>
            <a:off x="731520" y="2011680"/>
            <a:ext cx="3383280" cy="4023360"/>
          </a:xfrm>
          <a:prstGeom prst="rect">
            <a:avLst/>
          </a:prstGeom>
          <a:solidFill>
            <a:srgbClr val="FFFFFF"/>
          </a:solidFill>
          <a:ln w="12700">
            <a:solidFill>
              <a:srgbClr val="7A5F20"/>
            </a:solidFill>
            <a:prstDash val="solid"/>
          </a:ln>
        </p:spPr>
      </p:sp>
      <p:sp>
        <p:nvSpPr>
          <p:cNvPr id="11" name="Shape 9"/>
          <p:cNvSpPr/>
          <p:nvPr/>
        </p:nvSpPr>
        <p:spPr>
          <a:xfrm>
            <a:off x="731520" y="2011680"/>
            <a:ext cx="3383280" cy="365760"/>
          </a:xfrm>
          <a:prstGeom prst="rect">
            <a:avLst/>
          </a:prstGeom>
          <a:solidFill>
            <a:srgbClr val="EFE9E0"/>
          </a:solidFill>
          <a:ln/>
        </p:spPr>
      </p:sp>
      <p:sp>
        <p:nvSpPr>
          <p:cNvPr id="12" name="Text 10"/>
          <p:cNvSpPr/>
          <p:nvPr/>
        </p:nvSpPr>
        <p:spPr>
          <a:xfrm>
            <a:off x="731520" y="2011680"/>
            <a:ext cx="3383280" cy="365760"/>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SWIMLANE 1: RENTER</a:t>
            </a:r>
            <a:endParaRPr lang="en-US" sz="950" dirty="0"/>
          </a:p>
        </p:txBody>
      </p:sp>
      <p:sp>
        <p:nvSpPr>
          <p:cNvPr id="13" name="Shape 11"/>
          <p:cNvSpPr/>
          <p:nvPr/>
        </p:nvSpPr>
        <p:spPr>
          <a:xfrm>
            <a:off x="4297680" y="2011680"/>
            <a:ext cx="3383280" cy="4023360"/>
          </a:xfrm>
          <a:prstGeom prst="rect">
            <a:avLst/>
          </a:prstGeom>
          <a:solidFill>
            <a:srgbClr val="FFFFFF"/>
          </a:solidFill>
          <a:ln w="12700">
            <a:solidFill>
              <a:srgbClr val="7A5F20"/>
            </a:solidFill>
            <a:prstDash val="solid"/>
          </a:ln>
        </p:spPr>
      </p:sp>
      <p:sp>
        <p:nvSpPr>
          <p:cNvPr id="14" name="Shape 12"/>
          <p:cNvSpPr/>
          <p:nvPr/>
        </p:nvSpPr>
        <p:spPr>
          <a:xfrm>
            <a:off x="4297680" y="2011680"/>
            <a:ext cx="3383280" cy="365760"/>
          </a:xfrm>
          <a:prstGeom prst="rect">
            <a:avLst/>
          </a:prstGeom>
          <a:solidFill>
            <a:srgbClr val="EFE9E0"/>
          </a:solidFill>
          <a:ln/>
        </p:spPr>
      </p:sp>
      <p:sp>
        <p:nvSpPr>
          <p:cNvPr id="15" name="Text 13"/>
          <p:cNvSpPr/>
          <p:nvPr/>
        </p:nvSpPr>
        <p:spPr>
          <a:xfrm>
            <a:off x="4297680" y="2011680"/>
            <a:ext cx="3383280" cy="365760"/>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SWIMLANE 2: BOUTIQUE LENDER</a:t>
            </a:r>
            <a:endParaRPr lang="en-US" sz="950" dirty="0"/>
          </a:p>
        </p:txBody>
      </p:sp>
      <p:sp>
        <p:nvSpPr>
          <p:cNvPr id="16" name="Shape 14"/>
          <p:cNvSpPr/>
          <p:nvPr/>
        </p:nvSpPr>
        <p:spPr>
          <a:xfrm>
            <a:off x="7863840" y="2011680"/>
            <a:ext cx="3566160" cy="4023360"/>
          </a:xfrm>
          <a:prstGeom prst="rect">
            <a:avLst/>
          </a:prstGeom>
          <a:solidFill>
            <a:srgbClr val="FFFFFF"/>
          </a:solidFill>
          <a:ln w="12700">
            <a:solidFill>
              <a:srgbClr val="7A5F20"/>
            </a:solidFill>
            <a:prstDash val="solid"/>
          </a:ln>
        </p:spPr>
      </p:sp>
      <p:sp>
        <p:nvSpPr>
          <p:cNvPr id="17" name="Shape 15"/>
          <p:cNvSpPr/>
          <p:nvPr/>
        </p:nvSpPr>
        <p:spPr>
          <a:xfrm>
            <a:off x="7863840" y="2011680"/>
            <a:ext cx="3566160" cy="365760"/>
          </a:xfrm>
          <a:prstGeom prst="rect">
            <a:avLst/>
          </a:prstGeom>
          <a:solidFill>
            <a:srgbClr val="EFE9E0"/>
          </a:solidFill>
          <a:ln/>
        </p:spPr>
      </p:sp>
      <p:sp>
        <p:nvSpPr>
          <p:cNvPr id="18" name="Text 16"/>
          <p:cNvSpPr/>
          <p:nvPr/>
        </p:nvSpPr>
        <p:spPr>
          <a:xfrm>
            <a:off x="7863840" y="2011680"/>
            <a:ext cx="3566160" cy="365760"/>
          </a:xfrm>
          <a:prstGeom prst="rect">
            <a:avLst/>
          </a:prstGeom>
          <a:noFill/>
          <a:ln/>
        </p:spPr>
        <p:txBody>
          <a:bodyPr wrap="square" rtlCol="0" anchor="ctr"/>
          <a:lstStyle/>
          <a:p>
            <a:pPr algn="ctr" indent="0" marL="0">
              <a:buNone/>
            </a:pPr>
            <a:r>
              <a:rPr lang="en-US" sz="950" b="1" dirty="0">
                <a:solidFill>
                  <a:srgbClr val="1A1618"/>
                </a:solidFill>
                <a:latin typeface="Arial" pitchFamily="34" charset="0"/>
                <a:ea typeface="Arial" pitchFamily="34" charset="-122"/>
                <a:cs typeface="Arial" pitchFamily="34" charset="-120"/>
              </a:rPr>
              <a:t>SWIMLANE 3: SYSTEM ESCROW / ADMIN</a:t>
            </a:r>
            <a:endParaRPr lang="en-US" sz="950" dirty="0"/>
          </a:p>
        </p:txBody>
      </p:sp>
      <p:sp>
        <p:nvSpPr>
          <p:cNvPr id="19" name="Shape 17"/>
          <p:cNvSpPr/>
          <p:nvPr/>
        </p:nvSpPr>
        <p:spPr>
          <a:xfrm>
            <a:off x="1005840" y="2560320"/>
            <a:ext cx="2834640" cy="502920"/>
          </a:xfrm>
          <a:prstGeom prst="roundRect">
            <a:avLst/>
          </a:prstGeom>
          <a:solidFill>
            <a:srgbClr val="FFFFFF"/>
          </a:solidFill>
          <a:ln w="12700">
            <a:solidFill>
              <a:srgbClr val="C99A2E"/>
            </a:solidFill>
            <a:prstDash val="solid"/>
          </a:ln>
        </p:spPr>
      </p:sp>
      <p:sp>
        <p:nvSpPr>
          <p:cNvPr id="20" name="Text 18"/>
          <p:cNvSpPr/>
          <p:nvPr/>
        </p:nvSpPr>
        <p:spPr>
          <a:xfrm>
            <a:off x="1005840" y="2560320"/>
            <a:ext cx="2834640" cy="502920"/>
          </a:xfrm>
          <a:prstGeom prst="rect">
            <a:avLst/>
          </a:prstGeom>
          <a:noFill/>
          <a:ln/>
        </p:spPr>
        <p:txBody>
          <a:bodyPr wrap="square" rtlCol="0" anchor="ctr"/>
          <a:lstStyle/>
          <a:p>
            <a:pPr algn="ctr" indent="0" marL="0">
              <a:buNone/>
            </a:pPr>
            <a:r>
              <a:rPr lang="en-US" sz="1000" dirty="0">
                <a:solidFill>
                  <a:srgbClr val="000000"/>
                </a:solidFill>
                <a:latin typeface="Arial" pitchFamily="34" charset="0"/>
                <a:ea typeface="Arial" pitchFamily="34" charset="-122"/>
                <a:cs typeface="Arial" pitchFamily="34" charset="-120"/>
              </a:rPr>
              <a:t>Browse &amp; Select Rental Dates</a:t>
            </a:r>
            <a:endParaRPr lang="en-US" sz="1000" dirty="0"/>
          </a:p>
        </p:txBody>
      </p:sp>
      <p:sp>
        <p:nvSpPr>
          <p:cNvPr id="21" name="Shape 19"/>
          <p:cNvSpPr/>
          <p:nvPr/>
        </p:nvSpPr>
        <p:spPr>
          <a:xfrm>
            <a:off x="1005840" y="3291840"/>
            <a:ext cx="2834640" cy="502920"/>
          </a:xfrm>
          <a:prstGeom prst="roundRect">
            <a:avLst/>
          </a:prstGeom>
          <a:solidFill>
            <a:srgbClr val="FFFFFF"/>
          </a:solidFill>
          <a:ln w="12700">
            <a:solidFill>
              <a:srgbClr val="C99A2E"/>
            </a:solidFill>
            <a:prstDash val="solid"/>
          </a:ln>
        </p:spPr>
      </p:sp>
      <p:sp>
        <p:nvSpPr>
          <p:cNvPr id="22" name="Text 20"/>
          <p:cNvSpPr/>
          <p:nvPr/>
        </p:nvSpPr>
        <p:spPr>
          <a:xfrm>
            <a:off x="1005840" y="3291840"/>
            <a:ext cx="2834640" cy="502920"/>
          </a:xfrm>
          <a:prstGeom prst="rect">
            <a:avLst/>
          </a:prstGeom>
          <a:noFill/>
          <a:ln/>
        </p:spPr>
        <p:txBody>
          <a:bodyPr wrap="square" rtlCol="0" anchor="ctr"/>
          <a:lstStyle/>
          <a:p>
            <a:pPr algn="ctr" indent="0" marL="0">
              <a:buNone/>
            </a:pPr>
            <a:r>
              <a:rPr lang="en-US" sz="1000" dirty="0">
                <a:solidFill>
                  <a:srgbClr val="000000"/>
                </a:solidFill>
                <a:latin typeface="Arial" pitchFamily="34" charset="0"/>
                <a:ea typeface="Arial" pitchFamily="34" charset="-122"/>
                <a:cs typeface="Arial" pitchFamily="34" charset="-120"/>
              </a:rPr>
              <a:t>Remit Rental Fee + Deposit</a:t>
            </a:r>
            <a:endParaRPr lang="en-US" sz="1000" dirty="0"/>
          </a:p>
        </p:txBody>
      </p:sp>
      <p:sp>
        <p:nvSpPr>
          <p:cNvPr id="23" name="Shape 21"/>
          <p:cNvSpPr/>
          <p:nvPr/>
        </p:nvSpPr>
        <p:spPr>
          <a:xfrm>
            <a:off x="1005840" y="4754880"/>
            <a:ext cx="2834640" cy="502920"/>
          </a:xfrm>
          <a:prstGeom prst="roundRect">
            <a:avLst/>
          </a:prstGeom>
          <a:solidFill>
            <a:srgbClr val="FFFFFF"/>
          </a:solidFill>
          <a:ln w="12700">
            <a:solidFill>
              <a:srgbClr val="C99A2E"/>
            </a:solidFill>
            <a:prstDash val="solid"/>
          </a:ln>
        </p:spPr>
      </p:sp>
      <p:sp>
        <p:nvSpPr>
          <p:cNvPr id="24" name="Text 22"/>
          <p:cNvSpPr/>
          <p:nvPr/>
        </p:nvSpPr>
        <p:spPr>
          <a:xfrm>
            <a:off x="1005840" y="4754880"/>
            <a:ext cx="2834640" cy="502920"/>
          </a:xfrm>
          <a:prstGeom prst="rect">
            <a:avLst/>
          </a:prstGeom>
          <a:noFill/>
          <a:ln/>
        </p:spPr>
        <p:txBody>
          <a:bodyPr wrap="square" rtlCol="0" anchor="ctr"/>
          <a:lstStyle/>
          <a:p>
            <a:pPr algn="ctr" indent="0" marL="0">
              <a:buNone/>
            </a:pPr>
            <a:r>
              <a:rPr lang="en-US" sz="1000" dirty="0">
                <a:solidFill>
                  <a:srgbClr val="000000"/>
                </a:solidFill>
                <a:latin typeface="Arial" pitchFamily="34" charset="0"/>
                <a:ea typeface="Arial" pitchFamily="34" charset="-122"/>
                <a:cs typeface="Arial" pitchFamily="34" charset="-120"/>
              </a:rPr>
              <a:t>Wear Garment &amp; Return by End Date</a:t>
            </a:r>
            <a:endParaRPr lang="en-US" sz="1000" dirty="0"/>
          </a:p>
        </p:txBody>
      </p:sp>
      <p:sp>
        <p:nvSpPr>
          <p:cNvPr id="25" name="Shape 23"/>
          <p:cNvSpPr/>
          <p:nvPr/>
        </p:nvSpPr>
        <p:spPr>
          <a:xfrm>
            <a:off x="4572000" y="3291840"/>
            <a:ext cx="2834640" cy="502920"/>
          </a:xfrm>
          <a:prstGeom prst="roundRect">
            <a:avLst/>
          </a:prstGeom>
          <a:solidFill>
            <a:srgbClr val="FFFFFF"/>
          </a:solidFill>
          <a:ln w="12700">
            <a:solidFill>
              <a:srgbClr val="C99A2E"/>
            </a:solidFill>
            <a:prstDash val="solid"/>
          </a:ln>
        </p:spPr>
      </p:sp>
      <p:sp>
        <p:nvSpPr>
          <p:cNvPr id="26" name="Text 24"/>
          <p:cNvSpPr/>
          <p:nvPr/>
        </p:nvSpPr>
        <p:spPr>
          <a:xfrm>
            <a:off x="4572000" y="3291840"/>
            <a:ext cx="2834640" cy="502920"/>
          </a:xfrm>
          <a:prstGeom prst="rect">
            <a:avLst/>
          </a:prstGeom>
          <a:noFill/>
          <a:ln/>
        </p:spPr>
        <p:txBody>
          <a:bodyPr wrap="square" rtlCol="0" anchor="ctr"/>
          <a:lstStyle/>
          <a:p>
            <a:pPr algn="ctr" indent="0" marL="0">
              <a:buNone/>
            </a:pPr>
            <a:r>
              <a:rPr lang="en-US" sz="1000" dirty="0">
                <a:solidFill>
                  <a:srgbClr val="000000"/>
                </a:solidFill>
                <a:latin typeface="Arial" pitchFamily="34" charset="0"/>
                <a:ea typeface="Arial" pitchFamily="34" charset="-122"/>
                <a:cs typeface="Arial" pitchFamily="34" charset="-120"/>
              </a:rPr>
              <a:t>Receive Order &amp; Pack Garment</a:t>
            </a:r>
            <a:endParaRPr lang="en-US" sz="1000" dirty="0"/>
          </a:p>
        </p:txBody>
      </p:sp>
      <p:sp>
        <p:nvSpPr>
          <p:cNvPr id="27" name="Shape 25"/>
          <p:cNvSpPr/>
          <p:nvPr/>
        </p:nvSpPr>
        <p:spPr>
          <a:xfrm>
            <a:off x="4572000" y="4023360"/>
            <a:ext cx="2834640" cy="502920"/>
          </a:xfrm>
          <a:prstGeom prst="roundRect">
            <a:avLst/>
          </a:prstGeom>
          <a:solidFill>
            <a:srgbClr val="FFFFFF"/>
          </a:solidFill>
          <a:ln w="12700">
            <a:solidFill>
              <a:srgbClr val="C99A2E"/>
            </a:solidFill>
            <a:prstDash val="solid"/>
          </a:ln>
        </p:spPr>
      </p:sp>
      <p:sp>
        <p:nvSpPr>
          <p:cNvPr id="28" name="Text 26"/>
          <p:cNvSpPr/>
          <p:nvPr/>
        </p:nvSpPr>
        <p:spPr>
          <a:xfrm>
            <a:off x="4572000" y="4023360"/>
            <a:ext cx="2834640" cy="502920"/>
          </a:xfrm>
          <a:prstGeom prst="rect">
            <a:avLst/>
          </a:prstGeom>
          <a:noFill/>
          <a:ln/>
        </p:spPr>
        <p:txBody>
          <a:bodyPr wrap="square" rtlCol="0" anchor="ctr"/>
          <a:lstStyle/>
          <a:p>
            <a:pPr algn="ctr" indent="0" marL="0">
              <a:buNone/>
            </a:pPr>
            <a:r>
              <a:rPr lang="en-US" sz="1000" dirty="0">
                <a:solidFill>
                  <a:srgbClr val="000000"/>
                </a:solidFill>
                <a:latin typeface="Arial" pitchFamily="34" charset="0"/>
                <a:ea typeface="Arial" pitchFamily="34" charset="-122"/>
                <a:cs typeface="Arial" pitchFamily="34" charset="-120"/>
              </a:rPr>
              <a:t>Dispatch via Courier &amp; Add Tracking</a:t>
            </a:r>
            <a:endParaRPr lang="en-US" sz="1000" dirty="0"/>
          </a:p>
        </p:txBody>
      </p:sp>
      <p:sp>
        <p:nvSpPr>
          <p:cNvPr id="29" name="Shape 27"/>
          <p:cNvSpPr/>
          <p:nvPr/>
        </p:nvSpPr>
        <p:spPr>
          <a:xfrm>
            <a:off x="5303520" y="4754880"/>
            <a:ext cx="1371600" cy="822960"/>
          </a:xfrm>
          <a:prstGeom prst="diamond">
            <a:avLst/>
          </a:prstGeom>
          <a:solidFill>
            <a:srgbClr val="F7F0E6"/>
          </a:solidFill>
          <a:ln w="12700">
            <a:solidFill>
              <a:srgbClr val="C99A2E"/>
            </a:solidFill>
            <a:prstDash val="solid"/>
          </a:ln>
        </p:spPr>
      </p:sp>
      <p:sp>
        <p:nvSpPr>
          <p:cNvPr id="30" name="Text 28"/>
          <p:cNvSpPr/>
          <p:nvPr/>
        </p:nvSpPr>
        <p:spPr>
          <a:xfrm>
            <a:off x="5303520" y="4754880"/>
            <a:ext cx="1371600" cy="822960"/>
          </a:xfrm>
          <a:prstGeom prst="rect">
            <a:avLst/>
          </a:prstGeom>
          <a:noFill/>
          <a:ln/>
        </p:spPr>
        <p:txBody>
          <a:bodyPr wrap="square" rtlCol="0" anchor="ctr"/>
          <a:lstStyle/>
          <a:p>
            <a:pPr algn="ctr" indent="0" marL="0">
              <a:buNone/>
            </a:pPr>
            <a:r>
              <a:rPr lang="en-US" sz="850" b="1" dirty="0">
                <a:solidFill>
                  <a:srgbClr val="000000"/>
                </a:solidFill>
                <a:latin typeface="Arial" pitchFamily="34" charset="0"/>
                <a:ea typeface="Arial" pitchFamily="34" charset="-122"/>
                <a:cs typeface="Arial" pitchFamily="34" charset="-120"/>
              </a:rPr>
              <a:t>Inspect</a:t>
            </a:r>
            <a:endParaRPr lang="en-US" sz="850" dirty="0"/>
          </a:p>
          <a:p>
            <a:pPr algn="ctr" indent="0" marL="0">
              <a:buNone/>
            </a:pPr>
            <a:r>
              <a:rPr lang="en-US" sz="850" b="1" dirty="0">
                <a:solidFill>
                  <a:srgbClr val="000000"/>
                </a:solidFill>
                <a:latin typeface="Arial" pitchFamily="34" charset="0"/>
                <a:ea typeface="Arial" pitchFamily="34" charset="-122"/>
                <a:cs typeface="Arial" pitchFamily="34" charset="-120"/>
              </a:rPr>
              <a:t>Damage?</a:t>
            </a:r>
            <a:endParaRPr lang="en-US" sz="850" dirty="0"/>
          </a:p>
        </p:txBody>
      </p:sp>
      <p:sp>
        <p:nvSpPr>
          <p:cNvPr id="31" name="Shape 29"/>
          <p:cNvSpPr/>
          <p:nvPr/>
        </p:nvSpPr>
        <p:spPr>
          <a:xfrm>
            <a:off x="8229600" y="3291840"/>
            <a:ext cx="2834640" cy="502920"/>
          </a:xfrm>
          <a:prstGeom prst="roundRect">
            <a:avLst/>
          </a:prstGeom>
          <a:solidFill>
            <a:srgbClr val="FFFFFF"/>
          </a:solidFill>
          <a:ln w="12700">
            <a:solidFill>
              <a:srgbClr val="1E7E55"/>
            </a:solidFill>
            <a:prstDash val="solid"/>
          </a:ln>
        </p:spPr>
      </p:sp>
      <p:sp>
        <p:nvSpPr>
          <p:cNvPr id="32" name="Text 30"/>
          <p:cNvSpPr/>
          <p:nvPr/>
        </p:nvSpPr>
        <p:spPr>
          <a:xfrm>
            <a:off x="8229600" y="3291840"/>
            <a:ext cx="2834640" cy="502920"/>
          </a:xfrm>
          <a:prstGeom prst="rect">
            <a:avLst/>
          </a:prstGeom>
          <a:noFill/>
          <a:ln/>
        </p:spPr>
        <p:txBody>
          <a:bodyPr wrap="square" rtlCol="0" anchor="ctr"/>
          <a:lstStyle/>
          <a:p>
            <a:pPr algn="ctr" indent="0" marL="0">
              <a:buNone/>
            </a:pPr>
            <a:r>
              <a:rPr lang="en-US" sz="1000" b="1" dirty="0">
                <a:solidFill>
                  <a:srgbClr val="1E7E55"/>
                </a:solidFill>
                <a:latin typeface="Arial" pitchFamily="34" charset="0"/>
                <a:ea typeface="Arial" pitchFamily="34" charset="-122"/>
                <a:cs typeface="Arial" pitchFamily="34" charset="-120"/>
              </a:rPr>
              <a:t>Lock Security Deposit in Escrow</a:t>
            </a:r>
            <a:endParaRPr lang="en-US" sz="1000" dirty="0"/>
          </a:p>
        </p:txBody>
      </p:sp>
      <p:sp>
        <p:nvSpPr>
          <p:cNvPr id="33" name="Shape 31"/>
          <p:cNvSpPr/>
          <p:nvPr/>
        </p:nvSpPr>
        <p:spPr>
          <a:xfrm>
            <a:off x="8229600" y="4937760"/>
            <a:ext cx="2834640" cy="502920"/>
          </a:xfrm>
          <a:prstGeom prst="roundRect">
            <a:avLst/>
          </a:prstGeom>
          <a:solidFill>
            <a:srgbClr val="FFFFFF"/>
          </a:solidFill>
          <a:ln w="12700">
            <a:solidFill>
              <a:srgbClr val="1E7E55"/>
            </a:solidFill>
            <a:prstDash val="solid"/>
          </a:ln>
        </p:spPr>
      </p:sp>
      <p:sp>
        <p:nvSpPr>
          <p:cNvPr id="34" name="Text 32"/>
          <p:cNvSpPr/>
          <p:nvPr/>
        </p:nvSpPr>
        <p:spPr>
          <a:xfrm>
            <a:off x="8229600" y="4937760"/>
            <a:ext cx="2834640" cy="502920"/>
          </a:xfrm>
          <a:prstGeom prst="rect">
            <a:avLst/>
          </a:prstGeom>
          <a:noFill/>
          <a:ln/>
        </p:spPr>
        <p:txBody>
          <a:bodyPr wrap="square" rtlCol="0" anchor="ctr"/>
          <a:lstStyle/>
          <a:p>
            <a:pPr algn="ctr" indent="0" marL="0">
              <a:buNone/>
            </a:pPr>
            <a:r>
              <a:rPr lang="en-US" sz="1000" dirty="0">
                <a:solidFill>
                  <a:srgbClr val="1E7E55"/>
                </a:solidFill>
                <a:latin typeface="Arial" pitchFamily="34" charset="0"/>
                <a:ea typeface="Arial" pitchFamily="34" charset="-122"/>
                <a:cs typeface="Arial" pitchFamily="34" charset="-120"/>
              </a:rPr>
              <a:t>[No Damage] Auto-Refund Deposit</a:t>
            </a:r>
            <a:endParaRPr lang="en-US" sz="1000" dirty="0"/>
          </a:p>
        </p:txBody>
      </p:sp>
      <p:sp>
        <p:nvSpPr>
          <p:cNvPr id="35" name="Shape 33"/>
          <p:cNvSpPr/>
          <p:nvPr/>
        </p:nvSpPr>
        <p:spPr>
          <a:xfrm>
            <a:off x="8229600" y="5486400"/>
            <a:ext cx="2834640" cy="502920"/>
          </a:xfrm>
          <a:prstGeom prst="roundRect">
            <a:avLst/>
          </a:prstGeom>
          <a:solidFill>
            <a:srgbClr val="FFFFFF"/>
          </a:solidFill>
          <a:ln w="12700">
            <a:solidFill>
              <a:srgbClr val="C53030"/>
            </a:solidFill>
            <a:prstDash val="solid"/>
          </a:ln>
        </p:spPr>
      </p:sp>
      <p:sp>
        <p:nvSpPr>
          <p:cNvPr id="36" name="Text 34"/>
          <p:cNvSpPr/>
          <p:nvPr/>
        </p:nvSpPr>
        <p:spPr>
          <a:xfrm>
            <a:off x="8229600" y="5486400"/>
            <a:ext cx="2834640" cy="502920"/>
          </a:xfrm>
          <a:prstGeom prst="rect">
            <a:avLst/>
          </a:prstGeom>
          <a:noFill/>
          <a:ln/>
        </p:spPr>
        <p:txBody>
          <a:bodyPr wrap="square" rtlCol="0" anchor="ctr"/>
          <a:lstStyle/>
          <a:p>
            <a:pPr algn="ctr" indent="0" marL="0">
              <a:buNone/>
            </a:pPr>
            <a:r>
              <a:rPr lang="en-US" sz="1000" dirty="0">
                <a:solidFill>
                  <a:srgbClr val="C53030"/>
                </a:solidFill>
                <a:latin typeface="Arial" pitchFamily="34" charset="0"/>
                <a:ea typeface="Arial" pitchFamily="34" charset="-122"/>
                <a:cs typeface="Arial" pitchFamily="34" charset="-120"/>
              </a:rPr>
              <a:t>[Damage Claim] Escalate to Admin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17 · ACT IV</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17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UML STRUCTURAL SPECIFICATION</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Class Diagram: Domain Entities &amp; Methods</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Complete object-oriented model with visibility indicators, typing, and multiplicity.</a:t>
            </a:r>
            <a:endParaRPr lang="en-US" sz="1300" dirty="0"/>
          </a:p>
        </p:txBody>
      </p:sp>
      <p:sp>
        <p:nvSpPr>
          <p:cNvPr id="10" name="Shape 8"/>
          <p:cNvSpPr/>
          <p:nvPr/>
        </p:nvSpPr>
        <p:spPr>
          <a:xfrm>
            <a:off x="731520" y="2011680"/>
            <a:ext cx="3200400" cy="1920240"/>
          </a:xfrm>
          <a:prstGeom prst="rect">
            <a:avLst/>
          </a:prstGeom>
          <a:solidFill>
            <a:srgbClr val="FFFFFF"/>
          </a:solidFill>
          <a:ln w="12700">
            <a:solidFill>
              <a:srgbClr val="7A5F20"/>
            </a:solidFill>
            <a:prstDash val="solid"/>
          </a:ln>
        </p:spPr>
      </p:sp>
      <p:sp>
        <p:nvSpPr>
          <p:cNvPr id="11" name="Shape 9"/>
          <p:cNvSpPr/>
          <p:nvPr/>
        </p:nvSpPr>
        <p:spPr>
          <a:xfrm>
            <a:off x="731520" y="2011680"/>
            <a:ext cx="3200400" cy="320040"/>
          </a:xfrm>
          <a:prstGeom prst="rect">
            <a:avLst/>
          </a:prstGeom>
          <a:solidFill>
            <a:srgbClr val="ECE4D8"/>
          </a:solidFill>
          <a:ln/>
        </p:spPr>
      </p:sp>
      <p:sp>
        <p:nvSpPr>
          <p:cNvPr id="12" name="Text 10"/>
          <p:cNvSpPr/>
          <p:nvPr/>
        </p:nvSpPr>
        <p:spPr>
          <a:xfrm>
            <a:off x="731520" y="2011680"/>
            <a:ext cx="320040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User (Abstract)</a:t>
            </a:r>
            <a:endParaRPr lang="en-US" sz="1050" dirty="0"/>
          </a:p>
        </p:txBody>
      </p:sp>
      <p:sp>
        <p:nvSpPr>
          <p:cNvPr id="13" name="Text 11"/>
          <p:cNvSpPr/>
          <p:nvPr/>
        </p:nvSpPr>
        <p:spPr>
          <a:xfrm>
            <a:off x="868680" y="2377440"/>
            <a:ext cx="2926080" cy="68580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 id: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email: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name: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role: Enum</a:t>
            </a:r>
            <a:endParaRPr lang="en-US" sz="850" dirty="0"/>
          </a:p>
        </p:txBody>
      </p:sp>
      <p:sp>
        <p:nvSpPr>
          <p:cNvPr id="14" name="Shape 12"/>
          <p:cNvSpPr/>
          <p:nvPr/>
        </p:nvSpPr>
        <p:spPr>
          <a:xfrm>
            <a:off x="731520" y="3108960"/>
            <a:ext cx="3200400" cy="0"/>
          </a:xfrm>
          <a:prstGeom prst="line">
            <a:avLst/>
          </a:prstGeom>
          <a:noFill/>
          <a:ln w="6350">
            <a:solidFill>
              <a:srgbClr val="E2DACD"/>
            </a:solidFill>
            <a:prstDash val="solid"/>
          </a:ln>
        </p:spPr>
      </p:sp>
      <p:sp>
        <p:nvSpPr>
          <p:cNvPr id="15" name="Text 13"/>
          <p:cNvSpPr/>
          <p:nvPr/>
        </p:nvSpPr>
        <p:spPr>
          <a:xfrm>
            <a:off x="868680" y="3154680"/>
            <a:ext cx="2926080" cy="685800"/>
          </a:xfrm>
          <a:prstGeom prst="rect">
            <a:avLst/>
          </a:prstGeom>
          <a:noFill/>
          <a:ln/>
        </p:spPr>
        <p:txBody>
          <a:bodyPr wrap="square" rtlCol="0" anchor="ctr"/>
          <a:lstStyle/>
          <a:p>
            <a:pPr indent="0" marL="0">
              <a:buNone/>
            </a:pPr>
            <a:r>
              <a:rPr lang="en-US" sz="850" dirty="0">
                <a:solidFill>
                  <a:srgbClr val="7A5F20"/>
                </a:solidFill>
                <a:latin typeface="Consolas" pitchFamily="34" charset="0"/>
                <a:ea typeface="Consolas" pitchFamily="34" charset="-122"/>
                <a:cs typeface="Consolas" pitchFamily="34" charset="-120"/>
              </a:rPr>
              <a:t>+ login(): Boolean</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logout(): Void</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getProfile(): Object</a:t>
            </a:r>
            <a:endParaRPr lang="en-US" sz="850" dirty="0"/>
          </a:p>
        </p:txBody>
      </p:sp>
      <p:sp>
        <p:nvSpPr>
          <p:cNvPr id="16" name="Shape 14"/>
          <p:cNvSpPr/>
          <p:nvPr/>
        </p:nvSpPr>
        <p:spPr>
          <a:xfrm>
            <a:off x="4389120" y="2011680"/>
            <a:ext cx="3383280" cy="1920240"/>
          </a:xfrm>
          <a:prstGeom prst="rect">
            <a:avLst/>
          </a:prstGeom>
          <a:solidFill>
            <a:srgbClr val="FFFFFF"/>
          </a:solidFill>
          <a:ln w="12700">
            <a:solidFill>
              <a:srgbClr val="7A5F20"/>
            </a:solidFill>
            <a:prstDash val="solid"/>
          </a:ln>
        </p:spPr>
      </p:sp>
      <p:sp>
        <p:nvSpPr>
          <p:cNvPr id="17" name="Shape 15"/>
          <p:cNvSpPr/>
          <p:nvPr/>
        </p:nvSpPr>
        <p:spPr>
          <a:xfrm>
            <a:off x="4389120" y="2011680"/>
            <a:ext cx="3383280" cy="320040"/>
          </a:xfrm>
          <a:prstGeom prst="rect">
            <a:avLst/>
          </a:prstGeom>
          <a:solidFill>
            <a:srgbClr val="ECE4D8"/>
          </a:solidFill>
          <a:ln/>
        </p:spPr>
      </p:sp>
      <p:sp>
        <p:nvSpPr>
          <p:cNvPr id="18" name="Text 16"/>
          <p:cNvSpPr/>
          <p:nvPr/>
        </p:nvSpPr>
        <p:spPr>
          <a:xfrm>
            <a:off x="4389120" y="2011680"/>
            <a:ext cx="338328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BoutiqueLender : User</a:t>
            </a:r>
            <a:endParaRPr lang="en-US" sz="1050" dirty="0"/>
          </a:p>
        </p:txBody>
      </p:sp>
      <p:sp>
        <p:nvSpPr>
          <p:cNvPr id="19" name="Text 17"/>
          <p:cNvSpPr/>
          <p:nvPr/>
        </p:nvSpPr>
        <p:spPr>
          <a:xfrm>
            <a:off x="4526280" y="2377440"/>
            <a:ext cx="3108960" cy="68580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 boutiqueName: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rating: Float</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totalRentals: Int</a:t>
            </a:r>
            <a:endParaRPr lang="en-US" sz="850" dirty="0"/>
          </a:p>
        </p:txBody>
      </p:sp>
      <p:sp>
        <p:nvSpPr>
          <p:cNvPr id="20" name="Shape 18"/>
          <p:cNvSpPr/>
          <p:nvPr/>
        </p:nvSpPr>
        <p:spPr>
          <a:xfrm>
            <a:off x="4389120" y="3108960"/>
            <a:ext cx="3383280" cy="0"/>
          </a:xfrm>
          <a:prstGeom prst="line">
            <a:avLst/>
          </a:prstGeom>
          <a:noFill/>
          <a:ln w="6350">
            <a:solidFill>
              <a:srgbClr val="E2DACD"/>
            </a:solidFill>
            <a:prstDash val="solid"/>
          </a:ln>
        </p:spPr>
      </p:sp>
      <p:sp>
        <p:nvSpPr>
          <p:cNvPr id="21" name="Text 19"/>
          <p:cNvSpPr/>
          <p:nvPr/>
        </p:nvSpPr>
        <p:spPr>
          <a:xfrm>
            <a:off x="4526280" y="3154680"/>
            <a:ext cx="3108960" cy="685800"/>
          </a:xfrm>
          <a:prstGeom prst="rect">
            <a:avLst/>
          </a:prstGeom>
          <a:noFill/>
          <a:ln/>
        </p:spPr>
        <p:txBody>
          <a:bodyPr wrap="square" rtlCol="0" anchor="ctr"/>
          <a:lstStyle/>
          <a:p>
            <a:pPr indent="0" marL="0">
              <a:buNone/>
            </a:pPr>
            <a:r>
              <a:rPr lang="en-US" sz="850" dirty="0">
                <a:solidFill>
                  <a:srgbClr val="7A5F20"/>
                </a:solidFill>
                <a:latin typeface="Consolas" pitchFamily="34" charset="0"/>
                <a:ea typeface="Consolas" pitchFamily="34" charset="-122"/>
                <a:cs typeface="Consolas" pitchFamily="34" charset="-120"/>
              </a:rPr>
              <a:t>+ addDress(Dress): Void</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updateInventory(): Void</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inspectReturn(): Void</a:t>
            </a:r>
            <a:endParaRPr lang="en-US" sz="850" dirty="0"/>
          </a:p>
        </p:txBody>
      </p:sp>
      <p:sp>
        <p:nvSpPr>
          <p:cNvPr id="22" name="Shape 20"/>
          <p:cNvSpPr/>
          <p:nvPr/>
        </p:nvSpPr>
        <p:spPr>
          <a:xfrm>
            <a:off x="8138160" y="2011680"/>
            <a:ext cx="3291840" cy="1920240"/>
          </a:xfrm>
          <a:prstGeom prst="rect">
            <a:avLst/>
          </a:prstGeom>
          <a:solidFill>
            <a:srgbClr val="FFFFFF"/>
          </a:solidFill>
          <a:ln w="12700">
            <a:solidFill>
              <a:srgbClr val="7A5F20"/>
            </a:solidFill>
            <a:prstDash val="solid"/>
          </a:ln>
        </p:spPr>
      </p:sp>
      <p:sp>
        <p:nvSpPr>
          <p:cNvPr id="23" name="Shape 21"/>
          <p:cNvSpPr/>
          <p:nvPr/>
        </p:nvSpPr>
        <p:spPr>
          <a:xfrm>
            <a:off x="8138160" y="2011680"/>
            <a:ext cx="3291840" cy="320040"/>
          </a:xfrm>
          <a:prstGeom prst="rect">
            <a:avLst/>
          </a:prstGeom>
          <a:solidFill>
            <a:srgbClr val="ECE4D8"/>
          </a:solidFill>
          <a:ln/>
        </p:spPr>
      </p:sp>
      <p:sp>
        <p:nvSpPr>
          <p:cNvPr id="24" name="Text 22"/>
          <p:cNvSpPr/>
          <p:nvPr/>
        </p:nvSpPr>
        <p:spPr>
          <a:xfrm>
            <a:off x="8138160" y="2011680"/>
            <a:ext cx="329184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DressOutfit</a:t>
            </a:r>
            <a:endParaRPr lang="en-US" sz="1050" dirty="0"/>
          </a:p>
        </p:txBody>
      </p:sp>
      <p:sp>
        <p:nvSpPr>
          <p:cNvPr id="25" name="Text 23"/>
          <p:cNvSpPr/>
          <p:nvPr/>
        </p:nvSpPr>
        <p:spPr>
          <a:xfrm>
            <a:off x="8275320" y="2377440"/>
            <a:ext cx="3017520" cy="68580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 id: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rentPrice: Double</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deposit: Double</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status: Enum</a:t>
            </a:r>
            <a:endParaRPr lang="en-US" sz="850" dirty="0"/>
          </a:p>
        </p:txBody>
      </p:sp>
      <p:sp>
        <p:nvSpPr>
          <p:cNvPr id="26" name="Shape 24"/>
          <p:cNvSpPr/>
          <p:nvPr/>
        </p:nvSpPr>
        <p:spPr>
          <a:xfrm>
            <a:off x="8138160" y="3108960"/>
            <a:ext cx="3291840" cy="0"/>
          </a:xfrm>
          <a:prstGeom prst="line">
            <a:avLst/>
          </a:prstGeom>
          <a:noFill/>
          <a:ln w="6350">
            <a:solidFill>
              <a:srgbClr val="E2DACD"/>
            </a:solidFill>
            <a:prstDash val="solid"/>
          </a:ln>
        </p:spPr>
      </p:sp>
      <p:sp>
        <p:nvSpPr>
          <p:cNvPr id="27" name="Text 25"/>
          <p:cNvSpPr/>
          <p:nvPr/>
        </p:nvSpPr>
        <p:spPr>
          <a:xfrm>
            <a:off x="8275320" y="3154680"/>
            <a:ext cx="3017520" cy="685800"/>
          </a:xfrm>
          <a:prstGeom prst="rect">
            <a:avLst/>
          </a:prstGeom>
          <a:noFill/>
          <a:ln/>
        </p:spPr>
        <p:txBody>
          <a:bodyPr wrap="square" rtlCol="0" anchor="ctr"/>
          <a:lstStyle/>
          <a:p>
            <a:pPr indent="0" marL="0">
              <a:buNone/>
            </a:pPr>
            <a:r>
              <a:rPr lang="en-US" sz="850" dirty="0">
                <a:solidFill>
                  <a:srgbClr val="7A5F20"/>
                </a:solidFill>
                <a:latin typeface="Consolas" pitchFamily="34" charset="0"/>
                <a:ea typeface="Consolas" pitchFamily="34" charset="-122"/>
                <a:cs typeface="Consolas" pitchFamily="34" charset="-120"/>
              </a:rPr>
              <a:t>+ checkAvailability(dates): Bool</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toggleStatus(): Void</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getPricing(): Double</a:t>
            </a:r>
            <a:endParaRPr lang="en-US" sz="850" dirty="0"/>
          </a:p>
        </p:txBody>
      </p:sp>
      <p:sp>
        <p:nvSpPr>
          <p:cNvPr id="28" name="Shape 26"/>
          <p:cNvSpPr/>
          <p:nvPr/>
        </p:nvSpPr>
        <p:spPr>
          <a:xfrm>
            <a:off x="731520" y="4160520"/>
            <a:ext cx="3200400" cy="1920240"/>
          </a:xfrm>
          <a:prstGeom prst="rect">
            <a:avLst/>
          </a:prstGeom>
          <a:solidFill>
            <a:srgbClr val="FFFFFF"/>
          </a:solidFill>
          <a:ln w="12700">
            <a:solidFill>
              <a:srgbClr val="7A5F20"/>
            </a:solidFill>
            <a:prstDash val="solid"/>
          </a:ln>
        </p:spPr>
      </p:sp>
      <p:sp>
        <p:nvSpPr>
          <p:cNvPr id="29" name="Shape 27"/>
          <p:cNvSpPr/>
          <p:nvPr/>
        </p:nvSpPr>
        <p:spPr>
          <a:xfrm>
            <a:off x="731520" y="4160520"/>
            <a:ext cx="3200400" cy="320040"/>
          </a:xfrm>
          <a:prstGeom prst="rect">
            <a:avLst/>
          </a:prstGeom>
          <a:solidFill>
            <a:srgbClr val="ECE4D8"/>
          </a:solidFill>
          <a:ln/>
        </p:spPr>
      </p:sp>
      <p:sp>
        <p:nvSpPr>
          <p:cNvPr id="30" name="Text 28"/>
          <p:cNvSpPr/>
          <p:nvPr/>
        </p:nvSpPr>
        <p:spPr>
          <a:xfrm>
            <a:off x="731520" y="4160520"/>
            <a:ext cx="320040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RentalOrder</a:t>
            </a:r>
            <a:endParaRPr lang="en-US" sz="1050" dirty="0"/>
          </a:p>
        </p:txBody>
      </p:sp>
      <p:sp>
        <p:nvSpPr>
          <p:cNvPr id="31" name="Text 29"/>
          <p:cNvSpPr/>
          <p:nvPr/>
        </p:nvSpPr>
        <p:spPr>
          <a:xfrm>
            <a:off x="868680" y="4526280"/>
            <a:ext cx="2926080" cy="68580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 orderId: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rentalPeriod: Int</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totalFee: Double</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status: Enum</a:t>
            </a:r>
            <a:endParaRPr lang="en-US" sz="850" dirty="0"/>
          </a:p>
        </p:txBody>
      </p:sp>
      <p:sp>
        <p:nvSpPr>
          <p:cNvPr id="32" name="Shape 30"/>
          <p:cNvSpPr/>
          <p:nvPr/>
        </p:nvSpPr>
        <p:spPr>
          <a:xfrm>
            <a:off x="731520" y="5257800"/>
            <a:ext cx="3200400" cy="0"/>
          </a:xfrm>
          <a:prstGeom prst="line">
            <a:avLst/>
          </a:prstGeom>
          <a:noFill/>
          <a:ln w="6350">
            <a:solidFill>
              <a:srgbClr val="E2DACD"/>
            </a:solidFill>
            <a:prstDash val="solid"/>
          </a:ln>
        </p:spPr>
      </p:sp>
      <p:sp>
        <p:nvSpPr>
          <p:cNvPr id="33" name="Text 31"/>
          <p:cNvSpPr/>
          <p:nvPr/>
        </p:nvSpPr>
        <p:spPr>
          <a:xfrm>
            <a:off x="868680" y="5303520"/>
            <a:ext cx="2926080" cy="685800"/>
          </a:xfrm>
          <a:prstGeom prst="rect">
            <a:avLst/>
          </a:prstGeom>
          <a:noFill/>
          <a:ln/>
        </p:spPr>
        <p:txBody>
          <a:bodyPr wrap="square" rtlCol="0" anchor="ctr"/>
          <a:lstStyle/>
          <a:p>
            <a:pPr indent="0" marL="0">
              <a:buNone/>
            </a:pPr>
            <a:r>
              <a:rPr lang="en-US" sz="850" dirty="0">
                <a:solidFill>
                  <a:srgbClr val="7A5F20"/>
                </a:solidFill>
                <a:latin typeface="Consolas" pitchFamily="34" charset="0"/>
                <a:ea typeface="Consolas" pitchFamily="34" charset="-122"/>
                <a:cs typeface="Consolas" pitchFamily="34" charset="-120"/>
              </a:rPr>
              <a:t>+ calculateEscrow(): Double</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markDispatched(): Void</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closeOrder(): Void</a:t>
            </a:r>
            <a:endParaRPr lang="en-US" sz="850" dirty="0"/>
          </a:p>
        </p:txBody>
      </p:sp>
      <p:sp>
        <p:nvSpPr>
          <p:cNvPr id="34" name="Shape 32"/>
          <p:cNvSpPr/>
          <p:nvPr/>
        </p:nvSpPr>
        <p:spPr>
          <a:xfrm>
            <a:off x="4389120" y="4160520"/>
            <a:ext cx="3383280" cy="1920240"/>
          </a:xfrm>
          <a:prstGeom prst="rect">
            <a:avLst/>
          </a:prstGeom>
          <a:solidFill>
            <a:srgbClr val="FFFFFF"/>
          </a:solidFill>
          <a:ln w="12700">
            <a:solidFill>
              <a:srgbClr val="7A5F20"/>
            </a:solidFill>
            <a:prstDash val="solid"/>
          </a:ln>
        </p:spPr>
      </p:sp>
      <p:sp>
        <p:nvSpPr>
          <p:cNvPr id="35" name="Shape 33"/>
          <p:cNvSpPr/>
          <p:nvPr/>
        </p:nvSpPr>
        <p:spPr>
          <a:xfrm>
            <a:off x="4389120" y="4160520"/>
            <a:ext cx="3383280" cy="320040"/>
          </a:xfrm>
          <a:prstGeom prst="rect">
            <a:avLst/>
          </a:prstGeom>
          <a:solidFill>
            <a:srgbClr val="ECE4D8"/>
          </a:solidFill>
          <a:ln/>
        </p:spPr>
      </p:sp>
      <p:sp>
        <p:nvSpPr>
          <p:cNvPr id="36" name="Text 34"/>
          <p:cNvSpPr/>
          <p:nvPr/>
        </p:nvSpPr>
        <p:spPr>
          <a:xfrm>
            <a:off x="4389120" y="4160520"/>
            <a:ext cx="338328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EscrowTransaction</a:t>
            </a:r>
            <a:endParaRPr lang="en-US" sz="1050" dirty="0"/>
          </a:p>
        </p:txBody>
      </p:sp>
      <p:sp>
        <p:nvSpPr>
          <p:cNvPr id="37" name="Text 35"/>
          <p:cNvSpPr/>
          <p:nvPr/>
        </p:nvSpPr>
        <p:spPr>
          <a:xfrm>
            <a:off x="4526280" y="4526280"/>
            <a:ext cx="3108960" cy="68580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 txnId: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depositAmount: Double</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escrowStatus: Enum</a:t>
            </a:r>
            <a:endParaRPr lang="en-US" sz="850" dirty="0"/>
          </a:p>
        </p:txBody>
      </p:sp>
      <p:sp>
        <p:nvSpPr>
          <p:cNvPr id="38" name="Shape 36"/>
          <p:cNvSpPr/>
          <p:nvPr/>
        </p:nvSpPr>
        <p:spPr>
          <a:xfrm>
            <a:off x="4389120" y="5257800"/>
            <a:ext cx="3383280" cy="0"/>
          </a:xfrm>
          <a:prstGeom prst="line">
            <a:avLst/>
          </a:prstGeom>
          <a:noFill/>
          <a:ln w="6350">
            <a:solidFill>
              <a:srgbClr val="E2DACD"/>
            </a:solidFill>
            <a:prstDash val="solid"/>
          </a:ln>
        </p:spPr>
      </p:sp>
      <p:sp>
        <p:nvSpPr>
          <p:cNvPr id="39" name="Text 37"/>
          <p:cNvSpPr/>
          <p:nvPr/>
        </p:nvSpPr>
        <p:spPr>
          <a:xfrm>
            <a:off x="4526280" y="5303520"/>
            <a:ext cx="3108960" cy="685800"/>
          </a:xfrm>
          <a:prstGeom prst="rect">
            <a:avLst/>
          </a:prstGeom>
          <a:noFill/>
          <a:ln/>
        </p:spPr>
        <p:txBody>
          <a:bodyPr wrap="square" rtlCol="0" anchor="ctr"/>
          <a:lstStyle/>
          <a:p>
            <a:pPr indent="0" marL="0">
              <a:buNone/>
            </a:pPr>
            <a:r>
              <a:rPr lang="en-US" sz="850" dirty="0">
                <a:solidFill>
                  <a:srgbClr val="7A5F20"/>
                </a:solidFill>
                <a:latin typeface="Consolas" pitchFamily="34" charset="0"/>
                <a:ea typeface="Consolas" pitchFamily="34" charset="-122"/>
                <a:cs typeface="Consolas" pitchFamily="34" charset="-120"/>
              </a:rPr>
              <a:t>+ lockFunds(): Boolean</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releaseToRenter(): Void</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deductClaim(): Void</a:t>
            </a:r>
            <a:endParaRPr lang="en-US" sz="850" dirty="0"/>
          </a:p>
        </p:txBody>
      </p:sp>
      <p:sp>
        <p:nvSpPr>
          <p:cNvPr id="40" name="Shape 38"/>
          <p:cNvSpPr/>
          <p:nvPr/>
        </p:nvSpPr>
        <p:spPr>
          <a:xfrm>
            <a:off x="8138160" y="4160520"/>
            <a:ext cx="3291840" cy="1920240"/>
          </a:xfrm>
          <a:prstGeom prst="rect">
            <a:avLst/>
          </a:prstGeom>
          <a:solidFill>
            <a:srgbClr val="FFFFFF"/>
          </a:solidFill>
          <a:ln w="12700">
            <a:solidFill>
              <a:srgbClr val="7A5F20"/>
            </a:solidFill>
            <a:prstDash val="solid"/>
          </a:ln>
        </p:spPr>
      </p:sp>
      <p:sp>
        <p:nvSpPr>
          <p:cNvPr id="41" name="Shape 39"/>
          <p:cNvSpPr/>
          <p:nvPr/>
        </p:nvSpPr>
        <p:spPr>
          <a:xfrm>
            <a:off x="8138160" y="4160520"/>
            <a:ext cx="3291840" cy="320040"/>
          </a:xfrm>
          <a:prstGeom prst="rect">
            <a:avLst/>
          </a:prstGeom>
          <a:solidFill>
            <a:srgbClr val="ECE4D8"/>
          </a:solidFill>
          <a:ln/>
        </p:spPr>
      </p:sp>
      <p:sp>
        <p:nvSpPr>
          <p:cNvPr id="42" name="Text 40"/>
          <p:cNvSpPr/>
          <p:nvPr/>
        </p:nvSpPr>
        <p:spPr>
          <a:xfrm>
            <a:off x="8138160" y="4160520"/>
            <a:ext cx="329184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DisputeCase</a:t>
            </a:r>
            <a:endParaRPr lang="en-US" sz="1050" dirty="0"/>
          </a:p>
        </p:txBody>
      </p:sp>
      <p:sp>
        <p:nvSpPr>
          <p:cNvPr id="43" name="Text 41"/>
          <p:cNvSpPr/>
          <p:nvPr/>
        </p:nvSpPr>
        <p:spPr>
          <a:xfrm>
            <a:off x="8275320" y="4526280"/>
            <a:ext cx="3017520" cy="68580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 complaintId: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issueType: String</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 claimAmount: Double</a:t>
            </a:r>
            <a:endParaRPr lang="en-US" sz="850" dirty="0"/>
          </a:p>
        </p:txBody>
      </p:sp>
      <p:sp>
        <p:nvSpPr>
          <p:cNvPr id="44" name="Shape 42"/>
          <p:cNvSpPr/>
          <p:nvPr/>
        </p:nvSpPr>
        <p:spPr>
          <a:xfrm>
            <a:off x="8138160" y="5257800"/>
            <a:ext cx="3291840" cy="0"/>
          </a:xfrm>
          <a:prstGeom prst="line">
            <a:avLst/>
          </a:prstGeom>
          <a:noFill/>
          <a:ln w="6350">
            <a:solidFill>
              <a:srgbClr val="E2DACD"/>
            </a:solidFill>
            <a:prstDash val="solid"/>
          </a:ln>
        </p:spPr>
      </p:sp>
      <p:sp>
        <p:nvSpPr>
          <p:cNvPr id="45" name="Text 43"/>
          <p:cNvSpPr/>
          <p:nvPr/>
        </p:nvSpPr>
        <p:spPr>
          <a:xfrm>
            <a:off x="8275320" y="5303520"/>
            <a:ext cx="3017520" cy="685800"/>
          </a:xfrm>
          <a:prstGeom prst="rect">
            <a:avLst/>
          </a:prstGeom>
          <a:noFill/>
          <a:ln/>
        </p:spPr>
        <p:txBody>
          <a:bodyPr wrap="square" rtlCol="0" anchor="ctr"/>
          <a:lstStyle/>
          <a:p>
            <a:pPr indent="0" marL="0">
              <a:buNone/>
            </a:pPr>
            <a:r>
              <a:rPr lang="en-US" sz="850" dirty="0">
                <a:solidFill>
                  <a:srgbClr val="7A5F20"/>
                </a:solidFill>
                <a:latin typeface="Consolas" pitchFamily="34" charset="0"/>
                <a:ea typeface="Consolas" pitchFamily="34" charset="-122"/>
                <a:cs typeface="Consolas" pitchFamily="34" charset="-120"/>
              </a:rPr>
              <a:t>+ assignAdmin(): Void</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renderVerdict(): Void</a:t>
            </a:r>
            <a:endParaRPr lang="en-US" sz="850" dirty="0"/>
          </a:p>
          <a:p>
            <a:pPr indent="0" marL="0">
              <a:buNone/>
            </a:pPr>
            <a:r>
              <a:rPr lang="en-US" sz="850" dirty="0">
                <a:solidFill>
                  <a:srgbClr val="7A5F20"/>
                </a:solidFill>
                <a:latin typeface="Consolas" pitchFamily="34" charset="0"/>
                <a:ea typeface="Consolas" pitchFamily="34" charset="-122"/>
                <a:cs typeface="Consolas" pitchFamily="34" charset="-120"/>
              </a:rPr>
              <a:t>+ executeSettlement(): Void</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18 · ACT IV</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18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UML DYNAMIC STATE MODEL</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State Chart Diagram: Outfit Inventory &amp; Order Lifecycle</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State transitions, event triggers, guards, and terminal state resolution.</a:t>
            </a:r>
            <a:endParaRPr lang="en-US" sz="1300" dirty="0"/>
          </a:p>
        </p:txBody>
      </p:sp>
      <p:sp>
        <p:nvSpPr>
          <p:cNvPr id="10" name="Text 8"/>
          <p:cNvSpPr/>
          <p:nvPr/>
        </p:nvSpPr>
        <p:spPr>
          <a:xfrm>
            <a:off x="731520" y="2011680"/>
            <a:ext cx="10698480" cy="274320"/>
          </a:xfrm>
          <a:prstGeom prst="rect">
            <a:avLst/>
          </a:prstGeom>
          <a:noFill/>
          <a:ln/>
        </p:spPr>
        <p:txBody>
          <a:bodyPr wrap="square" rtlCol="0" anchor="ctr"/>
          <a:lstStyle/>
          <a:p>
            <a:pPr indent="0" marL="0">
              <a:buNone/>
            </a:pPr>
            <a:r>
              <a:rPr lang="en-US" sz="1000" b="1" dirty="0">
                <a:solidFill>
                  <a:srgbClr val="7A5F20"/>
                </a:solidFill>
                <a:latin typeface="Arial" pitchFamily="34" charset="0"/>
                <a:ea typeface="Arial" pitchFamily="34" charset="-122"/>
                <a:cs typeface="Arial" pitchFamily="34" charset="-120"/>
              </a:rPr>
              <a:t>A) GARMENT INVENTORY AVAILABILITY STATES</a:t>
            </a:r>
            <a:endParaRPr lang="en-US" sz="1000" dirty="0"/>
          </a:p>
        </p:txBody>
      </p:sp>
      <p:sp>
        <p:nvSpPr>
          <p:cNvPr id="11" name="Shape 9"/>
          <p:cNvSpPr/>
          <p:nvPr/>
        </p:nvSpPr>
        <p:spPr>
          <a:xfrm>
            <a:off x="731520" y="2377440"/>
            <a:ext cx="2011680" cy="1188720"/>
          </a:xfrm>
          <a:prstGeom prst="roundRect">
            <a:avLst/>
          </a:prstGeom>
          <a:solidFill>
            <a:srgbClr val="FFFFFF"/>
          </a:solidFill>
          <a:ln w="12700">
            <a:solidFill>
              <a:srgbClr val="C99A2E"/>
            </a:solidFill>
            <a:prstDash val="solid"/>
          </a:ln>
        </p:spPr>
      </p:sp>
      <p:sp>
        <p:nvSpPr>
          <p:cNvPr id="12" name="Text 10"/>
          <p:cNvSpPr/>
          <p:nvPr/>
        </p:nvSpPr>
        <p:spPr>
          <a:xfrm>
            <a:off x="822960" y="2468880"/>
            <a:ext cx="1828800" cy="27432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[Available]</a:t>
            </a:r>
            <a:endParaRPr lang="en-US" sz="1000" dirty="0"/>
          </a:p>
        </p:txBody>
      </p:sp>
      <p:sp>
        <p:nvSpPr>
          <p:cNvPr id="13" name="Text 11"/>
          <p:cNvSpPr/>
          <p:nvPr/>
        </p:nvSpPr>
        <p:spPr>
          <a:xfrm>
            <a:off x="822960" y="2788920"/>
            <a:ext cx="1828800" cy="685800"/>
          </a:xfrm>
          <a:prstGeom prst="rect">
            <a:avLst/>
          </a:prstGeom>
          <a:noFill/>
          <a:ln/>
        </p:spPr>
        <p:txBody>
          <a:bodyPr wrap="square" rtlCol="0" anchor="ctr"/>
          <a:lstStyle/>
          <a:p>
            <a:pPr algn="ctr" indent="0" marL="0">
              <a:buNone/>
            </a:pPr>
            <a:r>
              <a:rPr lang="en-US" sz="850" dirty="0">
                <a:solidFill>
                  <a:srgbClr val="6B6367"/>
                </a:solidFill>
                <a:latin typeface="Arial" pitchFamily="34" charset="0"/>
                <a:ea typeface="Arial" pitchFamily="34" charset="-122"/>
                <a:cs typeface="Arial" pitchFamily="34" charset="-120"/>
              </a:rPr>
              <a:t>Listed on catalog; accepting booking date selections</a:t>
            </a:r>
            <a:endParaRPr lang="en-US" sz="850" dirty="0"/>
          </a:p>
        </p:txBody>
      </p:sp>
      <p:sp>
        <p:nvSpPr>
          <p:cNvPr id="14" name="Shape 12"/>
          <p:cNvSpPr/>
          <p:nvPr/>
        </p:nvSpPr>
        <p:spPr>
          <a:xfrm>
            <a:off x="2926080" y="2377440"/>
            <a:ext cx="2011680" cy="1188720"/>
          </a:xfrm>
          <a:prstGeom prst="roundRect">
            <a:avLst/>
          </a:prstGeom>
          <a:solidFill>
            <a:srgbClr val="FFFFFF"/>
          </a:solidFill>
          <a:ln w="12700">
            <a:solidFill>
              <a:srgbClr val="C99A2E"/>
            </a:solidFill>
            <a:prstDash val="solid"/>
          </a:ln>
        </p:spPr>
      </p:sp>
      <p:sp>
        <p:nvSpPr>
          <p:cNvPr id="15" name="Text 13"/>
          <p:cNvSpPr/>
          <p:nvPr/>
        </p:nvSpPr>
        <p:spPr>
          <a:xfrm>
            <a:off x="3017520" y="2468880"/>
            <a:ext cx="1828800" cy="27432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[Booked/Escrowed]</a:t>
            </a:r>
            <a:endParaRPr lang="en-US" sz="1000" dirty="0"/>
          </a:p>
        </p:txBody>
      </p:sp>
      <p:sp>
        <p:nvSpPr>
          <p:cNvPr id="16" name="Text 14"/>
          <p:cNvSpPr/>
          <p:nvPr/>
        </p:nvSpPr>
        <p:spPr>
          <a:xfrm>
            <a:off x="3017520" y="2788920"/>
            <a:ext cx="1828800" cy="685800"/>
          </a:xfrm>
          <a:prstGeom prst="rect">
            <a:avLst/>
          </a:prstGeom>
          <a:noFill/>
          <a:ln/>
        </p:spPr>
        <p:txBody>
          <a:bodyPr wrap="square" rtlCol="0" anchor="ctr"/>
          <a:lstStyle/>
          <a:p>
            <a:pPr algn="ctr" indent="0" marL="0">
              <a:buNone/>
            </a:pPr>
            <a:r>
              <a:rPr lang="en-US" sz="850" dirty="0">
                <a:solidFill>
                  <a:srgbClr val="6B6367"/>
                </a:solidFill>
                <a:latin typeface="Arial" pitchFamily="34" charset="0"/>
                <a:ea typeface="Arial" pitchFamily="34" charset="-122"/>
                <a:cs typeface="Arial" pitchFamily="34" charset="-120"/>
              </a:rPr>
              <a:t>Dates locked; deposit confirmed in escrow vault</a:t>
            </a:r>
            <a:endParaRPr lang="en-US" sz="850" dirty="0"/>
          </a:p>
        </p:txBody>
      </p:sp>
      <p:sp>
        <p:nvSpPr>
          <p:cNvPr id="17" name="Shape 15"/>
          <p:cNvSpPr/>
          <p:nvPr/>
        </p:nvSpPr>
        <p:spPr>
          <a:xfrm>
            <a:off x="5120640" y="2377440"/>
            <a:ext cx="2011680" cy="1188720"/>
          </a:xfrm>
          <a:prstGeom prst="roundRect">
            <a:avLst/>
          </a:prstGeom>
          <a:solidFill>
            <a:srgbClr val="FFFFFF"/>
          </a:solidFill>
          <a:ln w="12700">
            <a:solidFill>
              <a:srgbClr val="C99A2E"/>
            </a:solidFill>
            <a:prstDash val="solid"/>
          </a:ln>
        </p:spPr>
      </p:sp>
      <p:sp>
        <p:nvSpPr>
          <p:cNvPr id="18" name="Text 16"/>
          <p:cNvSpPr/>
          <p:nvPr/>
        </p:nvSpPr>
        <p:spPr>
          <a:xfrm>
            <a:off x="5212080" y="2468880"/>
            <a:ext cx="1828800" cy="27432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[In-Transit]</a:t>
            </a:r>
            <a:endParaRPr lang="en-US" sz="1000" dirty="0"/>
          </a:p>
        </p:txBody>
      </p:sp>
      <p:sp>
        <p:nvSpPr>
          <p:cNvPr id="19" name="Text 17"/>
          <p:cNvSpPr/>
          <p:nvPr/>
        </p:nvSpPr>
        <p:spPr>
          <a:xfrm>
            <a:off x="5212080" y="2788920"/>
            <a:ext cx="1828800" cy="685800"/>
          </a:xfrm>
          <a:prstGeom prst="rect">
            <a:avLst/>
          </a:prstGeom>
          <a:noFill/>
          <a:ln/>
        </p:spPr>
        <p:txBody>
          <a:bodyPr wrap="square" rtlCol="0" anchor="ctr"/>
          <a:lstStyle/>
          <a:p>
            <a:pPr algn="ctr" indent="0" marL="0">
              <a:buNone/>
            </a:pPr>
            <a:r>
              <a:rPr lang="en-US" sz="850" dirty="0">
                <a:solidFill>
                  <a:srgbClr val="6B6367"/>
                </a:solidFill>
                <a:latin typeface="Arial" pitchFamily="34" charset="0"/>
                <a:ea typeface="Arial" pitchFamily="34" charset="-122"/>
                <a:cs typeface="Arial" pitchFamily="34" charset="-120"/>
              </a:rPr>
              <a:t>Dispatched with active courier tracking ID</a:t>
            </a:r>
            <a:endParaRPr lang="en-US" sz="850" dirty="0"/>
          </a:p>
        </p:txBody>
      </p:sp>
      <p:sp>
        <p:nvSpPr>
          <p:cNvPr id="20" name="Shape 18"/>
          <p:cNvSpPr/>
          <p:nvPr/>
        </p:nvSpPr>
        <p:spPr>
          <a:xfrm>
            <a:off x="7315200" y="2377440"/>
            <a:ext cx="2011680" cy="1188720"/>
          </a:xfrm>
          <a:prstGeom prst="roundRect">
            <a:avLst/>
          </a:prstGeom>
          <a:solidFill>
            <a:srgbClr val="FFFFFF"/>
          </a:solidFill>
          <a:ln w="12700">
            <a:solidFill>
              <a:srgbClr val="C99A2E"/>
            </a:solidFill>
            <a:prstDash val="solid"/>
          </a:ln>
        </p:spPr>
      </p:sp>
      <p:sp>
        <p:nvSpPr>
          <p:cNvPr id="21" name="Text 19"/>
          <p:cNvSpPr/>
          <p:nvPr/>
        </p:nvSpPr>
        <p:spPr>
          <a:xfrm>
            <a:off x="7406640" y="2468880"/>
            <a:ext cx="1828800" cy="27432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[Active Rental]</a:t>
            </a:r>
            <a:endParaRPr lang="en-US" sz="1000" dirty="0"/>
          </a:p>
        </p:txBody>
      </p:sp>
      <p:sp>
        <p:nvSpPr>
          <p:cNvPr id="22" name="Text 20"/>
          <p:cNvSpPr/>
          <p:nvPr/>
        </p:nvSpPr>
        <p:spPr>
          <a:xfrm>
            <a:off x="7406640" y="2788920"/>
            <a:ext cx="1828800" cy="685800"/>
          </a:xfrm>
          <a:prstGeom prst="rect">
            <a:avLst/>
          </a:prstGeom>
          <a:noFill/>
          <a:ln/>
        </p:spPr>
        <p:txBody>
          <a:bodyPr wrap="square" rtlCol="0" anchor="ctr"/>
          <a:lstStyle/>
          <a:p>
            <a:pPr algn="ctr" indent="0" marL="0">
              <a:buNone/>
            </a:pPr>
            <a:r>
              <a:rPr lang="en-US" sz="850" dirty="0">
                <a:solidFill>
                  <a:srgbClr val="6B6367"/>
                </a:solidFill>
                <a:latin typeface="Arial" pitchFamily="34" charset="0"/>
                <a:ea typeface="Arial" pitchFamily="34" charset="-122"/>
                <a:cs typeface="Arial" pitchFamily="34" charset="-120"/>
              </a:rPr>
              <a:t>In renter custody during celebration event</a:t>
            </a:r>
            <a:endParaRPr lang="en-US" sz="850" dirty="0"/>
          </a:p>
        </p:txBody>
      </p:sp>
      <p:sp>
        <p:nvSpPr>
          <p:cNvPr id="23" name="Shape 21"/>
          <p:cNvSpPr/>
          <p:nvPr/>
        </p:nvSpPr>
        <p:spPr>
          <a:xfrm>
            <a:off x="9509760" y="2377440"/>
            <a:ext cx="2011680" cy="1188720"/>
          </a:xfrm>
          <a:prstGeom prst="roundRect">
            <a:avLst/>
          </a:prstGeom>
          <a:solidFill>
            <a:srgbClr val="FFFFFF"/>
          </a:solidFill>
          <a:ln w="12700">
            <a:solidFill>
              <a:srgbClr val="C99A2E"/>
            </a:solidFill>
            <a:prstDash val="solid"/>
          </a:ln>
        </p:spPr>
      </p:sp>
      <p:sp>
        <p:nvSpPr>
          <p:cNvPr id="24" name="Text 22"/>
          <p:cNvSpPr/>
          <p:nvPr/>
        </p:nvSpPr>
        <p:spPr>
          <a:xfrm>
            <a:off x="9601200" y="2468880"/>
            <a:ext cx="1828800" cy="274320"/>
          </a:xfrm>
          <a:prstGeom prst="rect">
            <a:avLst/>
          </a:prstGeom>
          <a:noFill/>
          <a:ln/>
        </p:spPr>
        <p:txBody>
          <a:bodyPr wrap="square" rtlCol="0" anchor="ctr"/>
          <a:lstStyle/>
          <a:p>
            <a:pPr algn="ctr" indent="0" marL="0">
              <a:buNone/>
            </a:pPr>
            <a:r>
              <a:rPr lang="en-US" sz="1000" b="1" dirty="0">
                <a:solidFill>
                  <a:srgbClr val="1A1618"/>
                </a:solidFill>
                <a:latin typeface="Consolas" pitchFamily="34" charset="0"/>
                <a:ea typeface="Consolas" pitchFamily="34" charset="-122"/>
                <a:cs typeface="Consolas" pitchFamily="34" charset="-120"/>
              </a:rPr>
              <a:t>[Quality Inspection]</a:t>
            </a:r>
            <a:endParaRPr lang="en-US" sz="1000" dirty="0"/>
          </a:p>
        </p:txBody>
      </p:sp>
      <p:sp>
        <p:nvSpPr>
          <p:cNvPr id="25" name="Text 23"/>
          <p:cNvSpPr/>
          <p:nvPr/>
        </p:nvSpPr>
        <p:spPr>
          <a:xfrm>
            <a:off x="9601200" y="2788920"/>
            <a:ext cx="1828800" cy="685800"/>
          </a:xfrm>
          <a:prstGeom prst="rect">
            <a:avLst/>
          </a:prstGeom>
          <a:noFill/>
          <a:ln/>
        </p:spPr>
        <p:txBody>
          <a:bodyPr wrap="square" rtlCol="0" anchor="ctr"/>
          <a:lstStyle/>
          <a:p>
            <a:pPr algn="ctr" indent="0" marL="0">
              <a:buNone/>
            </a:pPr>
            <a:r>
              <a:rPr lang="en-US" sz="850" dirty="0">
                <a:solidFill>
                  <a:srgbClr val="6B6367"/>
                </a:solidFill>
                <a:latin typeface="Arial" pitchFamily="34" charset="0"/>
                <a:ea typeface="Arial" pitchFamily="34" charset="-122"/>
                <a:cs typeface="Arial" pitchFamily="34" charset="-120"/>
              </a:rPr>
              <a:t>Returned to boutique; undergoing fabric audit</a:t>
            </a:r>
            <a:endParaRPr lang="en-US" sz="850" dirty="0"/>
          </a:p>
        </p:txBody>
      </p:sp>
      <p:sp>
        <p:nvSpPr>
          <p:cNvPr id="26" name="Text 24"/>
          <p:cNvSpPr/>
          <p:nvPr/>
        </p:nvSpPr>
        <p:spPr>
          <a:xfrm>
            <a:off x="731520" y="3840480"/>
            <a:ext cx="10698480" cy="274320"/>
          </a:xfrm>
          <a:prstGeom prst="rect">
            <a:avLst/>
          </a:prstGeom>
          <a:noFill/>
          <a:ln/>
        </p:spPr>
        <p:txBody>
          <a:bodyPr wrap="square" rtlCol="0" anchor="ctr"/>
          <a:lstStyle/>
          <a:p>
            <a:pPr indent="0" marL="0">
              <a:buNone/>
            </a:pPr>
            <a:r>
              <a:rPr lang="en-US" sz="1000" b="1" dirty="0">
                <a:solidFill>
                  <a:srgbClr val="7A5F20"/>
                </a:solidFill>
                <a:latin typeface="Arial" pitchFamily="34" charset="0"/>
                <a:ea typeface="Arial" pitchFamily="34" charset="-122"/>
                <a:cs typeface="Arial" pitchFamily="34" charset="-120"/>
              </a:rPr>
              <a:t>B) RENTAL ORDER &amp; ESCROW STATE TRANSITIONS</a:t>
            </a:r>
            <a:endParaRPr lang="en-US" sz="1000" dirty="0"/>
          </a:p>
        </p:txBody>
      </p:sp>
      <p:sp>
        <p:nvSpPr>
          <p:cNvPr id="27" name="Shape 25"/>
          <p:cNvSpPr/>
          <p:nvPr/>
        </p:nvSpPr>
        <p:spPr>
          <a:xfrm>
            <a:off x="731520" y="4206240"/>
            <a:ext cx="2011680" cy="1645920"/>
          </a:xfrm>
          <a:prstGeom prst="roundRect">
            <a:avLst/>
          </a:prstGeom>
          <a:solidFill>
            <a:srgbClr val="FFFFFF"/>
          </a:solidFill>
          <a:ln w="12700">
            <a:solidFill>
              <a:srgbClr val="1E7E55"/>
            </a:solidFill>
            <a:prstDash val="solid"/>
          </a:ln>
        </p:spPr>
      </p:sp>
      <p:sp>
        <p:nvSpPr>
          <p:cNvPr id="28" name="Text 26"/>
          <p:cNvSpPr/>
          <p:nvPr/>
        </p:nvSpPr>
        <p:spPr>
          <a:xfrm>
            <a:off x="822960" y="4343400"/>
            <a:ext cx="182880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1. Order Placed</a:t>
            </a:r>
            <a:endParaRPr lang="en-US" sz="1050" dirty="0"/>
          </a:p>
        </p:txBody>
      </p:sp>
      <p:sp>
        <p:nvSpPr>
          <p:cNvPr id="29" name="Shape 27"/>
          <p:cNvSpPr/>
          <p:nvPr/>
        </p:nvSpPr>
        <p:spPr>
          <a:xfrm>
            <a:off x="914400" y="4709160"/>
            <a:ext cx="1645920" cy="0"/>
          </a:xfrm>
          <a:prstGeom prst="line">
            <a:avLst/>
          </a:prstGeom>
          <a:noFill/>
          <a:ln w="6350">
            <a:solidFill>
              <a:srgbClr val="E2DACD"/>
            </a:solidFill>
            <a:prstDash val="solid"/>
          </a:ln>
        </p:spPr>
      </p:sp>
      <p:sp>
        <p:nvSpPr>
          <p:cNvPr id="30" name="Text 28"/>
          <p:cNvSpPr/>
          <p:nvPr/>
        </p:nvSpPr>
        <p:spPr>
          <a:xfrm>
            <a:off x="822960" y="4800600"/>
            <a:ext cx="1828800" cy="960120"/>
          </a:xfrm>
          <a:prstGeom prst="rect">
            <a:avLst/>
          </a:prstGeom>
          <a:noFill/>
          <a:ln/>
        </p:spPr>
        <p:txBody>
          <a:bodyPr wrap="square" rtlCol="0" anchor="ctr"/>
          <a:lstStyle/>
          <a:p>
            <a:pPr indent="0" marL="0">
              <a:buNone/>
            </a:pPr>
            <a:r>
              <a:rPr lang="en-US" sz="850" dirty="0">
                <a:solidFill>
                  <a:srgbClr val="6B6367"/>
                </a:solidFill>
                <a:latin typeface="Consolas" pitchFamily="34" charset="0"/>
                <a:ea typeface="Consolas" pitchFamily="34" charset="-122"/>
                <a:cs typeface="Consolas" pitchFamily="34" charset="-120"/>
              </a:rPr>
              <a:t>event: checkoutSubmitted()</a:t>
            </a:r>
            <a:endParaRPr lang="en-US" sz="850" dirty="0"/>
          </a:p>
          <a:p>
            <a:pPr indent="0" marL="0">
              <a:buNone/>
            </a:pPr>
            <a:r>
              <a:rPr lang="en-US" sz="850" dirty="0">
                <a:solidFill>
                  <a:srgbClr val="6B6367"/>
                </a:solidFill>
                <a:latin typeface="Consolas" pitchFamily="34" charset="0"/>
                <a:ea typeface="Consolas" pitchFamily="34" charset="-122"/>
                <a:cs typeface="Consolas" pitchFamily="34" charset="-120"/>
              </a:rPr>
              <a:t>guard: [cartValid == true]</a:t>
            </a:r>
            <a:endParaRPr lang="en-US" sz="850" dirty="0"/>
          </a:p>
        </p:txBody>
      </p:sp>
      <p:sp>
        <p:nvSpPr>
          <p:cNvPr id="31" name="Shape 29"/>
          <p:cNvSpPr/>
          <p:nvPr/>
        </p:nvSpPr>
        <p:spPr>
          <a:xfrm>
            <a:off x="2926080" y="4206240"/>
            <a:ext cx="2011680" cy="1645920"/>
          </a:xfrm>
          <a:prstGeom prst="roundRect">
            <a:avLst/>
          </a:prstGeom>
          <a:solidFill>
            <a:srgbClr val="FFFFFF"/>
          </a:solidFill>
          <a:ln w="12700">
            <a:solidFill>
              <a:srgbClr val="1E7E55"/>
            </a:solidFill>
            <a:prstDash val="solid"/>
          </a:ln>
        </p:spPr>
      </p:sp>
      <p:sp>
        <p:nvSpPr>
          <p:cNvPr id="32" name="Text 30"/>
          <p:cNvSpPr/>
          <p:nvPr/>
        </p:nvSpPr>
        <p:spPr>
          <a:xfrm>
            <a:off x="3017520" y="4343400"/>
            <a:ext cx="182880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2. Deposit Escrowed</a:t>
            </a:r>
            <a:endParaRPr lang="en-US" sz="1050" dirty="0"/>
          </a:p>
        </p:txBody>
      </p:sp>
      <p:sp>
        <p:nvSpPr>
          <p:cNvPr id="33" name="Shape 31"/>
          <p:cNvSpPr/>
          <p:nvPr/>
        </p:nvSpPr>
        <p:spPr>
          <a:xfrm>
            <a:off x="3108960" y="4709160"/>
            <a:ext cx="1645920" cy="0"/>
          </a:xfrm>
          <a:prstGeom prst="line">
            <a:avLst/>
          </a:prstGeom>
          <a:noFill/>
          <a:ln w="6350">
            <a:solidFill>
              <a:srgbClr val="E2DACD"/>
            </a:solidFill>
            <a:prstDash val="solid"/>
          </a:ln>
        </p:spPr>
      </p:sp>
      <p:sp>
        <p:nvSpPr>
          <p:cNvPr id="34" name="Text 32"/>
          <p:cNvSpPr/>
          <p:nvPr/>
        </p:nvSpPr>
        <p:spPr>
          <a:xfrm>
            <a:off x="3017520" y="4800600"/>
            <a:ext cx="1828800" cy="960120"/>
          </a:xfrm>
          <a:prstGeom prst="rect">
            <a:avLst/>
          </a:prstGeom>
          <a:noFill/>
          <a:ln/>
        </p:spPr>
        <p:txBody>
          <a:bodyPr wrap="square" rtlCol="0" anchor="ctr"/>
          <a:lstStyle/>
          <a:p>
            <a:pPr indent="0" marL="0">
              <a:buNone/>
            </a:pPr>
            <a:r>
              <a:rPr lang="en-US" sz="850" dirty="0">
                <a:solidFill>
                  <a:srgbClr val="6B6367"/>
                </a:solidFill>
                <a:latin typeface="Consolas" pitchFamily="34" charset="0"/>
                <a:ea typeface="Consolas" pitchFamily="34" charset="-122"/>
                <a:cs typeface="Consolas" pitchFamily="34" charset="-120"/>
              </a:rPr>
              <a:t>event: paymentAuthorized()</a:t>
            </a:r>
            <a:endParaRPr lang="en-US" sz="850" dirty="0"/>
          </a:p>
          <a:p>
            <a:pPr indent="0" marL="0">
              <a:buNone/>
            </a:pPr>
            <a:r>
              <a:rPr lang="en-US" sz="850" dirty="0">
                <a:solidFill>
                  <a:srgbClr val="6B6367"/>
                </a:solidFill>
                <a:latin typeface="Consolas" pitchFamily="34" charset="0"/>
                <a:ea typeface="Consolas" pitchFamily="34" charset="-122"/>
                <a:cs typeface="Consolas" pitchFamily="34" charset="-120"/>
              </a:rPr>
              <a:t>action: lockSecurityDeposit()</a:t>
            </a:r>
            <a:endParaRPr lang="en-US" sz="850" dirty="0"/>
          </a:p>
        </p:txBody>
      </p:sp>
      <p:sp>
        <p:nvSpPr>
          <p:cNvPr id="35" name="Shape 33"/>
          <p:cNvSpPr/>
          <p:nvPr/>
        </p:nvSpPr>
        <p:spPr>
          <a:xfrm>
            <a:off x="5120640" y="4206240"/>
            <a:ext cx="2011680" cy="1645920"/>
          </a:xfrm>
          <a:prstGeom prst="roundRect">
            <a:avLst/>
          </a:prstGeom>
          <a:solidFill>
            <a:srgbClr val="FFFFFF"/>
          </a:solidFill>
          <a:ln w="12700">
            <a:solidFill>
              <a:srgbClr val="1E7E55"/>
            </a:solidFill>
            <a:prstDash val="solid"/>
          </a:ln>
        </p:spPr>
      </p:sp>
      <p:sp>
        <p:nvSpPr>
          <p:cNvPr id="36" name="Text 34"/>
          <p:cNvSpPr/>
          <p:nvPr/>
        </p:nvSpPr>
        <p:spPr>
          <a:xfrm>
            <a:off x="5212080" y="4343400"/>
            <a:ext cx="182880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3. Dispatched</a:t>
            </a:r>
            <a:endParaRPr lang="en-US" sz="1050" dirty="0"/>
          </a:p>
        </p:txBody>
      </p:sp>
      <p:sp>
        <p:nvSpPr>
          <p:cNvPr id="37" name="Shape 35"/>
          <p:cNvSpPr/>
          <p:nvPr/>
        </p:nvSpPr>
        <p:spPr>
          <a:xfrm>
            <a:off x="5303520" y="4709160"/>
            <a:ext cx="1645920" cy="0"/>
          </a:xfrm>
          <a:prstGeom prst="line">
            <a:avLst/>
          </a:prstGeom>
          <a:noFill/>
          <a:ln w="6350">
            <a:solidFill>
              <a:srgbClr val="E2DACD"/>
            </a:solidFill>
            <a:prstDash val="solid"/>
          </a:ln>
        </p:spPr>
      </p:sp>
      <p:sp>
        <p:nvSpPr>
          <p:cNvPr id="38" name="Text 36"/>
          <p:cNvSpPr/>
          <p:nvPr/>
        </p:nvSpPr>
        <p:spPr>
          <a:xfrm>
            <a:off x="5212080" y="4800600"/>
            <a:ext cx="1828800" cy="960120"/>
          </a:xfrm>
          <a:prstGeom prst="rect">
            <a:avLst/>
          </a:prstGeom>
          <a:noFill/>
          <a:ln/>
        </p:spPr>
        <p:txBody>
          <a:bodyPr wrap="square" rtlCol="0" anchor="ctr"/>
          <a:lstStyle/>
          <a:p>
            <a:pPr indent="0" marL="0">
              <a:buNone/>
            </a:pPr>
            <a:r>
              <a:rPr lang="en-US" sz="850" dirty="0">
                <a:solidFill>
                  <a:srgbClr val="6B6367"/>
                </a:solidFill>
                <a:latin typeface="Consolas" pitchFamily="34" charset="0"/>
                <a:ea typeface="Consolas" pitchFamily="34" charset="-122"/>
                <a:cs typeface="Consolas" pitchFamily="34" charset="-120"/>
              </a:rPr>
              <a:t>event: courierShipped()</a:t>
            </a:r>
            <a:endParaRPr lang="en-US" sz="850" dirty="0"/>
          </a:p>
          <a:p>
            <a:pPr indent="0" marL="0">
              <a:buNone/>
            </a:pPr>
            <a:r>
              <a:rPr lang="en-US" sz="850" dirty="0">
                <a:solidFill>
                  <a:srgbClr val="6B6367"/>
                </a:solidFill>
                <a:latin typeface="Consolas" pitchFamily="34" charset="0"/>
                <a:ea typeface="Consolas" pitchFamily="34" charset="-122"/>
                <a:cs typeface="Consolas" pitchFamily="34" charset="-120"/>
              </a:rPr>
              <a:t>action: notifyRenterTracking()</a:t>
            </a:r>
            <a:endParaRPr lang="en-US" sz="850" dirty="0"/>
          </a:p>
        </p:txBody>
      </p:sp>
      <p:sp>
        <p:nvSpPr>
          <p:cNvPr id="39" name="Shape 37"/>
          <p:cNvSpPr/>
          <p:nvPr/>
        </p:nvSpPr>
        <p:spPr>
          <a:xfrm>
            <a:off x="7315200" y="4206240"/>
            <a:ext cx="2011680" cy="1645920"/>
          </a:xfrm>
          <a:prstGeom prst="roundRect">
            <a:avLst/>
          </a:prstGeom>
          <a:solidFill>
            <a:srgbClr val="FFFFFF"/>
          </a:solidFill>
          <a:ln w="12700">
            <a:solidFill>
              <a:srgbClr val="1E7E55"/>
            </a:solidFill>
            <a:prstDash val="solid"/>
          </a:ln>
        </p:spPr>
      </p:sp>
      <p:sp>
        <p:nvSpPr>
          <p:cNvPr id="40" name="Text 38"/>
          <p:cNvSpPr/>
          <p:nvPr/>
        </p:nvSpPr>
        <p:spPr>
          <a:xfrm>
            <a:off x="7406640" y="4343400"/>
            <a:ext cx="182880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4. Returned</a:t>
            </a:r>
            <a:endParaRPr lang="en-US" sz="1050" dirty="0"/>
          </a:p>
        </p:txBody>
      </p:sp>
      <p:sp>
        <p:nvSpPr>
          <p:cNvPr id="41" name="Shape 39"/>
          <p:cNvSpPr/>
          <p:nvPr/>
        </p:nvSpPr>
        <p:spPr>
          <a:xfrm>
            <a:off x="7498080" y="4709160"/>
            <a:ext cx="1645920" cy="0"/>
          </a:xfrm>
          <a:prstGeom prst="line">
            <a:avLst/>
          </a:prstGeom>
          <a:noFill/>
          <a:ln w="6350">
            <a:solidFill>
              <a:srgbClr val="E2DACD"/>
            </a:solidFill>
            <a:prstDash val="solid"/>
          </a:ln>
        </p:spPr>
      </p:sp>
      <p:sp>
        <p:nvSpPr>
          <p:cNvPr id="42" name="Text 40"/>
          <p:cNvSpPr/>
          <p:nvPr/>
        </p:nvSpPr>
        <p:spPr>
          <a:xfrm>
            <a:off x="7406640" y="4800600"/>
            <a:ext cx="1828800" cy="960120"/>
          </a:xfrm>
          <a:prstGeom prst="rect">
            <a:avLst/>
          </a:prstGeom>
          <a:noFill/>
          <a:ln/>
        </p:spPr>
        <p:txBody>
          <a:bodyPr wrap="square" rtlCol="0" anchor="ctr"/>
          <a:lstStyle/>
          <a:p>
            <a:pPr indent="0" marL="0">
              <a:buNone/>
            </a:pPr>
            <a:r>
              <a:rPr lang="en-US" sz="850" dirty="0">
                <a:solidFill>
                  <a:srgbClr val="6B6367"/>
                </a:solidFill>
                <a:latin typeface="Consolas" pitchFamily="34" charset="0"/>
                <a:ea typeface="Consolas" pitchFamily="34" charset="-122"/>
                <a:cs typeface="Consolas" pitchFamily="34" charset="-120"/>
              </a:rPr>
              <a:t>event: garmentDeliveredBack()</a:t>
            </a:r>
            <a:endParaRPr lang="en-US" sz="850" dirty="0"/>
          </a:p>
          <a:p>
            <a:pPr indent="0" marL="0">
              <a:buNone/>
            </a:pPr>
            <a:r>
              <a:rPr lang="en-US" sz="850" dirty="0">
                <a:solidFill>
                  <a:srgbClr val="6B6367"/>
                </a:solidFill>
                <a:latin typeface="Consolas" pitchFamily="34" charset="0"/>
                <a:ea typeface="Consolas" pitchFamily="34" charset="-122"/>
                <a:cs typeface="Consolas" pitchFamily="34" charset="-120"/>
              </a:rPr>
              <a:t>action: trigger48hrInspection()</a:t>
            </a:r>
            <a:endParaRPr lang="en-US" sz="850" dirty="0"/>
          </a:p>
        </p:txBody>
      </p:sp>
      <p:sp>
        <p:nvSpPr>
          <p:cNvPr id="43" name="Shape 41"/>
          <p:cNvSpPr/>
          <p:nvPr/>
        </p:nvSpPr>
        <p:spPr>
          <a:xfrm>
            <a:off x="9509760" y="4206240"/>
            <a:ext cx="2011680" cy="1645920"/>
          </a:xfrm>
          <a:prstGeom prst="roundRect">
            <a:avLst/>
          </a:prstGeom>
          <a:solidFill>
            <a:srgbClr val="FFFFFF"/>
          </a:solidFill>
          <a:ln w="12700">
            <a:solidFill>
              <a:srgbClr val="1E7E55"/>
            </a:solidFill>
            <a:prstDash val="solid"/>
          </a:ln>
        </p:spPr>
      </p:sp>
      <p:sp>
        <p:nvSpPr>
          <p:cNvPr id="44" name="Text 42"/>
          <p:cNvSpPr/>
          <p:nvPr/>
        </p:nvSpPr>
        <p:spPr>
          <a:xfrm>
            <a:off x="9601200" y="4343400"/>
            <a:ext cx="1828800" cy="320040"/>
          </a:xfrm>
          <a:prstGeom prst="rect">
            <a:avLst/>
          </a:prstGeom>
          <a:noFill/>
          <a:ln/>
        </p:spPr>
        <p:txBody>
          <a:bodyPr wrap="square" rtlCol="0" anchor="ctr"/>
          <a:lstStyle/>
          <a:p>
            <a:pPr algn="ctr" indent="0" marL="0">
              <a:buNone/>
            </a:pPr>
            <a:r>
              <a:rPr lang="en-US" sz="1050" b="1" dirty="0">
                <a:solidFill>
                  <a:srgbClr val="1A1618"/>
                </a:solidFill>
                <a:latin typeface="Georgia" pitchFamily="34" charset="0"/>
                <a:ea typeface="Georgia" pitchFamily="34" charset="-122"/>
                <a:cs typeface="Georgia" pitchFamily="34" charset="-120"/>
              </a:rPr>
              <a:t>5. Settled / Refunded</a:t>
            </a:r>
            <a:endParaRPr lang="en-US" sz="1050" dirty="0"/>
          </a:p>
        </p:txBody>
      </p:sp>
      <p:sp>
        <p:nvSpPr>
          <p:cNvPr id="45" name="Shape 43"/>
          <p:cNvSpPr/>
          <p:nvPr/>
        </p:nvSpPr>
        <p:spPr>
          <a:xfrm>
            <a:off x="9692640" y="4709160"/>
            <a:ext cx="1645920" cy="0"/>
          </a:xfrm>
          <a:prstGeom prst="line">
            <a:avLst/>
          </a:prstGeom>
          <a:noFill/>
          <a:ln w="6350">
            <a:solidFill>
              <a:srgbClr val="E2DACD"/>
            </a:solidFill>
            <a:prstDash val="solid"/>
          </a:ln>
        </p:spPr>
      </p:sp>
      <p:sp>
        <p:nvSpPr>
          <p:cNvPr id="46" name="Text 44"/>
          <p:cNvSpPr/>
          <p:nvPr/>
        </p:nvSpPr>
        <p:spPr>
          <a:xfrm>
            <a:off x="9601200" y="4800600"/>
            <a:ext cx="1828800" cy="960120"/>
          </a:xfrm>
          <a:prstGeom prst="rect">
            <a:avLst/>
          </a:prstGeom>
          <a:noFill/>
          <a:ln/>
        </p:spPr>
        <p:txBody>
          <a:bodyPr wrap="square" rtlCol="0" anchor="ctr"/>
          <a:lstStyle/>
          <a:p>
            <a:pPr indent="0" marL="0">
              <a:buNone/>
            </a:pPr>
            <a:r>
              <a:rPr lang="en-US" sz="850" dirty="0">
                <a:solidFill>
                  <a:srgbClr val="6B6367"/>
                </a:solidFill>
                <a:latin typeface="Consolas" pitchFamily="34" charset="0"/>
                <a:ea typeface="Consolas" pitchFamily="34" charset="-122"/>
                <a:cs typeface="Consolas" pitchFamily="34" charset="-120"/>
              </a:rPr>
              <a:t>event: inspectionPassed()</a:t>
            </a:r>
            <a:endParaRPr lang="en-US" sz="850" dirty="0"/>
          </a:p>
          <a:p>
            <a:pPr indent="0" marL="0">
              <a:buNone/>
            </a:pPr>
            <a:r>
              <a:rPr lang="en-US" sz="850" dirty="0">
                <a:solidFill>
                  <a:srgbClr val="6B6367"/>
                </a:solidFill>
                <a:latin typeface="Consolas" pitchFamily="34" charset="0"/>
                <a:ea typeface="Consolas" pitchFamily="34" charset="-122"/>
                <a:cs typeface="Consolas" pitchFamily="34" charset="-120"/>
              </a:rPr>
              <a:t>action: returnEscrowBalance()</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19 · ACT V</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1371600"/>
            <a:ext cx="4114800" cy="3200400"/>
          </a:xfrm>
          <a:prstGeom prst="rect">
            <a:avLst/>
          </a:prstGeom>
          <a:noFill/>
          <a:ln/>
        </p:spPr>
        <p:txBody>
          <a:bodyPr wrap="square" rtlCol="0" anchor="ctr"/>
          <a:lstStyle/>
          <a:p>
            <a:pPr algn="l" indent="0" marL="0">
              <a:buNone/>
            </a:pPr>
            <a:r>
              <a:rPr lang="en-US" sz="12000" b="1" dirty="0">
                <a:solidFill>
                  <a:srgbClr val="1E1217"/>
                </a:solidFill>
                <a:latin typeface="Georgia" pitchFamily="34" charset="0"/>
                <a:ea typeface="Georgia" pitchFamily="34" charset="-122"/>
                <a:cs typeface="Georgia" pitchFamily="34" charset="-120"/>
              </a:rPr>
              <a:t>V</a:t>
            </a:r>
            <a:endParaRPr lang="en-US" sz="12000" dirty="0"/>
          </a:p>
        </p:txBody>
      </p:sp>
      <p:sp>
        <p:nvSpPr>
          <p:cNvPr id="6" name="Shape 4"/>
          <p:cNvSpPr/>
          <p:nvPr/>
        </p:nvSpPr>
        <p:spPr>
          <a:xfrm>
            <a:off x="731520" y="1828800"/>
            <a:ext cx="2194560" cy="365760"/>
          </a:xfrm>
          <a:prstGeom prst="roundRect">
            <a:avLst/>
          </a:prstGeom>
          <a:solidFill>
            <a:srgbClr val="C99A2E"/>
          </a:solidFill>
          <a:ln w="12700">
            <a:solidFill>
              <a:srgbClr val="E6B85C"/>
            </a:solidFill>
            <a:prstDash val="solid"/>
          </a:ln>
        </p:spPr>
      </p:sp>
      <p:sp>
        <p:nvSpPr>
          <p:cNvPr id="7" name="Text 5"/>
          <p:cNvSpPr/>
          <p:nvPr/>
        </p:nvSpPr>
        <p:spPr>
          <a:xfrm>
            <a:off x="731520" y="1828800"/>
            <a:ext cx="2194560" cy="365760"/>
          </a:xfrm>
          <a:prstGeom prst="rect">
            <a:avLst/>
          </a:prstGeom>
          <a:noFill/>
          <a:ln/>
        </p:spPr>
        <p:txBody>
          <a:bodyPr wrap="square" rtlCol="0" anchor="ctr"/>
          <a:lstStyle/>
          <a:p>
            <a:pPr algn="ctr" indent="0" marL="0">
              <a:buNone/>
            </a:pPr>
            <a:r>
              <a:rPr lang="en-US" sz="1100" b="1" dirty="0">
                <a:solidFill>
                  <a:srgbClr val="0E0709"/>
                </a:solidFill>
                <a:latin typeface="Arial" pitchFamily="34" charset="0"/>
                <a:ea typeface="Arial" pitchFamily="34" charset="-122"/>
                <a:cs typeface="Arial" pitchFamily="34" charset="-120"/>
              </a:rPr>
              <a:t>ACT V · THE DATA VAULT</a:t>
            </a:r>
            <a:endParaRPr lang="en-US" sz="1100" dirty="0"/>
          </a:p>
        </p:txBody>
      </p:sp>
      <p:sp>
        <p:nvSpPr>
          <p:cNvPr id="8" name="Text 6"/>
          <p:cNvSpPr/>
          <p:nvPr/>
        </p:nvSpPr>
        <p:spPr>
          <a:xfrm>
            <a:off x="731520" y="2423160"/>
            <a:ext cx="10058400" cy="1005840"/>
          </a:xfrm>
          <a:prstGeom prst="rect">
            <a:avLst/>
          </a:prstGeom>
          <a:noFill/>
          <a:ln/>
        </p:spPr>
        <p:txBody>
          <a:bodyPr wrap="square" rtlCol="0" anchor="ctr"/>
          <a:lstStyle/>
          <a:p>
            <a:pPr indent="0" marL="0">
              <a:buNone/>
            </a:pPr>
            <a:r>
              <a:rPr lang="en-US" sz="4200" b="1" dirty="0">
                <a:solidFill>
                  <a:srgbClr val="FAF7F2"/>
                </a:solidFill>
                <a:latin typeface="Georgia" pitchFamily="34" charset="0"/>
                <a:ea typeface="Georgia" pitchFamily="34" charset="-122"/>
                <a:cs typeface="Georgia" pitchFamily="34" charset="-120"/>
              </a:rPr>
              <a:t>Relational Architecture, Entity Schemas &amp; Dictionaries</a:t>
            </a:r>
            <a:endParaRPr lang="en-US" sz="4200" dirty="0"/>
          </a:p>
        </p:txBody>
      </p:sp>
      <p:sp>
        <p:nvSpPr>
          <p:cNvPr id="9" name="Text 7"/>
          <p:cNvSpPr/>
          <p:nvPr/>
        </p:nvSpPr>
        <p:spPr>
          <a:xfrm>
            <a:off x="731520" y="3520440"/>
            <a:ext cx="9601200" cy="731520"/>
          </a:xfrm>
          <a:prstGeom prst="rect">
            <a:avLst/>
          </a:prstGeom>
          <a:noFill/>
          <a:ln/>
        </p:spPr>
        <p:txBody>
          <a:bodyPr wrap="square" rtlCol="0" anchor="ctr"/>
          <a:lstStyle/>
          <a:p>
            <a:pPr indent="0" marL="0">
              <a:buNone/>
            </a:pPr>
            <a:r>
              <a:rPr lang="en-US" sz="1800" dirty="0">
                <a:solidFill>
                  <a:srgbClr val="E6B85C"/>
                </a:solidFill>
                <a:latin typeface="Arial" pitchFamily="34" charset="0"/>
                <a:ea typeface="Arial" pitchFamily="34" charset="-122"/>
                <a:cs typeface="Arial" pitchFamily="34" charset="-120"/>
              </a:rPr>
              <a:t>Crow’s foot data models, primary/foreign key mappings, and validated live sample records.</a:t>
            </a:r>
            <a:endParaRPr lang="en-US" sz="1800" dirty="0"/>
          </a:p>
        </p:txBody>
      </p:sp>
      <p:sp>
        <p:nvSpPr>
          <p:cNvPr id="10" name="Shape 8"/>
          <p:cNvSpPr/>
          <p:nvPr/>
        </p:nvSpPr>
        <p:spPr>
          <a:xfrm>
            <a:off x="9144000" y="2011680"/>
            <a:ext cx="2286000" cy="2743200"/>
          </a:xfrm>
          <a:prstGeom prst="arc">
            <a:avLst/>
          </a:prstGeom>
          <a:noFill/>
          <a:ln w="19050">
            <a:solidFill>
              <a:srgbClr val="C99A2E"/>
            </a:solidFill>
            <a:prstDash val="solid"/>
          </a:ln>
        </p:spPr>
      </p:sp>
      <p:sp>
        <p:nvSpPr>
          <p:cNvPr id="11" name="Shape 9"/>
          <p:cNvSpPr/>
          <p:nvPr/>
        </p:nvSpPr>
        <p:spPr>
          <a:xfrm>
            <a:off x="9372600" y="3383280"/>
            <a:ext cx="1828800" cy="2286000"/>
          </a:xfrm>
          <a:prstGeom prst="rect">
            <a:avLst/>
          </a:prstGeom>
          <a:noFill/>
          <a:ln w="12700">
            <a:solidFill>
              <a:srgbClr val="C99A2E"/>
            </a:solidFill>
            <a:prstDash val="solid"/>
          </a:ln>
        </p:spPr>
      </p:sp>
      <p:sp>
        <p:nvSpPr>
          <p:cNvPr id="12" name="Shape 10"/>
          <p:cNvSpPr/>
          <p:nvPr/>
        </p:nvSpPr>
        <p:spPr>
          <a:xfrm>
            <a:off x="731520" y="5669280"/>
            <a:ext cx="10728655" cy="73152"/>
          </a:xfrm>
          <a:prstGeom prst="rect">
            <a:avLst/>
          </a:prstGeom>
          <a:solidFill>
            <a:srgbClr val="2A1A20"/>
          </a:solidFill>
          <a:ln/>
        </p:spPr>
      </p:sp>
      <p:sp>
        <p:nvSpPr>
          <p:cNvPr id="13" name="Shape 11"/>
          <p:cNvSpPr/>
          <p:nvPr/>
        </p:nvSpPr>
        <p:spPr>
          <a:xfrm>
            <a:off x="731520" y="5669280"/>
            <a:ext cx="8904784" cy="73152"/>
          </a:xfrm>
          <a:prstGeom prst="rect">
            <a:avLst/>
          </a:prstGeom>
          <a:solidFill>
            <a:srgbClr val="C99A2E"/>
          </a:solidFill>
          <a:ln/>
        </p:spPr>
      </p:sp>
      <p:sp>
        <p:nvSpPr>
          <p:cNvPr id="14" name="Text 12"/>
          <p:cNvSpPr/>
          <p:nvPr/>
        </p:nvSpPr>
        <p:spPr>
          <a:xfrm>
            <a:off x="731520" y="5806440"/>
            <a:ext cx="5486400" cy="274320"/>
          </a:xfrm>
          <a:prstGeom prst="rect">
            <a:avLst/>
          </a:prstGeom>
          <a:noFill/>
          <a:ln/>
        </p:spPr>
        <p:txBody>
          <a:bodyPr wrap="square" rtlCol="0" anchor="ctr"/>
          <a:lstStyle/>
          <a:p>
            <a:pPr indent="0" marL="0">
              <a:buNone/>
            </a:pPr>
            <a:r>
              <a:rPr lang="en-US" sz="900" b="1" spc="100" kern="0" dirty="0">
                <a:solidFill>
                  <a:srgbClr val="C99A2E"/>
                </a:solidFill>
                <a:latin typeface="Arial" pitchFamily="34" charset="0"/>
                <a:ea typeface="Arial" pitchFamily="34" charset="-122"/>
                <a:cs typeface="Arial" pitchFamily="34" charset="-120"/>
              </a:rPr>
              <a:t>STORYLINE PROGRESSION: 83% COMPLETED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20 · ACT V</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20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RELATIONAL SCHEMA SPECIFICATION</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Entity Relationship Diagram (Crow’s Foot Notation)</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7 normalized entities mapping PKs, FKs, unique keys, and relational cardinalities.</a:t>
            </a:r>
            <a:endParaRPr lang="en-US" sz="1300" dirty="0"/>
          </a:p>
        </p:txBody>
      </p:sp>
      <p:sp>
        <p:nvSpPr>
          <p:cNvPr id="10" name="Shape 8"/>
          <p:cNvSpPr/>
          <p:nvPr/>
        </p:nvSpPr>
        <p:spPr>
          <a:xfrm>
            <a:off x="731520" y="2011680"/>
            <a:ext cx="2286000" cy="1645920"/>
          </a:xfrm>
          <a:prstGeom prst="rect">
            <a:avLst/>
          </a:prstGeom>
          <a:solidFill>
            <a:srgbClr val="FFFFFF"/>
          </a:solidFill>
          <a:ln w="15875">
            <a:solidFill>
              <a:srgbClr val="7A5F20"/>
            </a:solidFill>
            <a:prstDash val="solid"/>
          </a:ln>
        </p:spPr>
      </p:sp>
      <p:sp>
        <p:nvSpPr>
          <p:cNvPr id="11" name="Shape 9"/>
          <p:cNvSpPr/>
          <p:nvPr/>
        </p:nvSpPr>
        <p:spPr>
          <a:xfrm>
            <a:off x="731520" y="2011680"/>
            <a:ext cx="2286000" cy="320040"/>
          </a:xfrm>
          <a:prstGeom prst="rect">
            <a:avLst/>
          </a:prstGeom>
          <a:solidFill>
            <a:srgbClr val="2E2528"/>
          </a:solidFill>
          <a:ln/>
        </p:spPr>
      </p:sp>
      <p:sp>
        <p:nvSpPr>
          <p:cNvPr id="12" name="Text 10"/>
          <p:cNvSpPr/>
          <p:nvPr/>
        </p:nvSpPr>
        <p:spPr>
          <a:xfrm>
            <a:off x="731520" y="2011680"/>
            <a:ext cx="2286000" cy="320040"/>
          </a:xfrm>
          <a:prstGeom prst="rect">
            <a:avLst/>
          </a:prstGeom>
          <a:noFill/>
          <a:ln/>
        </p:spPr>
        <p:txBody>
          <a:bodyPr wrap="square" rtlCol="0" anchor="ctr"/>
          <a:lstStyle/>
          <a:p>
            <a:pPr algn="ctr" indent="0" marL="0">
              <a:buNone/>
            </a:pPr>
            <a:r>
              <a:rPr lang="en-US" sz="1000" b="1" dirty="0">
                <a:solidFill>
                  <a:srgbClr val="FAF7F2"/>
                </a:solidFill>
                <a:latin typeface="Georgia" pitchFamily="34" charset="0"/>
                <a:ea typeface="Georgia" pitchFamily="34" charset="-122"/>
                <a:cs typeface="Georgia" pitchFamily="34" charset="-120"/>
              </a:rPr>
              <a:t>USERS</a:t>
            </a:r>
            <a:endParaRPr lang="en-US" sz="1000" dirty="0"/>
          </a:p>
        </p:txBody>
      </p:sp>
      <p:sp>
        <p:nvSpPr>
          <p:cNvPr id="13" name="Text 11"/>
          <p:cNvSpPr/>
          <p:nvPr/>
        </p:nvSpPr>
        <p:spPr>
          <a:xfrm>
            <a:off x="868680" y="2423160"/>
            <a:ext cx="2011680" cy="457200"/>
          </a:xfrm>
          <a:prstGeom prst="rect">
            <a:avLst/>
          </a:prstGeom>
          <a:noFill/>
          <a:ln/>
        </p:spPr>
        <p:txBody>
          <a:bodyPr wrap="square" rtlCol="0" anchor="ctr"/>
          <a:lstStyle/>
          <a:p>
            <a:pPr indent="0" marL="0">
              <a:buNone/>
            </a:pPr>
            <a:r>
              <a:rPr lang="en-US" sz="900" b="1" dirty="0">
                <a:solidFill>
                  <a:srgbClr val="7A5F20"/>
                </a:solidFill>
                <a:latin typeface="Consolas" pitchFamily="34" charset="0"/>
                <a:ea typeface="Consolas" pitchFamily="34" charset="-122"/>
                <a:cs typeface="Consolas" pitchFamily="34" charset="-120"/>
              </a:rPr>
              <a:t>PK: id (PK)</a:t>
            </a:r>
            <a:endParaRPr lang="en-US" sz="900" dirty="0"/>
          </a:p>
        </p:txBody>
      </p:sp>
      <p:sp>
        <p:nvSpPr>
          <p:cNvPr id="14" name="Text 12"/>
          <p:cNvSpPr/>
          <p:nvPr/>
        </p:nvSpPr>
        <p:spPr>
          <a:xfrm>
            <a:off x="868680" y="2926080"/>
            <a:ext cx="2011680" cy="64008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Attributes / FKs:</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role, email (UK)</a:t>
            </a:r>
            <a:endParaRPr lang="en-US" sz="850" dirty="0"/>
          </a:p>
        </p:txBody>
      </p:sp>
      <p:sp>
        <p:nvSpPr>
          <p:cNvPr id="15" name="Shape 13"/>
          <p:cNvSpPr/>
          <p:nvPr/>
        </p:nvSpPr>
        <p:spPr>
          <a:xfrm>
            <a:off x="3474720" y="2011680"/>
            <a:ext cx="2377440" cy="1645920"/>
          </a:xfrm>
          <a:prstGeom prst="rect">
            <a:avLst/>
          </a:prstGeom>
          <a:solidFill>
            <a:srgbClr val="FFFFFF"/>
          </a:solidFill>
          <a:ln w="15875">
            <a:solidFill>
              <a:srgbClr val="7A5F20"/>
            </a:solidFill>
            <a:prstDash val="solid"/>
          </a:ln>
        </p:spPr>
      </p:sp>
      <p:sp>
        <p:nvSpPr>
          <p:cNvPr id="16" name="Shape 14"/>
          <p:cNvSpPr/>
          <p:nvPr/>
        </p:nvSpPr>
        <p:spPr>
          <a:xfrm>
            <a:off x="3474720" y="2011680"/>
            <a:ext cx="2377440" cy="320040"/>
          </a:xfrm>
          <a:prstGeom prst="rect">
            <a:avLst/>
          </a:prstGeom>
          <a:solidFill>
            <a:srgbClr val="2E2528"/>
          </a:solidFill>
          <a:ln/>
        </p:spPr>
      </p:sp>
      <p:sp>
        <p:nvSpPr>
          <p:cNvPr id="17" name="Text 15"/>
          <p:cNvSpPr/>
          <p:nvPr/>
        </p:nvSpPr>
        <p:spPr>
          <a:xfrm>
            <a:off x="3474720" y="2011680"/>
            <a:ext cx="2377440" cy="320040"/>
          </a:xfrm>
          <a:prstGeom prst="rect">
            <a:avLst/>
          </a:prstGeom>
          <a:noFill/>
          <a:ln/>
        </p:spPr>
        <p:txBody>
          <a:bodyPr wrap="square" rtlCol="0" anchor="ctr"/>
          <a:lstStyle/>
          <a:p>
            <a:pPr algn="ctr" indent="0" marL="0">
              <a:buNone/>
            </a:pPr>
            <a:r>
              <a:rPr lang="en-US" sz="1000" b="1" dirty="0">
                <a:solidFill>
                  <a:srgbClr val="FAF7F2"/>
                </a:solidFill>
                <a:latin typeface="Georgia" pitchFamily="34" charset="0"/>
                <a:ea typeface="Georgia" pitchFamily="34" charset="-122"/>
                <a:cs typeface="Georgia" pitchFamily="34" charset="-120"/>
              </a:rPr>
              <a:t>LENDERS</a:t>
            </a:r>
            <a:endParaRPr lang="en-US" sz="1000" dirty="0"/>
          </a:p>
        </p:txBody>
      </p:sp>
      <p:sp>
        <p:nvSpPr>
          <p:cNvPr id="18" name="Text 16"/>
          <p:cNvSpPr/>
          <p:nvPr/>
        </p:nvSpPr>
        <p:spPr>
          <a:xfrm>
            <a:off x="3611880" y="2423160"/>
            <a:ext cx="2103120" cy="457200"/>
          </a:xfrm>
          <a:prstGeom prst="rect">
            <a:avLst/>
          </a:prstGeom>
          <a:noFill/>
          <a:ln/>
        </p:spPr>
        <p:txBody>
          <a:bodyPr wrap="square" rtlCol="0" anchor="ctr"/>
          <a:lstStyle/>
          <a:p>
            <a:pPr indent="0" marL="0">
              <a:buNone/>
            </a:pPr>
            <a:r>
              <a:rPr lang="en-US" sz="900" b="1" dirty="0">
                <a:solidFill>
                  <a:srgbClr val="7A5F20"/>
                </a:solidFill>
                <a:latin typeface="Consolas" pitchFamily="34" charset="0"/>
                <a:ea typeface="Consolas" pitchFamily="34" charset="-122"/>
                <a:cs typeface="Consolas" pitchFamily="34" charset="-120"/>
              </a:rPr>
              <a:t>PK: id (PK, FK → USERS)</a:t>
            </a:r>
            <a:endParaRPr lang="en-US" sz="900" dirty="0"/>
          </a:p>
        </p:txBody>
      </p:sp>
      <p:sp>
        <p:nvSpPr>
          <p:cNvPr id="19" name="Text 17"/>
          <p:cNvSpPr/>
          <p:nvPr/>
        </p:nvSpPr>
        <p:spPr>
          <a:xfrm>
            <a:off x="3611880" y="2926080"/>
            <a:ext cx="2103120" cy="64008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Attributes / FKs:</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boutiqueName, rating</a:t>
            </a:r>
            <a:endParaRPr lang="en-US" sz="850" dirty="0"/>
          </a:p>
        </p:txBody>
      </p:sp>
      <p:sp>
        <p:nvSpPr>
          <p:cNvPr id="20" name="Shape 18"/>
          <p:cNvSpPr/>
          <p:nvPr/>
        </p:nvSpPr>
        <p:spPr>
          <a:xfrm>
            <a:off x="6400800" y="2011680"/>
            <a:ext cx="2468880" cy="1645920"/>
          </a:xfrm>
          <a:prstGeom prst="rect">
            <a:avLst/>
          </a:prstGeom>
          <a:solidFill>
            <a:srgbClr val="FFFFFF"/>
          </a:solidFill>
          <a:ln w="15875">
            <a:solidFill>
              <a:srgbClr val="7A5F20"/>
            </a:solidFill>
            <a:prstDash val="solid"/>
          </a:ln>
        </p:spPr>
      </p:sp>
      <p:sp>
        <p:nvSpPr>
          <p:cNvPr id="21" name="Shape 19"/>
          <p:cNvSpPr/>
          <p:nvPr/>
        </p:nvSpPr>
        <p:spPr>
          <a:xfrm>
            <a:off x="6400800" y="2011680"/>
            <a:ext cx="2468880" cy="320040"/>
          </a:xfrm>
          <a:prstGeom prst="rect">
            <a:avLst/>
          </a:prstGeom>
          <a:solidFill>
            <a:srgbClr val="2E2528"/>
          </a:solidFill>
          <a:ln/>
        </p:spPr>
      </p:sp>
      <p:sp>
        <p:nvSpPr>
          <p:cNvPr id="22" name="Text 20"/>
          <p:cNvSpPr/>
          <p:nvPr/>
        </p:nvSpPr>
        <p:spPr>
          <a:xfrm>
            <a:off x="6400800" y="2011680"/>
            <a:ext cx="2468880" cy="320040"/>
          </a:xfrm>
          <a:prstGeom prst="rect">
            <a:avLst/>
          </a:prstGeom>
          <a:noFill/>
          <a:ln/>
        </p:spPr>
        <p:txBody>
          <a:bodyPr wrap="square" rtlCol="0" anchor="ctr"/>
          <a:lstStyle/>
          <a:p>
            <a:pPr algn="ctr" indent="0" marL="0">
              <a:buNone/>
            </a:pPr>
            <a:r>
              <a:rPr lang="en-US" sz="1000" b="1" dirty="0">
                <a:solidFill>
                  <a:srgbClr val="FAF7F2"/>
                </a:solidFill>
                <a:latin typeface="Georgia" pitchFamily="34" charset="0"/>
                <a:ea typeface="Georgia" pitchFamily="34" charset="-122"/>
                <a:cs typeface="Georgia" pitchFamily="34" charset="-120"/>
              </a:rPr>
              <a:t>DRESSES</a:t>
            </a:r>
            <a:endParaRPr lang="en-US" sz="1000" dirty="0"/>
          </a:p>
        </p:txBody>
      </p:sp>
      <p:sp>
        <p:nvSpPr>
          <p:cNvPr id="23" name="Text 21"/>
          <p:cNvSpPr/>
          <p:nvPr/>
        </p:nvSpPr>
        <p:spPr>
          <a:xfrm>
            <a:off x="6537960" y="2423160"/>
            <a:ext cx="2194560" cy="457200"/>
          </a:xfrm>
          <a:prstGeom prst="rect">
            <a:avLst/>
          </a:prstGeom>
          <a:noFill/>
          <a:ln/>
        </p:spPr>
        <p:txBody>
          <a:bodyPr wrap="square" rtlCol="0" anchor="ctr"/>
          <a:lstStyle/>
          <a:p>
            <a:pPr indent="0" marL="0">
              <a:buNone/>
            </a:pPr>
            <a:r>
              <a:rPr lang="en-US" sz="900" b="1" dirty="0">
                <a:solidFill>
                  <a:srgbClr val="7A5F20"/>
                </a:solidFill>
                <a:latin typeface="Consolas" pitchFamily="34" charset="0"/>
                <a:ea typeface="Consolas" pitchFamily="34" charset="-122"/>
                <a:cs typeface="Consolas" pitchFamily="34" charset="-120"/>
              </a:rPr>
              <a:t>PK: id (PK)</a:t>
            </a:r>
            <a:endParaRPr lang="en-US" sz="900" dirty="0"/>
          </a:p>
        </p:txBody>
      </p:sp>
      <p:sp>
        <p:nvSpPr>
          <p:cNvPr id="24" name="Text 22"/>
          <p:cNvSpPr/>
          <p:nvPr/>
        </p:nvSpPr>
        <p:spPr>
          <a:xfrm>
            <a:off x="6537960" y="2926080"/>
            <a:ext cx="2194560" cy="64008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Attributes / FKs:</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lenderId (FK → LENDERS)</a:t>
            </a:r>
            <a:endParaRPr lang="en-US" sz="850" dirty="0"/>
          </a:p>
        </p:txBody>
      </p:sp>
      <p:sp>
        <p:nvSpPr>
          <p:cNvPr id="25" name="Shape 23"/>
          <p:cNvSpPr/>
          <p:nvPr/>
        </p:nvSpPr>
        <p:spPr>
          <a:xfrm>
            <a:off x="9326880" y="2011680"/>
            <a:ext cx="2103120" cy="1645920"/>
          </a:xfrm>
          <a:prstGeom prst="rect">
            <a:avLst/>
          </a:prstGeom>
          <a:solidFill>
            <a:srgbClr val="FFFFFF"/>
          </a:solidFill>
          <a:ln w="15875">
            <a:solidFill>
              <a:srgbClr val="7A5F20"/>
            </a:solidFill>
            <a:prstDash val="solid"/>
          </a:ln>
        </p:spPr>
      </p:sp>
      <p:sp>
        <p:nvSpPr>
          <p:cNvPr id="26" name="Shape 24"/>
          <p:cNvSpPr/>
          <p:nvPr/>
        </p:nvSpPr>
        <p:spPr>
          <a:xfrm>
            <a:off x="9326880" y="2011680"/>
            <a:ext cx="2103120" cy="320040"/>
          </a:xfrm>
          <a:prstGeom prst="rect">
            <a:avLst/>
          </a:prstGeom>
          <a:solidFill>
            <a:srgbClr val="2E2528"/>
          </a:solidFill>
          <a:ln/>
        </p:spPr>
      </p:sp>
      <p:sp>
        <p:nvSpPr>
          <p:cNvPr id="27" name="Text 25"/>
          <p:cNvSpPr/>
          <p:nvPr/>
        </p:nvSpPr>
        <p:spPr>
          <a:xfrm>
            <a:off x="9326880" y="2011680"/>
            <a:ext cx="2103120" cy="320040"/>
          </a:xfrm>
          <a:prstGeom prst="rect">
            <a:avLst/>
          </a:prstGeom>
          <a:noFill/>
          <a:ln/>
        </p:spPr>
        <p:txBody>
          <a:bodyPr wrap="square" rtlCol="0" anchor="ctr"/>
          <a:lstStyle/>
          <a:p>
            <a:pPr algn="ctr" indent="0" marL="0">
              <a:buNone/>
            </a:pPr>
            <a:r>
              <a:rPr lang="en-US" sz="1000" b="1" dirty="0">
                <a:solidFill>
                  <a:srgbClr val="FAF7F2"/>
                </a:solidFill>
                <a:latin typeface="Georgia" pitchFamily="34" charset="0"/>
                <a:ea typeface="Georgia" pitchFamily="34" charset="-122"/>
                <a:cs typeface="Georgia" pitchFamily="34" charset="-120"/>
              </a:rPr>
              <a:t>CART</a:t>
            </a:r>
            <a:endParaRPr lang="en-US" sz="1000" dirty="0"/>
          </a:p>
        </p:txBody>
      </p:sp>
      <p:sp>
        <p:nvSpPr>
          <p:cNvPr id="28" name="Text 26"/>
          <p:cNvSpPr/>
          <p:nvPr/>
        </p:nvSpPr>
        <p:spPr>
          <a:xfrm>
            <a:off x="9464040" y="2423160"/>
            <a:ext cx="1828800" cy="457200"/>
          </a:xfrm>
          <a:prstGeom prst="rect">
            <a:avLst/>
          </a:prstGeom>
          <a:noFill/>
          <a:ln/>
        </p:spPr>
        <p:txBody>
          <a:bodyPr wrap="square" rtlCol="0" anchor="ctr"/>
          <a:lstStyle/>
          <a:p>
            <a:pPr indent="0" marL="0">
              <a:buNone/>
            </a:pPr>
            <a:r>
              <a:rPr lang="en-US" sz="900" b="1" dirty="0">
                <a:solidFill>
                  <a:srgbClr val="7A5F20"/>
                </a:solidFill>
                <a:latin typeface="Consolas" pitchFamily="34" charset="0"/>
                <a:ea typeface="Consolas" pitchFamily="34" charset="-122"/>
                <a:cs typeface="Consolas" pitchFamily="34" charset="-120"/>
              </a:rPr>
              <a:t>PK: id (PK)</a:t>
            </a:r>
            <a:endParaRPr lang="en-US" sz="900" dirty="0"/>
          </a:p>
        </p:txBody>
      </p:sp>
      <p:sp>
        <p:nvSpPr>
          <p:cNvPr id="29" name="Text 27"/>
          <p:cNvSpPr/>
          <p:nvPr/>
        </p:nvSpPr>
        <p:spPr>
          <a:xfrm>
            <a:off x="9464040" y="2926080"/>
            <a:ext cx="1828800" cy="64008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Attributes / FKs:</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userId (FK), dressId (FK)</a:t>
            </a:r>
            <a:endParaRPr lang="en-US" sz="850" dirty="0"/>
          </a:p>
        </p:txBody>
      </p:sp>
      <p:sp>
        <p:nvSpPr>
          <p:cNvPr id="30" name="Shape 28"/>
          <p:cNvSpPr/>
          <p:nvPr/>
        </p:nvSpPr>
        <p:spPr>
          <a:xfrm>
            <a:off x="1828800" y="4114800"/>
            <a:ext cx="2926080" cy="1645920"/>
          </a:xfrm>
          <a:prstGeom prst="rect">
            <a:avLst/>
          </a:prstGeom>
          <a:solidFill>
            <a:srgbClr val="FFFFFF"/>
          </a:solidFill>
          <a:ln w="15875">
            <a:solidFill>
              <a:srgbClr val="7A5F20"/>
            </a:solidFill>
            <a:prstDash val="solid"/>
          </a:ln>
        </p:spPr>
      </p:sp>
      <p:sp>
        <p:nvSpPr>
          <p:cNvPr id="31" name="Shape 29"/>
          <p:cNvSpPr/>
          <p:nvPr/>
        </p:nvSpPr>
        <p:spPr>
          <a:xfrm>
            <a:off x="1828800" y="4114800"/>
            <a:ext cx="2926080" cy="320040"/>
          </a:xfrm>
          <a:prstGeom prst="rect">
            <a:avLst/>
          </a:prstGeom>
          <a:solidFill>
            <a:srgbClr val="2E2528"/>
          </a:solidFill>
          <a:ln/>
        </p:spPr>
      </p:sp>
      <p:sp>
        <p:nvSpPr>
          <p:cNvPr id="32" name="Text 30"/>
          <p:cNvSpPr/>
          <p:nvPr/>
        </p:nvSpPr>
        <p:spPr>
          <a:xfrm>
            <a:off x="1828800" y="4114800"/>
            <a:ext cx="2926080" cy="320040"/>
          </a:xfrm>
          <a:prstGeom prst="rect">
            <a:avLst/>
          </a:prstGeom>
          <a:noFill/>
          <a:ln/>
        </p:spPr>
        <p:txBody>
          <a:bodyPr wrap="square" rtlCol="0" anchor="ctr"/>
          <a:lstStyle/>
          <a:p>
            <a:pPr algn="ctr" indent="0" marL="0">
              <a:buNone/>
            </a:pPr>
            <a:r>
              <a:rPr lang="en-US" sz="1000" b="1" dirty="0">
                <a:solidFill>
                  <a:srgbClr val="FAF7F2"/>
                </a:solidFill>
                <a:latin typeface="Georgia" pitchFamily="34" charset="0"/>
                <a:ea typeface="Georgia" pitchFamily="34" charset="-122"/>
                <a:cs typeface="Georgia" pitchFamily="34" charset="-120"/>
              </a:rPr>
              <a:t>ORDERS</a:t>
            </a:r>
            <a:endParaRPr lang="en-US" sz="1000" dirty="0"/>
          </a:p>
        </p:txBody>
      </p:sp>
      <p:sp>
        <p:nvSpPr>
          <p:cNvPr id="33" name="Text 31"/>
          <p:cNvSpPr/>
          <p:nvPr/>
        </p:nvSpPr>
        <p:spPr>
          <a:xfrm>
            <a:off x="1965960" y="4526280"/>
            <a:ext cx="2651760" cy="457200"/>
          </a:xfrm>
          <a:prstGeom prst="rect">
            <a:avLst/>
          </a:prstGeom>
          <a:noFill/>
          <a:ln/>
        </p:spPr>
        <p:txBody>
          <a:bodyPr wrap="square" rtlCol="0" anchor="ctr"/>
          <a:lstStyle/>
          <a:p>
            <a:pPr indent="0" marL="0">
              <a:buNone/>
            </a:pPr>
            <a:r>
              <a:rPr lang="en-US" sz="900" b="1" dirty="0">
                <a:solidFill>
                  <a:srgbClr val="7A5F20"/>
                </a:solidFill>
                <a:latin typeface="Consolas" pitchFamily="34" charset="0"/>
                <a:ea typeface="Consolas" pitchFamily="34" charset="-122"/>
                <a:cs typeface="Consolas" pitchFamily="34" charset="-120"/>
              </a:rPr>
              <a:t>PK: orderId (PK)</a:t>
            </a:r>
            <a:endParaRPr lang="en-US" sz="900" dirty="0"/>
          </a:p>
        </p:txBody>
      </p:sp>
      <p:sp>
        <p:nvSpPr>
          <p:cNvPr id="34" name="Text 32"/>
          <p:cNvSpPr/>
          <p:nvPr/>
        </p:nvSpPr>
        <p:spPr>
          <a:xfrm>
            <a:off x="1965960" y="5029200"/>
            <a:ext cx="2651760" cy="64008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Attributes / FKs:</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renterId, dressId, lenderId</a:t>
            </a:r>
            <a:endParaRPr lang="en-US" sz="850" dirty="0"/>
          </a:p>
        </p:txBody>
      </p:sp>
      <p:sp>
        <p:nvSpPr>
          <p:cNvPr id="35" name="Shape 33"/>
          <p:cNvSpPr/>
          <p:nvPr/>
        </p:nvSpPr>
        <p:spPr>
          <a:xfrm>
            <a:off x="5212080" y="4114800"/>
            <a:ext cx="2834640" cy="1645920"/>
          </a:xfrm>
          <a:prstGeom prst="rect">
            <a:avLst/>
          </a:prstGeom>
          <a:solidFill>
            <a:srgbClr val="FFFFFF"/>
          </a:solidFill>
          <a:ln w="15875">
            <a:solidFill>
              <a:srgbClr val="7A5F20"/>
            </a:solidFill>
            <a:prstDash val="solid"/>
          </a:ln>
        </p:spPr>
      </p:sp>
      <p:sp>
        <p:nvSpPr>
          <p:cNvPr id="36" name="Shape 34"/>
          <p:cNvSpPr/>
          <p:nvPr/>
        </p:nvSpPr>
        <p:spPr>
          <a:xfrm>
            <a:off x="5212080" y="4114800"/>
            <a:ext cx="2834640" cy="320040"/>
          </a:xfrm>
          <a:prstGeom prst="rect">
            <a:avLst/>
          </a:prstGeom>
          <a:solidFill>
            <a:srgbClr val="2E2528"/>
          </a:solidFill>
          <a:ln/>
        </p:spPr>
      </p:sp>
      <p:sp>
        <p:nvSpPr>
          <p:cNvPr id="37" name="Text 35"/>
          <p:cNvSpPr/>
          <p:nvPr/>
        </p:nvSpPr>
        <p:spPr>
          <a:xfrm>
            <a:off x="5212080" y="4114800"/>
            <a:ext cx="2834640" cy="320040"/>
          </a:xfrm>
          <a:prstGeom prst="rect">
            <a:avLst/>
          </a:prstGeom>
          <a:noFill/>
          <a:ln/>
        </p:spPr>
        <p:txBody>
          <a:bodyPr wrap="square" rtlCol="0" anchor="ctr"/>
          <a:lstStyle/>
          <a:p>
            <a:pPr algn="ctr" indent="0" marL="0">
              <a:buNone/>
            </a:pPr>
            <a:r>
              <a:rPr lang="en-US" sz="1000" b="1" dirty="0">
                <a:solidFill>
                  <a:srgbClr val="FAF7F2"/>
                </a:solidFill>
                <a:latin typeface="Georgia" pitchFamily="34" charset="0"/>
                <a:ea typeface="Georgia" pitchFamily="34" charset="-122"/>
                <a:cs typeface="Georgia" pitchFamily="34" charset="-120"/>
              </a:rPr>
              <a:t>CHATS</a:t>
            </a:r>
            <a:endParaRPr lang="en-US" sz="1000" dirty="0"/>
          </a:p>
        </p:txBody>
      </p:sp>
      <p:sp>
        <p:nvSpPr>
          <p:cNvPr id="38" name="Text 36"/>
          <p:cNvSpPr/>
          <p:nvPr/>
        </p:nvSpPr>
        <p:spPr>
          <a:xfrm>
            <a:off x="5349240" y="4526280"/>
            <a:ext cx="2560320" cy="457200"/>
          </a:xfrm>
          <a:prstGeom prst="rect">
            <a:avLst/>
          </a:prstGeom>
          <a:noFill/>
          <a:ln/>
        </p:spPr>
        <p:txBody>
          <a:bodyPr wrap="square" rtlCol="0" anchor="ctr"/>
          <a:lstStyle/>
          <a:p>
            <a:pPr indent="0" marL="0">
              <a:buNone/>
            </a:pPr>
            <a:r>
              <a:rPr lang="en-US" sz="900" b="1" dirty="0">
                <a:solidFill>
                  <a:srgbClr val="7A5F20"/>
                </a:solidFill>
                <a:latin typeface="Consolas" pitchFamily="34" charset="0"/>
                <a:ea typeface="Consolas" pitchFamily="34" charset="-122"/>
                <a:cs typeface="Consolas" pitchFamily="34" charset="-120"/>
              </a:rPr>
              <a:t>PK: chatId (PK)</a:t>
            </a:r>
            <a:endParaRPr lang="en-US" sz="900" dirty="0"/>
          </a:p>
        </p:txBody>
      </p:sp>
      <p:sp>
        <p:nvSpPr>
          <p:cNvPr id="39" name="Text 37"/>
          <p:cNvSpPr/>
          <p:nvPr/>
        </p:nvSpPr>
        <p:spPr>
          <a:xfrm>
            <a:off x="5349240" y="5029200"/>
            <a:ext cx="2560320" cy="64008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Attributes / FKs:</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senderId, receiverId</a:t>
            </a:r>
            <a:endParaRPr lang="en-US" sz="850" dirty="0"/>
          </a:p>
        </p:txBody>
      </p:sp>
      <p:sp>
        <p:nvSpPr>
          <p:cNvPr id="40" name="Shape 38"/>
          <p:cNvSpPr/>
          <p:nvPr/>
        </p:nvSpPr>
        <p:spPr>
          <a:xfrm>
            <a:off x="8503920" y="4114800"/>
            <a:ext cx="2926080" cy="1645920"/>
          </a:xfrm>
          <a:prstGeom prst="rect">
            <a:avLst/>
          </a:prstGeom>
          <a:solidFill>
            <a:srgbClr val="FFFFFF"/>
          </a:solidFill>
          <a:ln w="15875">
            <a:solidFill>
              <a:srgbClr val="7A5F20"/>
            </a:solidFill>
            <a:prstDash val="solid"/>
          </a:ln>
        </p:spPr>
      </p:sp>
      <p:sp>
        <p:nvSpPr>
          <p:cNvPr id="41" name="Shape 39"/>
          <p:cNvSpPr/>
          <p:nvPr/>
        </p:nvSpPr>
        <p:spPr>
          <a:xfrm>
            <a:off x="8503920" y="4114800"/>
            <a:ext cx="2926080" cy="320040"/>
          </a:xfrm>
          <a:prstGeom prst="rect">
            <a:avLst/>
          </a:prstGeom>
          <a:solidFill>
            <a:srgbClr val="2E2528"/>
          </a:solidFill>
          <a:ln/>
        </p:spPr>
      </p:sp>
      <p:sp>
        <p:nvSpPr>
          <p:cNvPr id="42" name="Text 40"/>
          <p:cNvSpPr/>
          <p:nvPr/>
        </p:nvSpPr>
        <p:spPr>
          <a:xfrm>
            <a:off x="8503920" y="4114800"/>
            <a:ext cx="2926080" cy="320040"/>
          </a:xfrm>
          <a:prstGeom prst="rect">
            <a:avLst/>
          </a:prstGeom>
          <a:noFill/>
          <a:ln/>
        </p:spPr>
        <p:txBody>
          <a:bodyPr wrap="square" rtlCol="0" anchor="ctr"/>
          <a:lstStyle/>
          <a:p>
            <a:pPr algn="ctr" indent="0" marL="0">
              <a:buNone/>
            </a:pPr>
            <a:r>
              <a:rPr lang="en-US" sz="1000" b="1" dirty="0">
                <a:solidFill>
                  <a:srgbClr val="FAF7F2"/>
                </a:solidFill>
                <a:latin typeface="Georgia" pitchFamily="34" charset="0"/>
                <a:ea typeface="Georgia" pitchFamily="34" charset="-122"/>
                <a:cs typeface="Georgia" pitchFamily="34" charset="-120"/>
              </a:rPr>
              <a:t>COMPLAINTS</a:t>
            </a:r>
            <a:endParaRPr lang="en-US" sz="1000" dirty="0"/>
          </a:p>
        </p:txBody>
      </p:sp>
      <p:sp>
        <p:nvSpPr>
          <p:cNvPr id="43" name="Text 41"/>
          <p:cNvSpPr/>
          <p:nvPr/>
        </p:nvSpPr>
        <p:spPr>
          <a:xfrm>
            <a:off x="8641080" y="4526280"/>
            <a:ext cx="2651760" cy="457200"/>
          </a:xfrm>
          <a:prstGeom prst="rect">
            <a:avLst/>
          </a:prstGeom>
          <a:noFill/>
          <a:ln/>
        </p:spPr>
        <p:txBody>
          <a:bodyPr wrap="square" rtlCol="0" anchor="ctr"/>
          <a:lstStyle/>
          <a:p>
            <a:pPr indent="0" marL="0">
              <a:buNone/>
            </a:pPr>
            <a:r>
              <a:rPr lang="en-US" sz="900" b="1" dirty="0">
                <a:solidFill>
                  <a:srgbClr val="7A5F20"/>
                </a:solidFill>
                <a:latin typeface="Consolas" pitchFamily="34" charset="0"/>
                <a:ea typeface="Consolas" pitchFamily="34" charset="-122"/>
                <a:cs typeface="Consolas" pitchFamily="34" charset="-120"/>
              </a:rPr>
              <a:t>PK: complaintId (PK)</a:t>
            </a:r>
            <a:endParaRPr lang="en-US" sz="900" dirty="0"/>
          </a:p>
        </p:txBody>
      </p:sp>
      <p:sp>
        <p:nvSpPr>
          <p:cNvPr id="44" name="Text 42"/>
          <p:cNvSpPr/>
          <p:nvPr/>
        </p:nvSpPr>
        <p:spPr>
          <a:xfrm>
            <a:off x="8641080" y="5029200"/>
            <a:ext cx="2651760" cy="640080"/>
          </a:xfrm>
          <a:prstGeom prst="rect">
            <a:avLst/>
          </a:prstGeom>
          <a:noFill/>
          <a:ln/>
        </p:spPr>
        <p:txBody>
          <a:bodyPr wrap="square" rtlCol="0" anchor="ctr"/>
          <a:lstStyle/>
          <a:p>
            <a:pPr indent="0" marL="0">
              <a:buNone/>
            </a:pPr>
            <a:r>
              <a:rPr lang="en-US" sz="850" dirty="0">
                <a:solidFill>
                  <a:srgbClr val="1A1618"/>
                </a:solidFill>
                <a:latin typeface="Consolas" pitchFamily="34" charset="0"/>
                <a:ea typeface="Consolas" pitchFamily="34" charset="-122"/>
                <a:cs typeface="Consolas" pitchFamily="34" charset="-120"/>
              </a:rPr>
              <a:t>Attributes / FKs:</a:t>
            </a:r>
            <a:endParaRPr lang="en-US" sz="850" dirty="0"/>
          </a:p>
          <a:p>
            <a:pPr indent="0" marL="0">
              <a:buNone/>
            </a:pPr>
            <a:r>
              <a:rPr lang="en-US" sz="850" dirty="0">
                <a:solidFill>
                  <a:srgbClr val="1A1618"/>
                </a:solidFill>
                <a:latin typeface="Consolas" pitchFamily="34" charset="0"/>
                <a:ea typeface="Consolas" pitchFamily="34" charset="-122"/>
                <a:cs typeface="Consolas" pitchFamily="34" charset="-120"/>
              </a:rPr>
              <a:t>orderId (FK), filedBy (FK)</a:t>
            </a:r>
            <a:endParaRPr lang="en-US" sz="850" dirty="0"/>
          </a:p>
        </p:txBody>
      </p:sp>
      <p:sp>
        <p:nvSpPr>
          <p:cNvPr id="45" name="Shape 43"/>
          <p:cNvSpPr/>
          <p:nvPr/>
        </p:nvSpPr>
        <p:spPr>
          <a:xfrm>
            <a:off x="731520" y="5852160"/>
            <a:ext cx="10728655" cy="411480"/>
          </a:xfrm>
          <a:prstGeom prst="rect">
            <a:avLst/>
          </a:prstGeom>
          <a:solidFill>
            <a:srgbClr val="ECE4D8"/>
          </a:solidFill>
          <a:ln/>
        </p:spPr>
      </p:sp>
      <p:sp>
        <p:nvSpPr>
          <p:cNvPr id="46" name="Text 44"/>
          <p:cNvSpPr/>
          <p:nvPr/>
        </p:nvSpPr>
        <p:spPr>
          <a:xfrm>
            <a:off x="822960" y="5852160"/>
            <a:ext cx="10515600" cy="411480"/>
          </a:xfrm>
          <a:prstGeom prst="rect">
            <a:avLst/>
          </a:prstGeom>
          <a:noFill/>
          <a:ln/>
        </p:spPr>
        <p:txBody>
          <a:bodyPr wrap="square" rtlCol="0" anchor="ctr"/>
          <a:lstStyle/>
          <a:p>
            <a:pPr indent="0" marL="0">
              <a:buNone/>
            </a:pPr>
            <a:r>
              <a:rPr lang="en-US" sz="850" b="1" dirty="0">
                <a:solidFill>
                  <a:srgbClr val="1A1618"/>
                </a:solidFill>
                <a:latin typeface="Consolas" pitchFamily="34" charset="0"/>
                <a:ea typeface="Consolas" pitchFamily="34" charset="-122"/>
                <a:cs typeface="Consolas" pitchFamily="34" charset="-120"/>
              </a:rPr>
              <a:t>CROW’S FOOT CARDINALITY LEGEND:  1:1 (User to Lender Profile)  |  1:N (Lender to Dresses)  |  1:N (Renter to Orders)  |  1:N (Order to Dispute Complaint)</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21 · ACT V</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21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SCHEMA SPECIFICATION (PART 1)</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Data Dictionary: USERS, LENDERS &amp; DRESSES Entities</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Field definitions, data types, constraints, and verified live seed sample record.</a:t>
            </a:r>
            <a:endParaRPr lang="en-US" sz="1300" dirty="0"/>
          </a:p>
        </p:txBody>
      </p:sp>
      <p:sp>
        <p:nvSpPr>
          <p:cNvPr id="10" name="Shape 8"/>
          <p:cNvSpPr/>
          <p:nvPr/>
        </p:nvSpPr>
        <p:spPr>
          <a:xfrm>
            <a:off x="731520" y="2011680"/>
            <a:ext cx="1280160" cy="320040"/>
          </a:xfrm>
          <a:prstGeom prst="rect">
            <a:avLst/>
          </a:prstGeom>
          <a:solidFill>
            <a:srgbClr val="2E2528"/>
          </a:solidFill>
          <a:ln/>
        </p:spPr>
      </p:sp>
      <p:sp>
        <p:nvSpPr>
          <p:cNvPr id="11" name="Text 9"/>
          <p:cNvSpPr/>
          <p:nvPr/>
        </p:nvSpPr>
        <p:spPr>
          <a:xfrm>
            <a:off x="731520" y="2011680"/>
            <a:ext cx="128016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FIELD</a:t>
            </a:r>
            <a:endParaRPr lang="en-US" sz="850" dirty="0"/>
          </a:p>
        </p:txBody>
      </p:sp>
      <p:sp>
        <p:nvSpPr>
          <p:cNvPr id="12" name="Shape 10"/>
          <p:cNvSpPr/>
          <p:nvPr/>
        </p:nvSpPr>
        <p:spPr>
          <a:xfrm>
            <a:off x="2011680" y="2011680"/>
            <a:ext cx="1005840" cy="320040"/>
          </a:xfrm>
          <a:prstGeom prst="rect">
            <a:avLst/>
          </a:prstGeom>
          <a:solidFill>
            <a:srgbClr val="2E2528"/>
          </a:solidFill>
          <a:ln/>
        </p:spPr>
      </p:sp>
      <p:sp>
        <p:nvSpPr>
          <p:cNvPr id="13" name="Text 11"/>
          <p:cNvSpPr/>
          <p:nvPr/>
        </p:nvSpPr>
        <p:spPr>
          <a:xfrm>
            <a:off x="2011680" y="2011680"/>
            <a:ext cx="100584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TYPE</a:t>
            </a:r>
            <a:endParaRPr lang="en-US" sz="850" dirty="0"/>
          </a:p>
        </p:txBody>
      </p:sp>
      <p:sp>
        <p:nvSpPr>
          <p:cNvPr id="14" name="Shape 12"/>
          <p:cNvSpPr/>
          <p:nvPr/>
        </p:nvSpPr>
        <p:spPr>
          <a:xfrm>
            <a:off x="3017520" y="2011680"/>
            <a:ext cx="731520" cy="320040"/>
          </a:xfrm>
          <a:prstGeom prst="rect">
            <a:avLst/>
          </a:prstGeom>
          <a:solidFill>
            <a:srgbClr val="2E2528"/>
          </a:solidFill>
          <a:ln/>
        </p:spPr>
      </p:sp>
      <p:sp>
        <p:nvSpPr>
          <p:cNvPr id="15" name="Text 13"/>
          <p:cNvSpPr/>
          <p:nvPr/>
        </p:nvSpPr>
        <p:spPr>
          <a:xfrm>
            <a:off x="3017520" y="2011680"/>
            <a:ext cx="73152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SIZE</a:t>
            </a:r>
            <a:endParaRPr lang="en-US" sz="850" dirty="0"/>
          </a:p>
        </p:txBody>
      </p:sp>
      <p:sp>
        <p:nvSpPr>
          <p:cNvPr id="16" name="Shape 14"/>
          <p:cNvSpPr/>
          <p:nvPr/>
        </p:nvSpPr>
        <p:spPr>
          <a:xfrm>
            <a:off x="3749040" y="2011680"/>
            <a:ext cx="640080" cy="320040"/>
          </a:xfrm>
          <a:prstGeom prst="rect">
            <a:avLst/>
          </a:prstGeom>
          <a:solidFill>
            <a:srgbClr val="2E2528"/>
          </a:solidFill>
          <a:ln/>
        </p:spPr>
      </p:sp>
      <p:sp>
        <p:nvSpPr>
          <p:cNvPr id="17" name="Text 15"/>
          <p:cNvSpPr/>
          <p:nvPr/>
        </p:nvSpPr>
        <p:spPr>
          <a:xfrm>
            <a:off x="3749040" y="2011680"/>
            <a:ext cx="64008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KEY</a:t>
            </a:r>
            <a:endParaRPr lang="en-US" sz="850" dirty="0"/>
          </a:p>
        </p:txBody>
      </p:sp>
      <p:sp>
        <p:nvSpPr>
          <p:cNvPr id="18" name="Shape 16"/>
          <p:cNvSpPr/>
          <p:nvPr/>
        </p:nvSpPr>
        <p:spPr>
          <a:xfrm>
            <a:off x="4389120" y="2011680"/>
            <a:ext cx="2468880" cy="320040"/>
          </a:xfrm>
          <a:prstGeom prst="rect">
            <a:avLst/>
          </a:prstGeom>
          <a:solidFill>
            <a:srgbClr val="2E2528"/>
          </a:solidFill>
          <a:ln/>
        </p:spPr>
      </p:sp>
      <p:sp>
        <p:nvSpPr>
          <p:cNvPr id="19" name="Text 17"/>
          <p:cNvSpPr/>
          <p:nvPr/>
        </p:nvSpPr>
        <p:spPr>
          <a:xfrm>
            <a:off x="4389120" y="2011680"/>
            <a:ext cx="246888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CONSTRAINT</a:t>
            </a:r>
            <a:endParaRPr lang="en-US" sz="850" dirty="0"/>
          </a:p>
        </p:txBody>
      </p:sp>
      <p:sp>
        <p:nvSpPr>
          <p:cNvPr id="20" name="Shape 18"/>
          <p:cNvSpPr/>
          <p:nvPr/>
        </p:nvSpPr>
        <p:spPr>
          <a:xfrm>
            <a:off x="6858000" y="2011680"/>
            <a:ext cx="2926080" cy="320040"/>
          </a:xfrm>
          <a:prstGeom prst="rect">
            <a:avLst/>
          </a:prstGeom>
          <a:solidFill>
            <a:srgbClr val="2E2528"/>
          </a:solidFill>
          <a:ln/>
        </p:spPr>
      </p:sp>
      <p:sp>
        <p:nvSpPr>
          <p:cNvPr id="21" name="Text 19"/>
          <p:cNvSpPr/>
          <p:nvPr/>
        </p:nvSpPr>
        <p:spPr>
          <a:xfrm>
            <a:off x="6858000" y="2011680"/>
            <a:ext cx="292608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DESCRIPTION</a:t>
            </a:r>
            <a:endParaRPr lang="en-US" sz="850" dirty="0"/>
          </a:p>
        </p:txBody>
      </p:sp>
      <p:sp>
        <p:nvSpPr>
          <p:cNvPr id="22" name="Shape 20"/>
          <p:cNvSpPr/>
          <p:nvPr/>
        </p:nvSpPr>
        <p:spPr>
          <a:xfrm>
            <a:off x="9784080" y="2011680"/>
            <a:ext cx="1676095" cy="320040"/>
          </a:xfrm>
          <a:prstGeom prst="rect">
            <a:avLst/>
          </a:prstGeom>
          <a:solidFill>
            <a:srgbClr val="2E2528"/>
          </a:solidFill>
          <a:ln/>
        </p:spPr>
      </p:sp>
      <p:sp>
        <p:nvSpPr>
          <p:cNvPr id="23" name="Text 21"/>
          <p:cNvSpPr/>
          <p:nvPr/>
        </p:nvSpPr>
        <p:spPr>
          <a:xfrm>
            <a:off x="9784080" y="2011680"/>
            <a:ext cx="1676095"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SAMPLE VALUE</a:t>
            </a:r>
            <a:endParaRPr lang="en-US" sz="850" dirty="0"/>
          </a:p>
        </p:txBody>
      </p:sp>
      <p:sp>
        <p:nvSpPr>
          <p:cNvPr id="24" name="Shape 22"/>
          <p:cNvSpPr/>
          <p:nvPr/>
        </p:nvSpPr>
        <p:spPr>
          <a:xfrm>
            <a:off x="731520" y="2331720"/>
            <a:ext cx="1280160" cy="365760"/>
          </a:xfrm>
          <a:prstGeom prst="rect">
            <a:avLst/>
          </a:prstGeom>
          <a:solidFill>
            <a:srgbClr val="FFFFFF"/>
          </a:solidFill>
          <a:ln w="6350">
            <a:solidFill>
              <a:srgbClr val="E2DACD"/>
            </a:solidFill>
            <a:prstDash val="solid"/>
          </a:ln>
        </p:spPr>
      </p:sp>
      <p:sp>
        <p:nvSpPr>
          <p:cNvPr id="25" name="Text 23"/>
          <p:cNvSpPr/>
          <p:nvPr/>
        </p:nvSpPr>
        <p:spPr>
          <a:xfrm>
            <a:off x="777240" y="233172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id</a:t>
            </a:r>
            <a:endParaRPr lang="en-US" sz="800" dirty="0"/>
          </a:p>
        </p:txBody>
      </p:sp>
      <p:sp>
        <p:nvSpPr>
          <p:cNvPr id="26" name="Shape 24"/>
          <p:cNvSpPr/>
          <p:nvPr/>
        </p:nvSpPr>
        <p:spPr>
          <a:xfrm>
            <a:off x="2011680" y="2331720"/>
            <a:ext cx="1005840" cy="365760"/>
          </a:xfrm>
          <a:prstGeom prst="rect">
            <a:avLst/>
          </a:prstGeom>
          <a:solidFill>
            <a:srgbClr val="FFFFFF"/>
          </a:solidFill>
          <a:ln w="6350">
            <a:solidFill>
              <a:srgbClr val="E2DACD"/>
            </a:solidFill>
            <a:prstDash val="solid"/>
          </a:ln>
        </p:spPr>
      </p:sp>
      <p:sp>
        <p:nvSpPr>
          <p:cNvPr id="27" name="Text 25"/>
          <p:cNvSpPr/>
          <p:nvPr/>
        </p:nvSpPr>
        <p:spPr>
          <a:xfrm>
            <a:off x="2057400" y="233172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VARCHAR</a:t>
            </a:r>
            <a:endParaRPr lang="en-US" sz="800" dirty="0"/>
          </a:p>
        </p:txBody>
      </p:sp>
      <p:sp>
        <p:nvSpPr>
          <p:cNvPr id="28" name="Shape 26"/>
          <p:cNvSpPr/>
          <p:nvPr/>
        </p:nvSpPr>
        <p:spPr>
          <a:xfrm>
            <a:off x="3017520" y="2331720"/>
            <a:ext cx="731520" cy="365760"/>
          </a:xfrm>
          <a:prstGeom prst="rect">
            <a:avLst/>
          </a:prstGeom>
          <a:solidFill>
            <a:srgbClr val="FFFFFF"/>
          </a:solidFill>
          <a:ln w="6350">
            <a:solidFill>
              <a:srgbClr val="E2DACD"/>
            </a:solidFill>
            <a:prstDash val="solid"/>
          </a:ln>
        </p:spPr>
      </p:sp>
      <p:sp>
        <p:nvSpPr>
          <p:cNvPr id="29" name="Text 27"/>
          <p:cNvSpPr/>
          <p:nvPr/>
        </p:nvSpPr>
        <p:spPr>
          <a:xfrm>
            <a:off x="3063240" y="233172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36</a:t>
            </a:r>
            <a:endParaRPr lang="en-US" sz="800" dirty="0"/>
          </a:p>
        </p:txBody>
      </p:sp>
      <p:sp>
        <p:nvSpPr>
          <p:cNvPr id="30" name="Shape 28"/>
          <p:cNvSpPr/>
          <p:nvPr/>
        </p:nvSpPr>
        <p:spPr>
          <a:xfrm>
            <a:off x="3749040" y="2331720"/>
            <a:ext cx="640080" cy="365760"/>
          </a:xfrm>
          <a:prstGeom prst="rect">
            <a:avLst/>
          </a:prstGeom>
          <a:solidFill>
            <a:srgbClr val="FFFFFF"/>
          </a:solidFill>
          <a:ln w="6350">
            <a:solidFill>
              <a:srgbClr val="E2DACD"/>
            </a:solidFill>
            <a:prstDash val="solid"/>
          </a:ln>
        </p:spPr>
      </p:sp>
      <p:sp>
        <p:nvSpPr>
          <p:cNvPr id="31" name="Text 29"/>
          <p:cNvSpPr/>
          <p:nvPr/>
        </p:nvSpPr>
        <p:spPr>
          <a:xfrm>
            <a:off x="3794760" y="233172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PK</a:t>
            </a:r>
            <a:endParaRPr lang="en-US" sz="800" dirty="0"/>
          </a:p>
        </p:txBody>
      </p:sp>
      <p:sp>
        <p:nvSpPr>
          <p:cNvPr id="32" name="Shape 30"/>
          <p:cNvSpPr/>
          <p:nvPr/>
        </p:nvSpPr>
        <p:spPr>
          <a:xfrm>
            <a:off x="4389120" y="2331720"/>
            <a:ext cx="2468880" cy="365760"/>
          </a:xfrm>
          <a:prstGeom prst="rect">
            <a:avLst/>
          </a:prstGeom>
          <a:solidFill>
            <a:srgbClr val="FFFFFF"/>
          </a:solidFill>
          <a:ln w="6350">
            <a:solidFill>
              <a:srgbClr val="E2DACD"/>
            </a:solidFill>
            <a:prstDash val="solid"/>
          </a:ln>
        </p:spPr>
      </p:sp>
      <p:sp>
        <p:nvSpPr>
          <p:cNvPr id="33" name="Text 31"/>
          <p:cNvSpPr/>
          <p:nvPr/>
        </p:nvSpPr>
        <p:spPr>
          <a:xfrm>
            <a:off x="4434840" y="233172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NOT NULL, UNIQUE</a:t>
            </a:r>
            <a:endParaRPr lang="en-US" sz="800" dirty="0"/>
          </a:p>
        </p:txBody>
      </p:sp>
      <p:sp>
        <p:nvSpPr>
          <p:cNvPr id="34" name="Shape 32"/>
          <p:cNvSpPr/>
          <p:nvPr/>
        </p:nvSpPr>
        <p:spPr>
          <a:xfrm>
            <a:off x="6858000" y="2331720"/>
            <a:ext cx="2926080" cy="365760"/>
          </a:xfrm>
          <a:prstGeom prst="rect">
            <a:avLst/>
          </a:prstGeom>
          <a:solidFill>
            <a:srgbClr val="FFFFFF"/>
          </a:solidFill>
          <a:ln w="6350">
            <a:solidFill>
              <a:srgbClr val="E2DACD"/>
            </a:solidFill>
            <a:prstDash val="solid"/>
          </a:ln>
        </p:spPr>
      </p:sp>
      <p:sp>
        <p:nvSpPr>
          <p:cNvPr id="35" name="Text 33"/>
          <p:cNvSpPr/>
          <p:nvPr/>
        </p:nvSpPr>
        <p:spPr>
          <a:xfrm>
            <a:off x="6903720" y="233172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Unique identifier for dress outfit</a:t>
            </a:r>
            <a:endParaRPr lang="en-US" sz="800" dirty="0"/>
          </a:p>
        </p:txBody>
      </p:sp>
      <p:sp>
        <p:nvSpPr>
          <p:cNvPr id="36" name="Shape 34"/>
          <p:cNvSpPr/>
          <p:nvPr/>
        </p:nvSpPr>
        <p:spPr>
          <a:xfrm>
            <a:off x="9784080" y="2331720"/>
            <a:ext cx="1676095" cy="365760"/>
          </a:xfrm>
          <a:prstGeom prst="rect">
            <a:avLst/>
          </a:prstGeom>
          <a:solidFill>
            <a:srgbClr val="FFFFFF"/>
          </a:solidFill>
          <a:ln w="6350">
            <a:solidFill>
              <a:srgbClr val="E2DACD"/>
            </a:solidFill>
            <a:prstDash val="solid"/>
          </a:ln>
        </p:spPr>
      </p:sp>
      <p:sp>
        <p:nvSpPr>
          <p:cNvPr id="37" name="Text 35"/>
          <p:cNvSpPr/>
          <p:nvPr/>
        </p:nvSpPr>
        <p:spPr>
          <a:xfrm>
            <a:off x="9829800" y="233172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'd1'</a:t>
            </a:r>
            <a:endParaRPr lang="en-US" sz="800" dirty="0"/>
          </a:p>
        </p:txBody>
      </p:sp>
      <p:sp>
        <p:nvSpPr>
          <p:cNvPr id="38" name="Shape 36"/>
          <p:cNvSpPr/>
          <p:nvPr/>
        </p:nvSpPr>
        <p:spPr>
          <a:xfrm>
            <a:off x="731520" y="2697480"/>
            <a:ext cx="1280160" cy="365760"/>
          </a:xfrm>
          <a:prstGeom prst="rect">
            <a:avLst/>
          </a:prstGeom>
          <a:solidFill>
            <a:srgbClr val="F6F1E9"/>
          </a:solidFill>
          <a:ln w="6350">
            <a:solidFill>
              <a:srgbClr val="E2DACD"/>
            </a:solidFill>
            <a:prstDash val="solid"/>
          </a:ln>
        </p:spPr>
      </p:sp>
      <p:sp>
        <p:nvSpPr>
          <p:cNvPr id="39" name="Text 37"/>
          <p:cNvSpPr/>
          <p:nvPr/>
        </p:nvSpPr>
        <p:spPr>
          <a:xfrm>
            <a:off x="777240" y="269748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name</a:t>
            </a:r>
            <a:endParaRPr lang="en-US" sz="800" dirty="0"/>
          </a:p>
        </p:txBody>
      </p:sp>
      <p:sp>
        <p:nvSpPr>
          <p:cNvPr id="40" name="Shape 38"/>
          <p:cNvSpPr/>
          <p:nvPr/>
        </p:nvSpPr>
        <p:spPr>
          <a:xfrm>
            <a:off x="2011680" y="2697480"/>
            <a:ext cx="1005840" cy="365760"/>
          </a:xfrm>
          <a:prstGeom prst="rect">
            <a:avLst/>
          </a:prstGeom>
          <a:solidFill>
            <a:srgbClr val="F6F1E9"/>
          </a:solidFill>
          <a:ln w="6350">
            <a:solidFill>
              <a:srgbClr val="E2DACD"/>
            </a:solidFill>
            <a:prstDash val="solid"/>
          </a:ln>
        </p:spPr>
      </p:sp>
      <p:sp>
        <p:nvSpPr>
          <p:cNvPr id="41" name="Text 39"/>
          <p:cNvSpPr/>
          <p:nvPr/>
        </p:nvSpPr>
        <p:spPr>
          <a:xfrm>
            <a:off x="2057400" y="269748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VARCHAR</a:t>
            </a:r>
            <a:endParaRPr lang="en-US" sz="800" dirty="0"/>
          </a:p>
        </p:txBody>
      </p:sp>
      <p:sp>
        <p:nvSpPr>
          <p:cNvPr id="42" name="Shape 40"/>
          <p:cNvSpPr/>
          <p:nvPr/>
        </p:nvSpPr>
        <p:spPr>
          <a:xfrm>
            <a:off x="3017520" y="2697480"/>
            <a:ext cx="731520" cy="365760"/>
          </a:xfrm>
          <a:prstGeom prst="rect">
            <a:avLst/>
          </a:prstGeom>
          <a:solidFill>
            <a:srgbClr val="F6F1E9"/>
          </a:solidFill>
          <a:ln w="6350">
            <a:solidFill>
              <a:srgbClr val="E2DACD"/>
            </a:solidFill>
            <a:prstDash val="solid"/>
          </a:ln>
        </p:spPr>
      </p:sp>
      <p:sp>
        <p:nvSpPr>
          <p:cNvPr id="43" name="Text 41"/>
          <p:cNvSpPr/>
          <p:nvPr/>
        </p:nvSpPr>
        <p:spPr>
          <a:xfrm>
            <a:off x="3063240" y="269748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150</a:t>
            </a:r>
            <a:endParaRPr lang="en-US" sz="800" dirty="0"/>
          </a:p>
        </p:txBody>
      </p:sp>
      <p:sp>
        <p:nvSpPr>
          <p:cNvPr id="44" name="Shape 42"/>
          <p:cNvSpPr/>
          <p:nvPr/>
        </p:nvSpPr>
        <p:spPr>
          <a:xfrm>
            <a:off x="3749040" y="2697480"/>
            <a:ext cx="640080" cy="365760"/>
          </a:xfrm>
          <a:prstGeom prst="rect">
            <a:avLst/>
          </a:prstGeom>
          <a:solidFill>
            <a:srgbClr val="F6F1E9"/>
          </a:solidFill>
          <a:ln w="6350">
            <a:solidFill>
              <a:srgbClr val="E2DACD"/>
            </a:solidFill>
            <a:prstDash val="solid"/>
          </a:ln>
        </p:spPr>
      </p:sp>
      <p:sp>
        <p:nvSpPr>
          <p:cNvPr id="45" name="Text 43"/>
          <p:cNvSpPr/>
          <p:nvPr/>
        </p:nvSpPr>
        <p:spPr>
          <a:xfrm>
            <a:off x="3794760" y="269748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46" name="Shape 44"/>
          <p:cNvSpPr/>
          <p:nvPr/>
        </p:nvSpPr>
        <p:spPr>
          <a:xfrm>
            <a:off x="4389120" y="2697480"/>
            <a:ext cx="2468880" cy="365760"/>
          </a:xfrm>
          <a:prstGeom prst="rect">
            <a:avLst/>
          </a:prstGeom>
          <a:solidFill>
            <a:srgbClr val="F6F1E9"/>
          </a:solidFill>
          <a:ln w="6350">
            <a:solidFill>
              <a:srgbClr val="E2DACD"/>
            </a:solidFill>
            <a:prstDash val="solid"/>
          </a:ln>
        </p:spPr>
      </p:sp>
      <p:sp>
        <p:nvSpPr>
          <p:cNvPr id="47" name="Text 45"/>
          <p:cNvSpPr/>
          <p:nvPr/>
        </p:nvSpPr>
        <p:spPr>
          <a:xfrm>
            <a:off x="4434840" y="269748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NOT NULL</a:t>
            </a:r>
            <a:endParaRPr lang="en-US" sz="800" dirty="0"/>
          </a:p>
        </p:txBody>
      </p:sp>
      <p:sp>
        <p:nvSpPr>
          <p:cNvPr id="48" name="Shape 46"/>
          <p:cNvSpPr/>
          <p:nvPr/>
        </p:nvSpPr>
        <p:spPr>
          <a:xfrm>
            <a:off x="6858000" y="2697480"/>
            <a:ext cx="2926080" cy="365760"/>
          </a:xfrm>
          <a:prstGeom prst="rect">
            <a:avLst/>
          </a:prstGeom>
          <a:solidFill>
            <a:srgbClr val="F6F1E9"/>
          </a:solidFill>
          <a:ln w="6350">
            <a:solidFill>
              <a:srgbClr val="E2DACD"/>
            </a:solidFill>
            <a:prstDash val="solid"/>
          </a:ln>
        </p:spPr>
      </p:sp>
      <p:sp>
        <p:nvSpPr>
          <p:cNvPr id="49" name="Text 47"/>
          <p:cNvSpPr/>
          <p:nvPr/>
        </p:nvSpPr>
        <p:spPr>
          <a:xfrm>
            <a:off x="6903720" y="269748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Full couture dress title</a:t>
            </a:r>
            <a:endParaRPr lang="en-US" sz="800" dirty="0"/>
          </a:p>
        </p:txBody>
      </p:sp>
      <p:sp>
        <p:nvSpPr>
          <p:cNvPr id="50" name="Shape 48"/>
          <p:cNvSpPr/>
          <p:nvPr/>
        </p:nvSpPr>
        <p:spPr>
          <a:xfrm>
            <a:off x="9784080" y="2697480"/>
            <a:ext cx="1676095" cy="365760"/>
          </a:xfrm>
          <a:prstGeom prst="rect">
            <a:avLst/>
          </a:prstGeom>
          <a:solidFill>
            <a:srgbClr val="F6F1E9"/>
          </a:solidFill>
          <a:ln w="6350">
            <a:solidFill>
              <a:srgbClr val="E2DACD"/>
            </a:solidFill>
            <a:prstDash val="solid"/>
          </a:ln>
        </p:spPr>
      </p:sp>
      <p:sp>
        <p:nvSpPr>
          <p:cNvPr id="51" name="Text 49"/>
          <p:cNvSpPr/>
          <p:nvPr/>
        </p:nvSpPr>
        <p:spPr>
          <a:xfrm>
            <a:off x="9829800" y="269748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'Rajputi Crimson Bridal Lehenga'</a:t>
            </a:r>
            <a:endParaRPr lang="en-US" sz="800" dirty="0"/>
          </a:p>
        </p:txBody>
      </p:sp>
      <p:sp>
        <p:nvSpPr>
          <p:cNvPr id="52" name="Shape 50"/>
          <p:cNvSpPr/>
          <p:nvPr/>
        </p:nvSpPr>
        <p:spPr>
          <a:xfrm>
            <a:off x="731520" y="3063240"/>
            <a:ext cx="1280160" cy="365760"/>
          </a:xfrm>
          <a:prstGeom prst="rect">
            <a:avLst/>
          </a:prstGeom>
          <a:solidFill>
            <a:srgbClr val="FFFFFF"/>
          </a:solidFill>
          <a:ln w="6350">
            <a:solidFill>
              <a:srgbClr val="E2DACD"/>
            </a:solidFill>
            <a:prstDash val="solid"/>
          </a:ln>
        </p:spPr>
      </p:sp>
      <p:sp>
        <p:nvSpPr>
          <p:cNvPr id="53" name="Text 51"/>
          <p:cNvSpPr/>
          <p:nvPr/>
        </p:nvSpPr>
        <p:spPr>
          <a:xfrm>
            <a:off x="777240" y="306324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category</a:t>
            </a:r>
            <a:endParaRPr lang="en-US" sz="800" dirty="0"/>
          </a:p>
        </p:txBody>
      </p:sp>
      <p:sp>
        <p:nvSpPr>
          <p:cNvPr id="54" name="Shape 52"/>
          <p:cNvSpPr/>
          <p:nvPr/>
        </p:nvSpPr>
        <p:spPr>
          <a:xfrm>
            <a:off x="2011680" y="3063240"/>
            <a:ext cx="1005840" cy="365760"/>
          </a:xfrm>
          <a:prstGeom prst="rect">
            <a:avLst/>
          </a:prstGeom>
          <a:solidFill>
            <a:srgbClr val="FFFFFF"/>
          </a:solidFill>
          <a:ln w="6350">
            <a:solidFill>
              <a:srgbClr val="E2DACD"/>
            </a:solidFill>
            <a:prstDash val="solid"/>
          </a:ln>
        </p:spPr>
      </p:sp>
      <p:sp>
        <p:nvSpPr>
          <p:cNvPr id="55" name="Text 53"/>
          <p:cNvSpPr/>
          <p:nvPr/>
        </p:nvSpPr>
        <p:spPr>
          <a:xfrm>
            <a:off x="2057400" y="306324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ENUM</a:t>
            </a:r>
            <a:endParaRPr lang="en-US" sz="800" dirty="0"/>
          </a:p>
        </p:txBody>
      </p:sp>
      <p:sp>
        <p:nvSpPr>
          <p:cNvPr id="56" name="Shape 54"/>
          <p:cNvSpPr/>
          <p:nvPr/>
        </p:nvSpPr>
        <p:spPr>
          <a:xfrm>
            <a:off x="3017520" y="3063240"/>
            <a:ext cx="731520" cy="365760"/>
          </a:xfrm>
          <a:prstGeom prst="rect">
            <a:avLst/>
          </a:prstGeom>
          <a:solidFill>
            <a:srgbClr val="FFFFFF"/>
          </a:solidFill>
          <a:ln w="6350">
            <a:solidFill>
              <a:srgbClr val="E2DACD"/>
            </a:solidFill>
            <a:prstDash val="solid"/>
          </a:ln>
        </p:spPr>
      </p:sp>
      <p:sp>
        <p:nvSpPr>
          <p:cNvPr id="57" name="Text 55"/>
          <p:cNvSpPr/>
          <p:nvPr/>
        </p:nvSpPr>
        <p:spPr>
          <a:xfrm>
            <a:off x="3063240" y="306324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30</a:t>
            </a:r>
            <a:endParaRPr lang="en-US" sz="800" dirty="0"/>
          </a:p>
        </p:txBody>
      </p:sp>
      <p:sp>
        <p:nvSpPr>
          <p:cNvPr id="58" name="Shape 56"/>
          <p:cNvSpPr/>
          <p:nvPr/>
        </p:nvSpPr>
        <p:spPr>
          <a:xfrm>
            <a:off x="3749040" y="3063240"/>
            <a:ext cx="640080" cy="365760"/>
          </a:xfrm>
          <a:prstGeom prst="rect">
            <a:avLst/>
          </a:prstGeom>
          <a:solidFill>
            <a:srgbClr val="FFFFFF"/>
          </a:solidFill>
          <a:ln w="6350">
            <a:solidFill>
              <a:srgbClr val="E2DACD"/>
            </a:solidFill>
            <a:prstDash val="solid"/>
          </a:ln>
        </p:spPr>
      </p:sp>
      <p:sp>
        <p:nvSpPr>
          <p:cNvPr id="59" name="Text 57"/>
          <p:cNvSpPr/>
          <p:nvPr/>
        </p:nvSpPr>
        <p:spPr>
          <a:xfrm>
            <a:off x="3794760" y="306324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60" name="Shape 58"/>
          <p:cNvSpPr/>
          <p:nvPr/>
        </p:nvSpPr>
        <p:spPr>
          <a:xfrm>
            <a:off x="4389120" y="3063240"/>
            <a:ext cx="2468880" cy="365760"/>
          </a:xfrm>
          <a:prstGeom prst="rect">
            <a:avLst/>
          </a:prstGeom>
          <a:solidFill>
            <a:srgbClr val="FFFFFF"/>
          </a:solidFill>
          <a:ln w="6350">
            <a:solidFill>
              <a:srgbClr val="E2DACD"/>
            </a:solidFill>
            <a:prstDash val="solid"/>
          </a:ln>
        </p:spPr>
      </p:sp>
      <p:sp>
        <p:nvSpPr>
          <p:cNvPr id="61" name="Text 59"/>
          <p:cNvSpPr/>
          <p:nvPr/>
        </p:nvSpPr>
        <p:spPr>
          <a:xfrm>
            <a:off x="4434840" y="306324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CHECK (Lehenga/Saree/Sherwani)</a:t>
            </a:r>
            <a:endParaRPr lang="en-US" sz="800" dirty="0"/>
          </a:p>
        </p:txBody>
      </p:sp>
      <p:sp>
        <p:nvSpPr>
          <p:cNvPr id="62" name="Shape 60"/>
          <p:cNvSpPr/>
          <p:nvPr/>
        </p:nvSpPr>
        <p:spPr>
          <a:xfrm>
            <a:off x="6858000" y="3063240"/>
            <a:ext cx="2926080" cy="365760"/>
          </a:xfrm>
          <a:prstGeom prst="rect">
            <a:avLst/>
          </a:prstGeom>
          <a:solidFill>
            <a:srgbClr val="FFFFFF"/>
          </a:solidFill>
          <a:ln w="6350">
            <a:solidFill>
              <a:srgbClr val="E2DACD"/>
            </a:solidFill>
            <a:prstDash val="solid"/>
          </a:ln>
        </p:spPr>
      </p:sp>
      <p:sp>
        <p:nvSpPr>
          <p:cNvPr id="63" name="Text 61"/>
          <p:cNvSpPr/>
          <p:nvPr/>
        </p:nvSpPr>
        <p:spPr>
          <a:xfrm>
            <a:off x="6903720" y="306324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Ethnic apparel category</a:t>
            </a:r>
            <a:endParaRPr lang="en-US" sz="800" dirty="0"/>
          </a:p>
        </p:txBody>
      </p:sp>
      <p:sp>
        <p:nvSpPr>
          <p:cNvPr id="64" name="Shape 62"/>
          <p:cNvSpPr/>
          <p:nvPr/>
        </p:nvSpPr>
        <p:spPr>
          <a:xfrm>
            <a:off x="9784080" y="3063240"/>
            <a:ext cx="1676095" cy="365760"/>
          </a:xfrm>
          <a:prstGeom prst="rect">
            <a:avLst/>
          </a:prstGeom>
          <a:solidFill>
            <a:srgbClr val="FFFFFF"/>
          </a:solidFill>
          <a:ln w="6350">
            <a:solidFill>
              <a:srgbClr val="E2DACD"/>
            </a:solidFill>
            <a:prstDash val="solid"/>
          </a:ln>
        </p:spPr>
      </p:sp>
      <p:sp>
        <p:nvSpPr>
          <p:cNvPr id="65" name="Text 63"/>
          <p:cNvSpPr/>
          <p:nvPr/>
        </p:nvSpPr>
        <p:spPr>
          <a:xfrm>
            <a:off x="9829800" y="306324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'Lehenga'</a:t>
            </a:r>
            <a:endParaRPr lang="en-US" sz="800" dirty="0"/>
          </a:p>
        </p:txBody>
      </p:sp>
      <p:sp>
        <p:nvSpPr>
          <p:cNvPr id="66" name="Shape 64"/>
          <p:cNvSpPr/>
          <p:nvPr/>
        </p:nvSpPr>
        <p:spPr>
          <a:xfrm>
            <a:off x="731520" y="3429000"/>
            <a:ext cx="1280160" cy="365760"/>
          </a:xfrm>
          <a:prstGeom prst="rect">
            <a:avLst/>
          </a:prstGeom>
          <a:solidFill>
            <a:srgbClr val="F6F1E9"/>
          </a:solidFill>
          <a:ln w="6350">
            <a:solidFill>
              <a:srgbClr val="E2DACD"/>
            </a:solidFill>
            <a:prstDash val="solid"/>
          </a:ln>
        </p:spPr>
      </p:sp>
      <p:sp>
        <p:nvSpPr>
          <p:cNvPr id="67" name="Text 65"/>
          <p:cNvSpPr/>
          <p:nvPr/>
        </p:nvSpPr>
        <p:spPr>
          <a:xfrm>
            <a:off x="777240" y="342900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rentPrice</a:t>
            </a:r>
            <a:endParaRPr lang="en-US" sz="800" dirty="0"/>
          </a:p>
        </p:txBody>
      </p:sp>
      <p:sp>
        <p:nvSpPr>
          <p:cNvPr id="68" name="Shape 66"/>
          <p:cNvSpPr/>
          <p:nvPr/>
        </p:nvSpPr>
        <p:spPr>
          <a:xfrm>
            <a:off x="2011680" y="3429000"/>
            <a:ext cx="1005840" cy="365760"/>
          </a:xfrm>
          <a:prstGeom prst="rect">
            <a:avLst/>
          </a:prstGeom>
          <a:solidFill>
            <a:srgbClr val="F6F1E9"/>
          </a:solidFill>
          <a:ln w="6350">
            <a:solidFill>
              <a:srgbClr val="E2DACD"/>
            </a:solidFill>
            <a:prstDash val="solid"/>
          </a:ln>
        </p:spPr>
      </p:sp>
      <p:sp>
        <p:nvSpPr>
          <p:cNvPr id="69" name="Text 67"/>
          <p:cNvSpPr/>
          <p:nvPr/>
        </p:nvSpPr>
        <p:spPr>
          <a:xfrm>
            <a:off x="2057400" y="342900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INT</a:t>
            </a:r>
            <a:endParaRPr lang="en-US" sz="800" dirty="0"/>
          </a:p>
        </p:txBody>
      </p:sp>
      <p:sp>
        <p:nvSpPr>
          <p:cNvPr id="70" name="Shape 68"/>
          <p:cNvSpPr/>
          <p:nvPr/>
        </p:nvSpPr>
        <p:spPr>
          <a:xfrm>
            <a:off x="3017520" y="3429000"/>
            <a:ext cx="731520" cy="365760"/>
          </a:xfrm>
          <a:prstGeom prst="rect">
            <a:avLst/>
          </a:prstGeom>
          <a:solidFill>
            <a:srgbClr val="F6F1E9"/>
          </a:solidFill>
          <a:ln w="6350">
            <a:solidFill>
              <a:srgbClr val="E2DACD"/>
            </a:solidFill>
            <a:prstDash val="solid"/>
          </a:ln>
        </p:spPr>
      </p:sp>
      <p:sp>
        <p:nvSpPr>
          <p:cNvPr id="71" name="Text 69"/>
          <p:cNvSpPr/>
          <p:nvPr/>
        </p:nvSpPr>
        <p:spPr>
          <a:xfrm>
            <a:off x="3063240" y="342900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8</a:t>
            </a:r>
            <a:endParaRPr lang="en-US" sz="800" dirty="0"/>
          </a:p>
        </p:txBody>
      </p:sp>
      <p:sp>
        <p:nvSpPr>
          <p:cNvPr id="72" name="Shape 70"/>
          <p:cNvSpPr/>
          <p:nvPr/>
        </p:nvSpPr>
        <p:spPr>
          <a:xfrm>
            <a:off x="3749040" y="3429000"/>
            <a:ext cx="640080" cy="365760"/>
          </a:xfrm>
          <a:prstGeom prst="rect">
            <a:avLst/>
          </a:prstGeom>
          <a:solidFill>
            <a:srgbClr val="F6F1E9"/>
          </a:solidFill>
          <a:ln w="6350">
            <a:solidFill>
              <a:srgbClr val="E2DACD"/>
            </a:solidFill>
            <a:prstDash val="solid"/>
          </a:ln>
        </p:spPr>
      </p:sp>
      <p:sp>
        <p:nvSpPr>
          <p:cNvPr id="73" name="Text 71"/>
          <p:cNvSpPr/>
          <p:nvPr/>
        </p:nvSpPr>
        <p:spPr>
          <a:xfrm>
            <a:off x="3794760" y="342900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74" name="Shape 72"/>
          <p:cNvSpPr/>
          <p:nvPr/>
        </p:nvSpPr>
        <p:spPr>
          <a:xfrm>
            <a:off x="4389120" y="3429000"/>
            <a:ext cx="2468880" cy="365760"/>
          </a:xfrm>
          <a:prstGeom prst="rect">
            <a:avLst/>
          </a:prstGeom>
          <a:solidFill>
            <a:srgbClr val="F6F1E9"/>
          </a:solidFill>
          <a:ln w="6350">
            <a:solidFill>
              <a:srgbClr val="E2DACD"/>
            </a:solidFill>
            <a:prstDash val="solid"/>
          </a:ln>
        </p:spPr>
      </p:sp>
      <p:sp>
        <p:nvSpPr>
          <p:cNvPr id="75" name="Text 73"/>
          <p:cNvSpPr/>
          <p:nvPr/>
        </p:nvSpPr>
        <p:spPr>
          <a:xfrm>
            <a:off x="4434840" y="342900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CHECK (rentPrice &gt; 0)</a:t>
            </a:r>
            <a:endParaRPr lang="en-US" sz="800" dirty="0"/>
          </a:p>
        </p:txBody>
      </p:sp>
      <p:sp>
        <p:nvSpPr>
          <p:cNvPr id="76" name="Shape 74"/>
          <p:cNvSpPr/>
          <p:nvPr/>
        </p:nvSpPr>
        <p:spPr>
          <a:xfrm>
            <a:off x="6858000" y="3429000"/>
            <a:ext cx="2926080" cy="365760"/>
          </a:xfrm>
          <a:prstGeom prst="rect">
            <a:avLst/>
          </a:prstGeom>
          <a:solidFill>
            <a:srgbClr val="F6F1E9"/>
          </a:solidFill>
          <a:ln w="6350">
            <a:solidFill>
              <a:srgbClr val="E2DACD"/>
            </a:solidFill>
            <a:prstDash val="solid"/>
          </a:ln>
        </p:spPr>
      </p:sp>
      <p:sp>
        <p:nvSpPr>
          <p:cNvPr id="77" name="Text 75"/>
          <p:cNvSpPr/>
          <p:nvPr/>
        </p:nvSpPr>
        <p:spPr>
          <a:xfrm>
            <a:off x="6903720" y="342900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Standard 3-day rental fee</a:t>
            </a:r>
            <a:endParaRPr lang="en-US" sz="800" dirty="0"/>
          </a:p>
        </p:txBody>
      </p:sp>
      <p:sp>
        <p:nvSpPr>
          <p:cNvPr id="78" name="Shape 76"/>
          <p:cNvSpPr/>
          <p:nvPr/>
        </p:nvSpPr>
        <p:spPr>
          <a:xfrm>
            <a:off x="9784080" y="3429000"/>
            <a:ext cx="1676095" cy="365760"/>
          </a:xfrm>
          <a:prstGeom prst="rect">
            <a:avLst/>
          </a:prstGeom>
          <a:solidFill>
            <a:srgbClr val="F6F1E9"/>
          </a:solidFill>
          <a:ln w="6350">
            <a:solidFill>
              <a:srgbClr val="E2DACD"/>
            </a:solidFill>
            <a:prstDash val="solid"/>
          </a:ln>
        </p:spPr>
      </p:sp>
      <p:sp>
        <p:nvSpPr>
          <p:cNvPr id="79" name="Text 77"/>
          <p:cNvSpPr/>
          <p:nvPr/>
        </p:nvSpPr>
        <p:spPr>
          <a:xfrm>
            <a:off x="9829800" y="342900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3800</a:t>
            </a:r>
            <a:endParaRPr lang="en-US" sz="800" dirty="0"/>
          </a:p>
        </p:txBody>
      </p:sp>
      <p:sp>
        <p:nvSpPr>
          <p:cNvPr id="80" name="Shape 78"/>
          <p:cNvSpPr/>
          <p:nvPr/>
        </p:nvSpPr>
        <p:spPr>
          <a:xfrm>
            <a:off x="731520" y="3794760"/>
            <a:ext cx="1280160" cy="365760"/>
          </a:xfrm>
          <a:prstGeom prst="rect">
            <a:avLst/>
          </a:prstGeom>
          <a:solidFill>
            <a:srgbClr val="FFFFFF"/>
          </a:solidFill>
          <a:ln w="6350">
            <a:solidFill>
              <a:srgbClr val="E2DACD"/>
            </a:solidFill>
            <a:prstDash val="solid"/>
          </a:ln>
        </p:spPr>
      </p:sp>
      <p:sp>
        <p:nvSpPr>
          <p:cNvPr id="81" name="Text 79"/>
          <p:cNvSpPr/>
          <p:nvPr/>
        </p:nvSpPr>
        <p:spPr>
          <a:xfrm>
            <a:off x="777240" y="379476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deposit</a:t>
            </a:r>
            <a:endParaRPr lang="en-US" sz="800" dirty="0"/>
          </a:p>
        </p:txBody>
      </p:sp>
      <p:sp>
        <p:nvSpPr>
          <p:cNvPr id="82" name="Shape 80"/>
          <p:cNvSpPr/>
          <p:nvPr/>
        </p:nvSpPr>
        <p:spPr>
          <a:xfrm>
            <a:off x="2011680" y="3794760"/>
            <a:ext cx="1005840" cy="365760"/>
          </a:xfrm>
          <a:prstGeom prst="rect">
            <a:avLst/>
          </a:prstGeom>
          <a:solidFill>
            <a:srgbClr val="FFFFFF"/>
          </a:solidFill>
          <a:ln w="6350">
            <a:solidFill>
              <a:srgbClr val="E2DACD"/>
            </a:solidFill>
            <a:prstDash val="solid"/>
          </a:ln>
        </p:spPr>
      </p:sp>
      <p:sp>
        <p:nvSpPr>
          <p:cNvPr id="83" name="Text 81"/>
          <p:cNvSpPr/>
          <p:nvPr/>
        </p:nvSpPr>
        <p:spPr>
          <a:xfrm>
            <a:off x="2057400" y="379476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INT</a:t>
            </a:r>
            <a:endParaRPr lang="en-US" sz="800" dirty="0"/>
          </a:p>
        </p:txBody>
      </p:sp>
      <p:sp>
        <p:nvSpPr>
          <p:cNvPr id="84" name="Shape 82"/>
          <p:cNvSpPr/>
          <p:nvPr/>
        </p:nvSpPr>
        <p:spPr>
          <a:xfrm>
            <a:off x="3017520" y="3794760"/>
            <a:ext cx="731520" cy="365760"/>
          </a:xfrm>
          <a:prstGeom prst="rect">
            <a:avLst/>
          </a:prstGeom>
          <a:solidFill>
            <a:srgbClr val="FFFFFF"/>
          </a:solidFill>
          <a:ln w="6350">
            <a:solidFill>
              <a:srgbClr val="E2DACD"/>
            </a:solidFill>
            <a:prstDash val="solid"/>
          </a:ln>
        </p:spPr>
      </p:sp>
      <p:sp>
        <p:nvSpPr>
          <p:cNvPr id="85" name="Text 83"/>
          <p:cNvSpPr/>
          <p:nvPr/>
        </p:nvSpPr>
        <p:spPr>
          <a:xfrm>
            <a:off x="3063240" y="379476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8</a:t>
            </a:r>
            <a:endParaRPr lang="en-US" sz="800" dirty="0"/>
          </a:p>
        </p:txBody>
      </p:sp>
      <p:sp>
        <p:nvSpPr>
          <p:cNvPr id="86" name="Shape 84"/>
          <p:cNvSpPr/>
          <p:nvPr/>
        </p:nvSpPr>
        <p:spPr>
          <a:xfrm>
            <a:off x="3749040" y="3794760"/>
            <a:ext cx="640080" cy="365760"/>
          </a:xfrm>
          <a:prstGeom prst="rect">
            <a:avLst/>
          </a:prstGeom>
          <a:solidFill>
            <a:srgbClr val="FFFFFF"/>
          </a:solidFill>
          <a:ln w="6350">
            <a:solidFill>
              <a:srgbClr val="E2DACD"/>
            </a:solidFill>
            <a:prstDash val="solid"/>
          </a:ln>
        </p:spPr>
      </p:sp>
      <p:sp>
        <p:nvSpPr>
          <p:cNvPr id="87" name="Text 85"/>
          <p:cNvSpPr/>
          <p:nvPr/>
        </p:nvSpPr>
        <p:spPr>
          <a:xfrm>
            <a:off x="3794760" y="379476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88" name="Shape 86"/>
          <p:cNvSpPr/>
          <p:nvPr/>
        </p:nvSpPr>
        <p:spPr>
          <a:xfrm>
            <a:off x="4389120" y="3794760"/>
            <a:ext cx="2468880" cy="365760"/>
          </a:xfrm>
          <a:prstGeom prst="rect">
            <a:avLst/>
          </a:prstGeom>
          <a:solidFill>
            <a:srgbClr val="FFFFFF"/>
          </a:solidFill>
          <a:ln w="6350">
            <a:solidFill>
              <a:srgbClr val="E2DACD"/>
            </a:solidFill>
            <a:prstDash val="solid"/>
          </a:ln>
        </p:spPr>
      </p:sp>
      <p:sp>
        <p:nvSpPr>
          <p:cNvPr id="89" name="Text 87"/>
          <p:cNvSpPr/>
          <p:nvPr/>
        </p:nvSpPr>
        <p:spPr>
          <a:xfrm>
            <a:off x="4434840" y="379476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CHECK (deposit &gt;= rentPrice)</a:t>
            </a:r>
            <a:endParaRPr lang="en-US" sz="800" dirty="0"/>
          </a:p>
        </p:txBody>
      </p:sp>
      <p:sp>
        <p:nvSpPr>
          <p:cNvPr id="90" name="Shape 88"/>
          <p:cNvSpPr/>
          <p:nvPr/>
        </p:nvSpPr>
        <p:spPr>
          <a:xfrm>
            <a:off x="6858000" y="3794760"/>
            <a:ext cx="2926080" cy="365760"/>
          </a:xfrm>
          <a:prstGeom prst="rect">
            <a:avLst/>
          </a:prstGeom>
          <a:solidFill>
            <a:srgbClr val="FFFFFF"/>
          </a:solidFill>
          <a:ln w="6350">
            <a:solidFill>
              <a:srgbClr val="E2DACD"/>
            </a:solidFill>
            <a:prstDash val="solid"/>
          </a:ln>
        </p:spPr>
      </p:sp>
      <p:sp>
        <p:nvSpPr>
          <p:cNvPr id="91" name="Text 89"/>
          <p:cNvSpPr/>
          <p:nvPr/>
        </p:nvSpPr>
        <p:spPr>
          <a:xfrm>
            <a:off x="6903720" y="379476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Refundable security escrow</a:t>
            </a:r>
            <a:endParaRPr lang="en-US" sz="800" dirty="0"/>
          </a:p>
        </p:txBody>
      </p:sp>
      <p:sp>
        <p:nvSpPr>
          <p:cNvPr id="92" name="Shape 90"/>
          <p:cNvSpPr/>
          <p:nvPr/>
        </p:nvSpPr>
        <p:spPr>
          <a:xfrm>
            <a:off x="9784080" y="3794760"/>
            <a:ext cx="1676095" cy="365760"/>
          </a:xfrm>
          <a:prstGeom prst="rect">
            <a:avLst/>
          </a:prstGeom>
          <a:solidFill>
            <a:srgbClr val="FFFFFF"/>
          </a:solidFill>
          <a:ln w="6350">
            <a:solidFill>
              <a:srgbClr val="E2DACD"/>
            </a:solidFill>
            <a:prstDash val="solid"/>
          </a:ln>
        </p:spPr>
      </p:sp>
      <p:sp>
        <p:nvSpPr>
          <p:cNvPr id="93" name="Text 91"/>
          <p:cNvSpPr/>
          <p:nvPr/>
        </p:nvSpPr>
        <p:spPr>
          <a:xfrm>
            <a:off x="9829800" y="379476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6000</a:t>
            </a:r>
            <a:endParaRPr lang="en-US" sz="800" dirty="0"/>
          </a:p>
        </p:txBody>
      </p:sp>
      <p:sp>
        <p:nvSpPr>
          <p:cNvPr id="94" name="Shape 92"/>
          <p:cNvSpPr/>
          <p:nvPr/>
        </p:nvSpPr>
        <p:spPr>
          <a:xfrm>
            <a:off x="731520" y="4160520"/>
            <a:ext cx="1280160" cy="365760"/>
          </a:xfrm>
          <a:prstGeom prst="rect">
            <a:avLst/>
          </a:prstGeom>
          <a:solidFill>
            <a:srgbClr val="F6F1E9"/>
          </a:solidFill>
          <a:ln w="6350">
            <a:solidFill>
              <a:srgbClr val="E2DACD"/>
            </a:solidFill>
            <a:prstDash val="solid"/>
          </a:ln>
        </p:spPr>
      </p:sp>
      <p:sp>
        <p:nvSpPr>
          <p:cNvPr id="95" name="Text 93"/>
          <p:cNvSpPr/>
          <p:nvPr/>
        </p:nvSpPr>
        <p:spPr>
          <a:xfrm>
            <a:off x="777240" y="416052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retailValue</a:t>
            </a:r>
            <a:endParaRPr lang="en-US" sz="800" dirty="0"/>
          </a:p>
        </p:txBody>
      </p:sp>
      <p:sp>
        <p:nvSpPr>
          <p:cNvPr id="96" name="Shape 94"/>
          <p:cNvSpPr/>
          <p:nvPr/>
        </p:nvSpPr>
        <p:spPr>
          <a:xfrm>
            <a:off x="2011680" y="4160520"/>
            <a:ext cx="1005840" cy="365760"/>
          </a:xfrm>
          <a:prstGeom prst="rect">
            <a:avLst/>
          </a:prstGeom>
          <a:solidFill>
            <a:srgbClr val="F6F1E9"/>
          </a:solidFill>
          <a:ln w="6350">
            <a:solidFill>
              <a:srgbClr val="E2DACD"/>
            </a:solidFill>
            <a:prstDash val="solid"/>
          </a:ln>
        </p:spPr>
      </p:sp>
      <p:sp>
        <p:nvSpPr>
          <p:cNvPr id="97" name="Text 95"/>
          <p:cNvSpPr/>
          <p:nvPr/>
        </p:nvSpPr>
        <p:spPr>
          <a:xfrm>
            <a:off x="2057400" y="416052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INT</a:t>
            </a:r>
            <a:endParaRPr lang="en-US" sz="800" dirty="0"/>
          </a:p>
        </p:txBody>
      </p:sp>
      <p:sp>
        <p:nvSpPr>
          <p:cNvPr id="98" name="Shape 96"/>
          <p:cNvSpPr/>
          <p:nvPr/>
        </p:nvSpPr>
        <p:spPr>
          <a:xfrm>
            <a:off x="3017520" y="4160520"/>
            <a:ext cx="731520" cy="365760"/>
          </a:xfrm>
          <a:prstGeom prst="rect">
            <a:avLst/>
          </a:prstGeom>
          <a:solidFill>
            <a:srgbClr val="F6F1E9"/>
          </a:solidFill>
          <a:ln w="6350">
            <a:solidFill>
              <a:srgbClr val="E2DACD"/>
            </a:solidFill>
            <a:prstDash val="solid"/>
          </a:ln>
        </p:spPr>
      </p:sp>
      <p:sp>
        <p:nvSpPr>
          <p:cNvPr id="99" name="Text 97"/>
          <p:cNvSpPr/>
          <p:nvPr/>
        </p:nvSpPr>
        <p:spPr>
          <a:xfrm>
            <a:off x="3063240" y="416052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8</a:t>
            </a:r>
            <a:endParaRPr lang="en-US" sz="800" dirty="0"/>
          </a:p>
        </p:txBody>
      </p:sp>
      <p:sp>
        <p:nvSpPr>
          <p:cNvPr id="100" name="Shape 98"/>
          <p:cNvSpPr/>
          <p:nvPr/>
        </p:nvSpPr>
        <p:spPr>
          <a:xfrm>
            <a:off x="3749040" y="4160520"/>
            <a:ext cx="640080" cy="365760"/>
          </a:xfrm>
          <a:prstGeom prst="rect">
            <a:avLst/>
          </a:prstGeom>
          <a:solidFill>
            <a:srgbClr val="F6F1E9"/>
          </a:solidFill>
          <a:ln w="6350">
            <a:solidFill>
              <a:srgbClr val="E2DACD"/>
            </a:solidFill>
            <a:prstDash val="solid"/>
          </a:ln>
        </p:spPr>
      </p:sp>
      <p:sp>
        <p:nvSpPr>
          <p:cNvPr id="101" name="Text 99"/>
          <p:cNvSpPr/>
          <p:nvPr/>
        </p:nvSpPr>
        <p:spPr>
          <a:xfrm>
            <a:off x="3794760" y="416052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102" name="Shape 100"/>
          <p:cNvSpPr/>
          <p:nvPr/>
        </p:nvSpPr>
        <p:spPr>
          <a:xfrm>
            <a:off x="4389120" y="4160520"/>
            <a:ext cx="2468880" cy="365760"/>
          </a:xfrm>
          <a:prstGeom prst="rect">
            <a:avLst/>
          </a:prstGeom>
          <a:solidFill>
            <a:srgbClr val="F6F1E9"/>
          </a:solidFill>
          <a:ln w="6350">
            <a:solidFill>
              <a:srgbClr val="E2DACD"/>
            </a:solidFill>
            <a:prstDash val="solid"/>
          </a:ln>
        </p:spPr>
      </p:sp>
      <p:sp>
        <p:nvSpPr>
          <p:cNvPr id="103" name="Text 101"/>
          <p:cNvSpPr/>
          <p:nvPr/>
        </p:nvSpPr>
        <p:spPr>
          <a:xfrm>
            <a:off x="4434840" y="416052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NOT NULL</a:t>
            </a:r>
            <a:endParaRPr lang="en-US" sz="800" dirty="0"/>
          </a:p>
        </p:txBody>
      </p:sp>
      <p:sp>
        <p:nvSpPr>
          <p:cNvPr id="104" name="Shape 102"/>
          <p:cNvSpPr/>
          <p:nvPr/>
        </p:nvSpPr>
        <p:spPr>
          <a:xfrm>
            <a:off x="6858000" y="4160520"/>
            <a:ext cx="2926080" cy="365760"/>
          </a:xfrm>
          <a:prstGeom prst="rect">
            <a:avLst/>
          </a:prstGeom>
          <a:solidFill>
            <a:srgbClr val="F6F1E9"/>
          </a:solidFill>
          <a:ln w="6350">
            <a:solidFill>
              <a:srgbClr val="E2DACD"/>
            </a:solidFill>
            <a:prstDash val="solid"/>
          </a:ln>
        </p:spPr>
      </p:sp>
      <p:sp>
        <p:nvSpPr>
          <p:cNvPr id="105" name="Text 103"/>
          <p:cNvSpPr/>
          <p:nvPr/>
        </p:nvSpPr>
        <p:spPr>
          <a:xfrm>
            <a:off x="6903720" y="416052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Market purchase value</a:t>
            </a:r>
            <a:endParaRPr lang="en-US" sz="800" dirty="0"/>
          </a:p>
        </p:txBody>
      </p:sp>
      <p:sp>
        <p:nvSpPr>
          <p:cNvPr id="106" name="Shape 104"/>
          <p:cNvSpPr/>
          <p:nvPr/>
        </p:nvSpPr>
        <p:spPr>
          <a:xfrm>
            <a:off x="9784080" y="4160520"/>
            <a:ext cx="1676095" cy="365760"/>
          </a:xfrm>
          <a:prstGeom prst="rect">
            <a:avLst/>
          </a:prstGeom>
          <a:solidFill>
            <a:srgbClr val="F6F1E9"/>
          </a:solidFill>
          <a:ln w="6350">
            <a:solidFill>
              <a:srgbClr val="E2DACD"/>
            </a:solidFill>
            <a:prstDash val="solid"/>
          </a:ln>
        </p:spPr>
      </p:sp>
      <p:sp>
        <p:nvSpPr>
          <p:cNvPr id="107" name="Text 105"/>
          <p:cNvSpPr/>
          <p:nvPr/>
        </p:nvSpPr>
        <p:spPr>
          <a:xfrm>
            <a:off x="9829800" y="416052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65000</a:t>
            </a:r>
            <a:endParaRPr lang="en-US" sz="800" dirty="0"/>
          </a:p>
        </p:txBody>
      </p:sp>
      <p:sp>
        <p:nvSpPr>
          <p:cNvPr id="108" name="Shape 106"/>
          <p:cNvSpPr/>
          <p:nvPr/>
        </p:nvSpPr>
        <p:spPr>
          <a:xfrm>
            <a:off x="731520" y="4526280"/>
            <a:ext cx="1280160" cy="365760"/>
          </a:xfrm>
          <a:prstGeom prst="rect">
            <a:avLst/>
          </a:prstGeom>
          <a:solidFill>
            <a:srgbClr val="FFFFFF"/>
          </a:solidFill>
          <a:ln w="6350">
            <a:solidFill>
              <a:srgbClr val="E2DACD"/>
            </a:solidFill>
            <a:prstDash val="solid"/>
          </a:ln>
        </p:spPr>
      </p:sp>
      <p:sp>
        <p:nvSpPr>
          <p:cNvPr id="109" name="Text 107"/>
          <p:cNvSpPr/>
          <p:nvPr/>
        </p:nvSpPr>
        <p:spPr>
          <a:xfrm>
            <a:off x="777240" y="452628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lenderId</a:t>
            </a:r>
            <a:endParaRPr lang="en-US" sz="800" dirty="0"/>
          </a:p>
        </p:txBody>
      </p:sp>
      <p:sp>
        <p:nvSpPr>
          <p:cNvPr id="110" name="Shape 108"/>
          <p:cNvSpPr/>
          <p:nvPr/>
        </p:nvSpPr>
        <p:spPr>
          <a:xfrm>
            <a:off x="2011680" y="4526280"/>
            <a:ext cx="1005840" cy="365760"/>
          </a:xfrm>
          <a:prstGeom prst="rect">
            <a:avLst/>
          </a:prstGeom>
          <a:solidFill>
            <a:srgbClr val="FFFFFF"/>
          </a:solidFill>
          <a:ln w="6350">
            <a:solidFill>
              <a:srgbClr val="E2DACD"/>
            </a:solidFill>
            <a:prstDash val="solid"/>
          </a:ln>
        </p:spPr>
      </p:sp>
      <p:sp>
        <p:nvSpPr>
          <p:cNvPr id="111" name="Text 109"/>
          <p:cNvSpPr/>
          <p:nvPr/>
        </p:nvSpPr>
        <p:spPr>
          <a:xfrm>
            <a:off x="2057400" y="452628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VARCHAR</a:t>
            </a:r>
            <a:endParaRPr lang="en-US" sz="800" dirty="0"/>
          </a:p>
        </p:txBody>
      </p:sp>
      <p:sp>
        <p:nvSpPr>
          <p:cNvPr id="112" name="Shape 110"/>
          <p:cNvSpPr/>
          <p:nvPr/>
        </p:nvSpPr>
        <p:spPr>
          <a:xfrm>
            <a:off x="3017520" y="4526280"/>
            <a:ext cx="731520" cy="365760"/>
          </a:xfrm>
          <a:prstGeom prst="rect">
            <a:avLst/>
          </a:prstGeom>
          <a:solidFill>
            <a:srgbClr val="FFFFFF"/>
          </a:solidFill>
          <a:ln w="6350">
            <a:solidFill>
              <a:srgbClr val="E2DACD"/>
            </a:solidFill>
            <a:prstDash val="solid"/>
          </a:ln>
        </p:spPr>
      </p:sp>
      <p:sp>
        <p:nvSpPr>
          <p:cNvPr id="113" name="Text 111"/>
          <p:cNvSpPr/>
          <p:nvPr/>
        </p:nvSpPr>
        <p:spPr>
          <a:xfrm>
            <a:off x="3063240" y="452628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36</a:t>
            </a:r>
            <a:endParaRPr lang="en-US" sz="800" dirty="0"/>
          </a:p>
        </p:txBody>
      </p:sp>
      <p:sp>
        <p:nvSpPr>
          <p:cNvPr id="114" name="Shape 112"/>
          <p:cNvSpPr/>
          <p:nvPr/>
        </p:nvSpPr>
        <p:spPr>
          <a:xfrm>
            <a:off x="3749040" y="4526280"/>
            <a:ext cx="640080" cy="365760"/>
          </a:xfrm>
          <a:prstGeom prst="rect">
            <a:avLst/>
          </a:prstGeom>
          <a:solidFill>
            <a:srgbClr val="FFFFFF"/>
          </a:solidFill>
          <a:ln w="6350">
            <a:solidFill>
              <a:srgbClr val="E2DACD"/>
            </a:solidFill>
            <a:prstDash val="solid"/>
          </a:ln>
        </p:spPr>
      </p:sp>
      <p:sp>
        <p:nvSpPr>
          <p:cNvPr id="115" name="Text 113"/>
          <p:cNvSpPr/>
          <p:nvPr/>
        </p:nvSpPr>
        <p:spPr>
          <a:xfrm>
            <a:off x="3794760" y="452628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FK</a:t>
            </a:r>
            <a:endParaRPr lang="en-US" sz="800" dirty="0"/>
          </a:p>
        </p:txBody>
      </p:sp>
      <p:sp>
        <p:nvSpPr>
          <p:cNvPr id="116" name="Shape 114"/>
          <p:cNvSpPr/>
          <p:nvPr/>
        </p:nvSpPr>
        <p:spPr>
          <a:xfrm>
            <a:off x="4389120" y="4526280"/>
            <a:ext cx="2468880" cy="365760"/>
          </a:xfrm>
          <a:prstGeom prst="rect">
            <a:avLst/>
          </a:prstGeom>
          <a:solidFill>
            <a:srgbClr val="FFFFFF"/>
          </a:solidFill>
          <a:ln w="6350">
            <a:solidFill>
              <a:srgbClr val="E2DACD"/>
            </a:solidFill>
            <a:prstDash val="solid"/>
          </a:ln>
        </p:spPr>
      </p:sp>
      <p:sp>
        <p:nvSpPr>
          <p:cNvPr id="117" name="Text 115"/>
          <p:cNvSpPr/>
          <p:nvPr/>
        </p:nvSpPr>
        <p:spPr>
          <a:xfrm>
            <a:off x="4434840" y="452628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REFERENCES LENDERS(id)</a:t>
            </a:r>
            <a:endParaRPr lang="en-US" sz="800" dirty="0"/>
          </a:p>
        </p:txBody>
      </p:sp>
      <p:sp>
        <p:nvSpPr>
          <p:cNvPr id="118" name="Shape 116"/>
          <p:cNvSpPr/>
          <p:nvPr/>
        </p:nvSpPr>
        <p:spPr>
          <a:xfrm>
            <a:off x="6858000" y="4526280"/>
            <a:ext cx="2926080" cy="365760"/>
          </a:xfrm>
          <a:prstGeom prst="rect">
            <a:avLst/>
          </a:prstGeom>
          <a:solidFill>
            <a:srgbClr val="FFFFFF"/>
          </a:solidFill>
          <a:ln w="6350">
            <a:solidFill>
              <a:srgbClr val="E2DACD"/>
            </a:solidFill>
            <a:prstDash val="solid"/>
          </a:ln>
        </p:spPr>
      </p:sp>
      <p:sp>
        <p:nvSpPr>
          <p:cNvPr id="119" name="Text 117"/>
          <p:cNvSpPr/>
          <p:nvPr/>
        </p:nvSpPr>
        <p:spPr>
          <a:xfrm>
            <a:off x="6903720" y="452628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Owning boutique identifier</a:t>
            </a:r>
            <a:endParaRPr lang="en-US" sz="800" dirty="0"/>
          </a:p>
        </p:txBody>
      </p:sp>
      <p:sp>
        <p:nvSpPr>
          <p:cNvPr id="120" name="Shape 118"/>
          <p:cNvSpPr/>
          <p:nvPr/>
        </p:nvSpPr>
        <p:spPr>
          <a:xfrm>
            <a:off x="9784080" y="4526280"/>
            <a:ext cx="1676095" cy="365760"/>
          </a:xfrm>
          <a:prstGeom prst="rect">
            <a:avLst/>
          </a:prstGeom>
          <a:solidFill>
            <a:srgbClr val="FFFFFF"/>
          </a:solidFill>
          <a:ln w="6350">
            <a:solidFill>
              <a:srgbClr val="E2DACD"/>
            </a:solidFill>
            <a:prstDash val="solid"/>
          </a:ln>
        </p:spPr>
      </p:sp>
      <p:sp>
        <p:nvSpPr>
          <p:cNvPr id="121" name="Text 119"/>
          <p:cNvSpPr/>
          <p:nvPr/>
        </p:nvSpPr>
        <p:spPr>
          <a:xfrm>
            <a:off x="9829800" y="452628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'radha'</a:t>
            </a:r>
            <a:endParaRPr lang="en-US" sz="800" dirty="0"/>
          </a:p>
        </p:txBody>
      </p:sp>
      <p:sp>
        <p:nvSpPr>
          <p:cNvPr id="122" name="Shape 120"/>
          <p:cNvSpPr/>
          <p:nvPr/>
        </p:nvSpPr>
        <p:spPr>
          <a:xfrm>
            <a:off x="731520" y="5029200"/>
            <a:ext cx="10728655" cy="1143000"/>
          </a:xfrm>
          <a:prstGeom prst="rect">
            <a:avLst/>
          </a:prstGeom>
          <a:solidFill>
            <a:srgbClr val="F5EFE6"/>
          </a:solidFill>
          <a:ln w="12700">
            <a:solidFill>
              <a:srgbClr val="C99A2E"/>
            </a:solidFill>
            <a:prstDash val="solid"/>
          </a:ln>
        </p:spPr>
      </p:sp>
      <p:sp>
        <p:nvSpPr>
          <p:cNvPr id="123" name="Text 121"/>
          <p:cNvSpPr/>
          <p:nvPr/>
        </p:nvSpPr>
        <p:spPr>
          <a:xfrm>
            <a:off x="914400" y="5120640"/>
            <a:ext cx="10058400" cy="228600"/>
          </a:xfrm>
          <a:prstGeom prst="rect">
            <a:avLst/>
          </a:prstGeom>
          <a:noFill/>
          <a:ln/>
        </p:spPr>
        <p:txBody>
          <a:bodyPr wrap="square" rtlCol="0" anchor="ctr"/>
          <a:lstStyle/>
          <a:p>
            <a:pPr indent="0" marL="0">
              <a:buNone/>
            </a:pPr>
            <a:r>
              <a:rPr lang="en-US" sz="850" b="1" dirty="0">
                <a:solidFill>
                  <a:srgbClr val="7A5F20"/>
                </a:solidFill>
                <a:latin typeface="Consolas" pitchFamily="34" charset="0"/>
                <a:ea typeface="Consolas" pitchFamily="34" charset="-122"/>
                <a:cs typeface="Consolas" pitchFamily="34" charset="-120"/>
              </a:rPr>
              <a:t>HIGHLIGHTED RECORD CARD · SEED DRESS "d1" (FROM LIVE STORE.JS)</a:t>
            </a:r>
            <a:endParaRPr lang="en-US" sz="850" dirty="0"/>
          </a:p>
        </p:txBody>
      </p:sp>
      <p:sp>
        <p:nvSpPr>
          <p:cNvPr id="124" name="Text 122"/>
          <p:cNvSpPr/>
          <p:nvPr/>
        </p:nvSpPr>
        <p:spPr>
          <a:xfrm>
            <a:off x="914400" y="5394960"/>
            <a:ext cx="10332720" cy="365760"/>
          </a:xfrm>
          <a:prstGeom prst="rect">
            <a:avLst/>
          </a:prstGeom>
          <a:noFill/>
          <a:ln/>
        </p:spPr>
        <p:txBody>
          <a:bodyPr wrap="square" rtlCol="0" anchor="ctr"/>
          <a:lstStyle/>
          <a:p>
            <a:pPr indent="0" marL="0">
              <a:buNone/>
            </a:pPr>
            <a:r>
              <a:rPr lang="en-US" sz="1000" dirty="0">
                <a:solidFill>
                  <a:srgbClr val="1A1618"/>
                </a:solidFill>
                <a:latin typeface="Consolas" pitchFamily="34" charset="0"/>
                <a:ea typeface="Consolas" pitchFamily="34" charset="-122"/>
                <a:cs typeface="Consolas" pitchFamily="34" charset="-120"/>
              </a:rPr>
              <a:t>{ id: "d1", name: "Rajputi Crimson Bridal Velvet Lehenga", rentPrice: ₹3,800, deposit: ₹6,000, retailValue: ₹65,000, lender: "Radha Ethnic House (@radha_poshakh)", rating: 4.9 }</a:t>
            </a:r>
            <a:endParaRPr lang="en-US" sz="1000" dirty="0"/>
          </a:p>
        </p:txBody>
      </p:sp>
      <p:sp>
        <p:nvSpPr>
          <p:cNvPr id="125" name="Text 123"/>
          <p:cNvSpPr/>
          <p:nvPr/>
        </p:nvSpPr>
        <p:spPr>
          <a:xfrm>
            <a:off x="914400" y="5806440"/>
            <a:ext cx="10332720" cy="320040"/>
          </a:xfrm>
          <a:prstGeom prst="rect">
            <a:avLst/>
          </a:prstGeom>
          <a:noFill/>
          <a:ln/>
        </p:spPr>
        <p:txBody>
          <a:bodyPr wrap="square" rtlCol="0" anchor="ctr"/>
          <a:lstStyle/>
          <a:p>
            <a:pPr indent="0" marL="0">
              <a:buNone/>
            </a:pPr>
            <a:r>
              <a:rPr lang="en-US" sz="950" i="1" dirty="0">
                <a:solidFill>
                  <a:srgbClr val="6B6367"/>
                </a:solidFill>
                <a:latin typeface="Arial" pitchFamily="34" charset="0"/>
                <a:ea typeface="Arial" pitchFamily="34" charset="-122"/>
                <a:cs typeface="Arial" pitchFamily="34" charset="-120"/>
              </a:rPr>
              <a:t>One-Line Meaning: A ₹65,000 luxury lehenga rented for ₹3,800 with ₹6,000 escrow protection, yielding instant 85% consumer savings while generating passive income for Radha Ethnic House.</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EFE7DD"/>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7A5F20"/>
                </a:solidFill>
                <a:latin typeface="Arial" pitchFamily="34" charset="0"/>
                <a:ea typeface="Arial" pitchFamily="34" charset="-122"/>
                <a:cs typeface="Arial" pitchFamily="34" charset="-120"/>
              </a:rPr>
              <a:t>SCENE 22 · ACT V</a:t>
            </a:r>
            <a:endParaRPr lang="en-US" sz="900" dirty="0"/>
          </a:p>
        </p:txBody>
      </p:sp>
      <p:sp>
        <p:nvSpPr>
          <p:cNvPr id="4" name="Text 2"/>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B6367"/>
                </a:solidFill>
                <a:latin typeface="Arial" pitchFamily="34" charset="0"/>
                <a:ea typeface="Arial" pitchFamily="34" charset="-122"/>
                <a:cs typeface="Arial" pitchFamily="34" charset="-120"/>
              </a:rPr>
              <a:t>POSHAKH · Luxury Ethnic Wear Rental &amp; Royal Couture Platform</a:t>
            </a:r>
            <a:endParaRPr lang="en-US" sz="900" dirty="0"/>
          </a:p>
        </p:txBody>
      </p:sp>
      <p:sp>
        <p:nvSpPr>
          <p:cNvPr id="5" name="Text 3"/>
          <p:cNvSpPr/>
          <p:nvPr/>
        </p:nvSpPr>
        <p:spPr>
          <a:xfrm>
            <a:off x="9601200" y="6446520"/>
            <a:ext cx="1828800" cy="274320"/>
          </a:xfrm>
          <a:prstGeom prst="rect">
            <a:avLst/>
          </a:prstGeom>
          <a:noFill/>
          <a:ln/>
        </p:spPr>
        <p:txBody>
          <a:bodyPr wrap="square" rtlCol="0" anchor="ctr"/>
          <a:lstStyle/>
          <a:p>
            <a:pPr algn="r" indent="0" marL="0">
              <a:buNone/>
            </a:pPr>
            <a:r>
              <a:rPr lang="en-US" sz="900" b="1" dirty="0">
                <a:solidFill>
                  <a:srgbClr val="7A5F20"/>
                </a:solidFill>
                <a:latin typeface="Arial" pitchFamily="34" charset="0"/>
                <a:ea typeface="Arial" pitchFamily="34" charset="-122"/>
                <a:cs typeface="Arial" pitchFamily="34" charset="-120"/>
              </a:rPr>
              <a:t>SCENE 22 OF 26</a:t>
            </a:r>
            <a:endParaRPr lang="en-US" sz="900" dirty="0"/>
          </a:p>
        </p:txBody>
      </p:sp>
      <p:sp>
        <p:nvSpPr>
          <p:cNvPr id="6" name="Shape 4"/>
          <p:cNvSpPr/>
          <p:nvPr/>
        </p:nvSpPr>
        <p:spPr>
          <a:xfrm>
            <a:off x="731520" y="6355080"/>
            <a:ext cx="10728655" cy="0"/>
          </a:xfrm>
          <a:prstGeom prst="line">
            <a:avLst/>
          </a:prstGeom>
          <a:noFill/>
          <a:ln w="9525">
            <a:solidFill>
              <a:srgbClr val="E2DACD"/>
            </a:solidFill>
            <a:prstDash val="solid"/>
          </a:ln>
        </p:spPr>
      </p:sp>
      <p:sp>
        <p:nvSpPr>
          <p:cNvPr id="7" name="Text 5"/>
          <p:cNvSpPr/>
          <p:nvPr/>
        </p:nvSpPr>
        <p:spPr>
          <a:xfrm>
            <a:off x="731520" y="777240"/>
            <a:ext cx="10698480" cy="228600"/>
          </a:xfrm>
          <a:prstGeom prst="rect">
            <a:avLst/>
          </a:prstGeom>
          <a:noFill/>
          <a:ln/>
        </p:spPr>
        <p:txBody>
          <a:bodyPr wrap="square" rtlCol="0" anchor="ctr"/>
          <a:lstStyle/>
          <a:p>
            <a:pPr indent="0" marL="0">
              <a:buNone/>
            </a:pPr>
            <a:r>
              <a:rPr lang="en-US" sz="1000" b="1" spc="200" kern="0" dirty="0">
                <a:solidFill>
                  <a:srgbClr val="7A5F20"/>
                </a:solidFill>
                <a:latin typeface="Arial" pitchFamily="34" charset="0"/>
                <a:ea typeface="Arial" pitchFamily="34" charset="-122"/>
                <a:cs typeface="Arial" pitchFamily="34" charset="-120"/>
              </a:rPr>
              <a:t>SCHEMA SPECIFICATION (PART 2)</a:t>
            </a:r>
            <a:endParaRPr lang="en-US" sz="1000" dirty="0"/>
          </a:p>
        </p:txBody>
      </p:sp>
      <p:sp>
        <p:nvSpPr>
          <p:cNvPr id="8" name="Text 6"/>
          <p:cNvSpPr/>
          <p:nvPr/>
        </p:nvSpPr>
        <p:spPr>
          <a:xfrm>
            <a:off x="731520" y="1005840"/>
            <a:ext cx="10698480" cy="502920"/>
          </a:xfrm>
          <a:prstGeom prst="rect">
            <a:avLst/>
          </a:prstGeom>
          <a:noFill/>
          <a:ln/>
        </p:spPr>
        <p:txBody>
          <a:bodyPr wrap="square" rtlCol="0" anchor="ctr"/>
          <a:lstStyle/>
          <a:p>
            <a:pPr indent="0" marL="0">
              <a:buNone/>
            </a:pPr>
            <a:r>
              <a:rPr lang="en-US" sz="2600" b="1" dirty="0">
                <a:solidFill>
                  <a:srgbClr val="1A1618"/>
                </a:solidFill>
                <a:latin typeface="Georgia" pitchFamily="34" charset="0"/>
                <a:ea typeface="Georgia" pitchFamily="34" charset="-122"/>
                <a:cs typeface="Georgia" pitchFamily="34" charset="-120"/>
              </a:rPr>
              <a:t>Data Dictionary: ORDERS, CHATS &amp; COMPLAINTS Entities</a:t>
            </a:r>
            <a:endParaRPr lang="en-US" sz="2600" dirty="0"/>
          </a:p>
        </p:txBody>
      </p:sp>
      <p:sp>
        <p:nvSpPr>
          <p:cNvPr id="9" name="Text 7"/>
          <p:cNvSpPr/>
          <p:nvPr/>
        </p:nvSpPr>
        <p:spPr>
          <a:xfrm>
            <a:off x="731520" y="1536192"/>
            <a:ext cx="10698480" cy="320040"/>
          </a:xfrm>
          <a:prstGeom prst="rect">
            <a:avLst/>
          </a:prstGeom>
          <a:noFill/>
          <a:ln/>
        </p:spPr>
        <p:txBody>
          <a:bodyPr wrap="square" rtlCol="0" anchor="ctr"/>
          <a:lstStyle/>
          <a:p>
            <a:pPr indent="0" marL="0">
              <a:buNone/>
            </a:pPr>
            <a:r>
              <a:rPr lang="en-US" sz="1300" dirty="0">
                <a:solidFill>
                  <a:srgbClr val="6B6367"/>
                </a:solidFill>
                <a:latin typeface="Arial" pitchFamily="34" charset="0"/>
                <a:ea typeface="Arial" pitchFamily="34" charset="-122"/>
                <a:cs typeface="Arial" pitchFamily="34" charset="-120"/>
              </a:rPr>
              <a:t>Transaction schemas, escrow status enums, foreign keys, and sample order record.</a:t>
            </a:r>
            <a:endParaRPr lang="en-US" sz="1300" dirty="0"/>
          </a:p>
        </p:txBody>
      </p:sp>
      <p:sp>
        <p:nvSpPr>
          <p:cNvPr id="10" name="Shape 8"/>
          <p:cNvSpPr/>
          <p:nvPr/>
        </p:nvSpPr>
        <p:spPr>
          <a:xfrm>
            <a:off x="731520" y="2011680"/>
            <a:ext cx="1280160" cy="320040"/>
          </a:xfrm>
          <a:prstGeom prst="rect">
            <a:avLst/>
          </a:prstGeom>
          <a:solidFill>
            <a:srgbClr val="2E2528"/>
          </a:solidFill>
          <a:ln/>
        </p:spPr>
      </p:sp>
      <p:sp>
        <p:nvSpPr>
          <p:cNvPr id="11" name="Text 9"/>
          <p:cNvSpPr/>
          <p:nvPr/>
        </p:nvSpPr>
        <p:spPr>
          <a:xfrm>
            <a:off x="731520" y="2011680"/>
            <a:ext cx="128016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FIELD</a:t>
            </a:r>
            <a:endParaRPr lang="en-US" sz="850" dirty="0"/>
          </a:p>
        </p:txBody>
      </p:sp>
      <p:sp>
        <p:nvSpPr>
          <p:cNvPr id="12" name="Shape 10"/>
          <p:cNvSpPr/>
          <p:nvPr/>
        </p:nvSpPr>
        <p:spPr>
          <a:xfrm>
            <a:off x="2011680" y="2011680"/>
            <a:ext cx="1005840" cy="320040"/>
          </a:xfrm>
          <a:prstGeom prst="rect">
            <a:avLst/>
          </a:prstGeom>
          <a:solidFill>
            <a:srgbClr val="2E2528"/>
          </a:solidFill>
          <a:ln/>
        </p:spPr>
      </p:sp>
      <p:sp>
        <p:nvSpPr>
          <p:cNvPr id="13" name="Text 11"/>
          <p:cNvSpPr/>
          <p:nvPr/>
        </p:nvSpPr>
        <p:spPr>
          <a:xfrm>
            <a:off x="2011680" y="2011680"/>
            <a:ext cx="100584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TYPE</a:t>
            </a:r>
            <a:endParaRPr lang="en-US" sz="850" dirty="0"/>
          </a:p>
        </p:txBody>
      </p:sp>
      <p:sp>
        <p:nvSpPr>
          <p:cNvPr id="14" name="Shape 12"/>
          <p:cNvSpPr/>
          <p:nvPr/>
        </p:nvSpPr>
        <p:spPr>
          <a:xfrm>
            <a:off x="3017520" y="2011680"/>
            <a:ext cx="731520" cy="320040"/>
          </a:xfrm>
          <a:prstGeom prst="rect">
            <a:avLst/>
          </a:prstGeom>
          <a:solidFill>
            <a:srgbClr val="2E2528"/>
          </a:solidFill>
          <a:ln/>
        </p:spPr>
      </p:sp>
      <p:sp>
        <p:nvSpPr>
          <p:cNvPr id="15" name="Text 13"/>
          <p:cNvSpPr/>
          <p:nvPr/>
        </p:nvSpPr>
        <p:spPr>
          <a:xfrm>
            <a:off x="3017520" y="2011680"/>
            <a:ext cx="73152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SIZE</a:t>
            </a:r>
            <a:endParaRPr lang="en-US" sz="850" dirty="0"/>
          </a:p>
        </p:txBody>
      </p:sp>
      <p:sp>
        <p:nvSpPr>
          <p:cNvPr id="16" name="Shape 14"/>
          <p:cNvSpPr/>
          <p:nvPr/>
        </p:nvSpPr>
        <p:spPr>
          <a:xfrm>
            <a:off x="3749040" y="2011680"/>
            <a:ext cx="640080" cy="320040"/>
          </a:xfrm>
          <a:prstGeom prst="rect">
            <a:avLst/>
          </a:prstGeom>
          <a:solidFill>
            <a:srgbClr val="2E2528"/>
          </a:solidFill>
          <a:ln/>
        </p:spPr>
      </p:sp>
      <p:sp>
        <p:nvSpPr>
          <p:cNvPr id="17" name="Text 15"/>
          <p:cNvSpPr/>
          <p:nvPr/>
        </p:nvSpPr>
        <p:spPr>
          <a:xfrm>
            <a:off x="3749040" y="2011680"/>
            <a:ext cx="64008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KEY</a:t>
            </a:r>
            <a:endParaRPr lang="en-US" sz="850" dirty="0"/>
          </a:p>
        </p:txBody>
      </p:sp>
      <p:sp>
        <p:nvSpPr>
          <p:cNvPr id="18" name="Shape 16"/>
          <p:cNvSpPr/>
          <p:nvPr/>
        </p:nvSpPr>
        <p:spPr>
          <a:xfrm>
            <a:off x="4389120" y="2011680"/>
            <a:ext cx="2468880" cy="320040"/>
          </a:xfrm>
          <a:prstGeom prst="rect">
            <a:avLst/>
          </a:prstGeom>
          <a:solidFill>
            <a:srgbClr val="2E2528"/>
          </a:solidFill>
          <a:ln/>
        </p:spPr>
      </p:sp>
      <p:sp>
        <p:nvSpPr>
          <p:cNvPr id="19" name="Text 17"/>
          <p:cNvSpPr/>
          <p:nvPr/>
        </p:nvSpPr>
        <p:spPr>
          <a:xfrm>
            <a:off x="4389120" y="2011680"/>
            <a:ext cx="246888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CONSTRAINT</a:t>
            </a:r>
            <a:endParaRPr lang="en-US" sz="850" dirty="0"/>
          </a:p>
        </p:txBody>
      </p:sp>
      <p:sp>
        <p:nvSpPr>
          <p:cNvPr id="20" name="Shape 18"/>
          <p:cNvSpPr/>
          <p:nvPr/>
        </p:nvSpPr>
        <p:spPr>
          <a:xfrm>
            <a:off x="6858000" y="2011680"/>
            <a:ext cx="2926080" cy="320040"/>
          </a:xfrm>
          <a:prstGeom prst="rect">
            <a:avLst/>
          </a:prstGeom>
          <a:solidFill>
            <a:srgbClr val="2E2528"/>
          </a:solidFill>
          <a:ln/>
        </p:spPr>
      </p:sp>
      <p:sp>
        <p:nvSpPr>
          <p:cNvPr id="21" name="Text 19"/>
          <p:cNvSpPr/>
          <p:nvPr/>
        </p:nvSpPr>
        <p:spPr>
          <a:xfrm>
            <a:off x="6858000" y="2011680"/>
            <a:ext cx="2926080"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DESCRIPTION</a:t>
            </a:r>
            <a:endParaRPr lang="en-US" sz="850" dirty="0"/>
          </a:p>
        </p:txBody>
      </p:sp>
      <p:sp>
        <p:nvSpPr>
          <p:cNvPr id="22" name="Shape 20"/>
          <p:cNvSpPr/>
          <p:nvPr/>
        </p:nvSpPr>
        <p:spPr>
          <a:xfrm>
            <a:off x="9784080" y="2011680"/>
            <a:ext cx="1676095" cy="320040"/>
          </a:xfrm>
          <a:prstGeom prst="rect">
            <a:avLst/>
          </a:prstGeom>
          <a:solidFill>
            <a:srgbClr val="2E2528"/>
          </a:solidFill>
          <a:ln/>
        </p:spPr>
      </p:sp>
      <p:sp>
        <p:nvSpPr>
          <p:cNvPr id="23" name="Text 21"/>
          <p:cNvSpPr/>
          <p:nvPr/>
        </p:nvSpPr>
        <p:spPr>
          <a:xfrm>
            <a:off x="9784080" y="2011680"/>
            <a:ext cx="1676095" cy="320040"/>
          </a:xfrm>
          <a:prstGeom prst="rect">
            <a:avLst/>
          </a:prstGeom>
          <a:noFill/>
          <a:ln/>
        </p:spPr>
        <p:txBody>
          <a:bodyPr wrap="square" rtlCol="0" anchor="ctr"/>
          <a:lstStyle/>
          <a:p>
            <a:pPr algn="ctr" indent="0" marL="0">
              <a:buNone/>
            </a:pPr>
            <a:r>
              <a:rPr lang="en-US" sz="850" b="1" dirty="0">
                <a:solidFill>
                  <a:srgbClr val="FAF7F2"/>
                </a:solidFill>
                <a:latin typeface="Arial" pitchFamily="34" charset="0"/>
                <a:ea typeface="Arial" pitchFamily="34" charset="-122"/>
                <a:cs typeface="Arial" pitchFamily="34" charset="-120"/>
              </a:rPr>
              <a:t>SAMPLE VALUE</a:t>
            </a:r>
            <a:endParaRPr lang="en-US" sz="850" dirty="0"/>
          </a:p>
        </p:txBody>
      </p:sp>
      <p:sp>
        <p:nvSpPr>
          <p:cNvPr id="24" name="Shape 22"/>
          <p:cNvSpPr/>
          <p:nvPr/>
        </p:nvSpPr>
        <p:spPr>
          <a:xfrm>
            <a:off x="731520" y="2331720"/>
            <a:ext cx="1280160" cy="365760"/>
          </a:xfrm>
          <a:prstGeom prst="rect">
            <a:avLst/>
          </a:prstGeom>
          <a:solidFill>
            <a:srgbClr val="FFFFFF"/>
          </a:solidFill>
          <a:ln w="6350">
            <a:solidFill>
              <a:srgbClr val="E2DACD"/>
            </a:solidFill>
            <a:prstDash val="solid"/>
          </a:ln>
        </p:spPr>
      </p:sp>
      <p:sp>
        <p:nvSpPr>
          <p:cNvPr id="25" name="Text 23"/>
          <p:cNvSpPr/>
          <p:nvPr/>
        </p:nvSpPr>
        <p:spPr>
          <a:xfrm>
            <a:off x="777240" y="233172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orderId</a:t>
            </a:r>
            <a:endParaRPr lang="en-US" sz="800" dirty="0"/>
          </a:p>
        </p:txBody>
      </p:sp>
      <p:sp>
        <p:nvSpPr>
          <p:cNvPr id="26" name="Shape 24"/>
          <p:cNvSpPr/>
          <p:nvPr/>
        </p:nvSpPr>
        <p:spPr>
          <a:xfrm>
            <a:off x="2011680" y="2331720"/>
            <a:ext cx="1005840" cy="365760"/>
          </a:xfrm>
          <a:prstGeom prst="rect">
            <a:avLst/>
          </a:prstGeom>
          <a:solidFill>
            <a:srgbClr val="FFFFFF"/>
          </a:solidFill>
          <a:ln w="6350">
            <a:solidFill>
              <a:srgbClr val="E2DACD"/>
            </a:solidFill>
            <a:prstDash val="solid"/>
          </a:ln>
        </p:spPr>
      </p:sp>
      <p:sp>
        <p:nvSpPr>
          <p:cNvPr id="27" name="Text 25"/>
          <p:cNvSpPr/>
          <p:nvPr/>
        </p:nvSpPr>
        <p:spPr>
          <a:xfrm>
            <a:off x="2057400" y="233172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VARCHAR</a:t>
            </a:r>
            <a:endParaRPr lang="en-US" sz="800" dirty="0"/>
          </a:p>
        </p:txBody>
      </p:sp>
      <p:sp>
        <p:nvSpPr>
          <p:cNvPr id="28" name="Shape 26"/>
          <p:cNvSpPr/>
          <p:nvPr/>
        </p:nvSpPr>
        <p:spPr>
          <a:xfrm>
            <a:off x="3017520" y="2331720"/>
            <a:ext cx="731520" cy="365760"/>
          </a:xfrm>
          <a:prstGeom prst="rect">
            <a:avLst/>
          </a:prstGeom>
          <a:solidFill>
            <a:srgbClr val="FFFFFF"/>
          </a:solidFill>
          <a:ln w="6350">
            <a:solidFill>
              <a:srgbClr val="E2DACD"/>
            </a:solidFill>
            <a:prstDash val="solid"/>
          </a:ln>
        </p:spPr>
      </p:sp>
      <p:sp>
        <p:nvSpPr>
          <p:cNvPr id="29" name="Text 27"/>
          <p:cNvSpPr/>
          <p:nvPr/>
        </p:nvSpPr>
        <p:spPr>
          <a:xfrm>
            <a:off x="3063240" y="233172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36</a:t>
            </a:r>
            <a:endParaRPr lang="en-US" sz="800" dirty="0"/>
          </a:p>
        </p:txBody>
      </p:sp>
      <p:sp>
        <p:nvSpPr>
          <p:cNvPr id="30" name="Shape 28"/>
          <p:cNvSpPr/>
          <p:nvPr/>
        </p:nvSpPr>
        <p:spPr>
          <a:xfrm>
            <a:off x="3749040" y="2331720"/>
            <a:ext cx="640080" cy="365760"/>
          </a:xfrm>
          <a:prstGeom prst="rect">
            <a:avLst/>
          </a:prstGeom>
          <a:solidFill>
            <a:srgbClr val="FFFFFF"/>
          </a:solidFill>
          <a:ln w="6350">
            <a:solidFill>
              <a:srgbClr val="E2DACD"/>
            </a:solidFill>
            <a:prstDash val="solid"/>
          </a:ln>
        </p:spPr>
      </p:sp>
      <p:sp>
        <p:nvSpPr>
          <p:cNvPr id="31" name="Text 29"/>
          <p:cNvSpPr/>
          <p:nvPr/>
        </p:nvSpPr>
        <p:spPr>
          <a:xfrm>
            <a:off x="3794760" y="233172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PK</a:t>
            </a:r>
            <a:endParaRPr lang="en-US" sz="800" dirty="0"/>
          </a:p>
        </p:txBody>
      </p:sp>
      <p:sp>
        <p:nvSpPr>
          <p:cNvPr id="32" name="Shape 30"/>
          <p:cNvSpPr/>
          <p:nvPr/>
        </p:nvSpPr>
        <p:spPr>
          <a:xfrm>
            <a:off x="4389120" y="2331720"/>
            <a:ext cx="2468880" cy="365760"/>
          </a:xfrm>
          <a:prstGeom prst="rect">
            <a:avLst/>
          </a:prstGeom>
          <a:solidFill>
            <a:srgbClr val="FFFFFF"/>
          </a:solidFill>
          <a:ln w="6350">
            <a:solidFill>
              <a:srgbClr val="E2DACD"/>
            </a:solidFill>
            <a:prstDash val="solid"/>
          </a:ln>
        </p:spPr>
      </p:sp>
      <p:sp>
        <p:nvSpPr>
          <p:cNvPr id="33" name="Text 31"/>
          <p:cNvSpPr/>
          <p:nvPr/>
        </p:nvSpPr>
        <p:spPr>
          <a:xfrm>
            <a:off x="4434840" y="233172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NOT NULL, UNIQUE</a:t>
            </a:r>
            <a:endParaRPr lang="en-US" sz="800" dirty="0"/>
          </a:p>
        </p:txBody>
      </p:sp>
      <p:sp>
        <p:nvSpPr>
          <p:cNvPr id="34" name="Shape 32"/>
          <p:cNvSpPr/>
          <p:nvPr/>
        </p:nvSpPr>
        <p:spPr>
          <a:xfrm>
            <a:off x="6858000" y="2331720"/>
            <a:ext cx="2926080" cy="365760"/>
          </a:xfrm>
          <a:prstGeom prst="rect">
            <a:avLst/>
          </a:prstGeom>
          <a:solidFill>
            <a:srgbClr val="FFFFFF"/>
          </a:solidFill>
          <a:ln w="6350">
            <a:solidFill>
              <a:srgbClr val="E2DACD"/>
            </a:solidFill>
            <a:prstDash val="solid"/>
          </a:ln>
        </p:spPr>
      </p:sp>
      <p:sp>
        <p:nvSpPr>
          <p:cNvPr id="35" name="Text 33"/>
          <p:cNvSpPr/>
          <p:nvPr/>
        </p:nvSpPr>
        <p:spPr>
          <a:xfrm>
            <a:off x="6903720" y="233172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Unique transaction identifier</a:t>
            </a:r>
            <a:endParaRPr lang="en-US" sz="800" dirty="0"/>
          </a:p>
        </p:txBody>
      </p:sp>
      <p:sp>
        <p:nvSpPr>
          <p:cNvPr id="36" name="Shape 34"/>
          <p:cNvSpPr/>
          <p:nvPr/>
        </p:nvSpPr>
        <p:spPr>
          <a:xfrm>
            <a:off x="9784080" y="2331720"/>
            <a:ext cx="1676095" cy="365760"/>
          </a:xfrm>
          <a:prstGeom prst="rect">
            <a:avLst/>
          </a:prstGeom>
          <a:solidFill>
            <a:srgbClr val="FFFFFF"/>
          </a:solidFill>
          <a:ln w="6350">
            <a:solidFill>
              <a:srgbClr val="E2DACD"/>
            </a:solidFill>
            <a:prstDash val="solid"/>
          </a:ln>
        </p:spPr>
      </p:sp>
      <p:sp>
        <p:nvSpPr>
          <p:cNvPr id="37" name="Text 35"/>
          <p:cNvSpPr/>
          <p:nvPr/>
        </p:nvSpPr>
        <p:spPr>
          <a:xfrm>
            <a:off x="9829800" y="233172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'ORD-2026-9812'</a:t>
            </a:r>
            <a:endParaRPr lang="en-US" sz="800" dirty="0"/>
          </a:p>
        </p:txBody>
      </p:sp>
      <p:sp>
        <p:nvSpPr>
          <p:cNvPr id="38" name="Shape 36"/>
          <p:cNvSpPr/>
          <p:nvPr/>
        </p:nvSpPr>
        <p:spPr>
          <a:xfrm>
            <a:off x="731520" y="2697480"/>
            <a:ext cx="1280160" cy="365760"/>
          </a:xfrm>
          <a:prstGeom prst="rect">
            <a:avLst/>
          </a:prstGeom>
          <a:solidFill>
            <a:srgbClr val="F6F1E9"/>
          </a:solidFill>
          <a:ln w="6350">
            <a:solidFill>
              <a:srgbClr val="E2DACD"/>
            </a:solidFill>
            <a:prstDash val="solid"/>
          </a:ln>
        </p:spPr>
      </p:sp>
      <p:sp>
        <p:nvSpPr>
          <p:cNvPr id="39" name="Text 37"/>
          <p:cNvSpPr/>
          <p:nvPr/>
        </p:nvSpPr>
        <p:spPr>
          <a:xfrm>
            <a:off x="777240" y="269748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dressId</a:t>
            </a:r>
            <a:endParaRPr lang="en-US" sz="800" dirty="0"/>
          </a:p>
        </p:txBody>
      </p:sp>
      <p:sp>
        <p:nvSpPr>
          <p:cNvPr id="40" name="Shape 38"/>
          <p:cNvSpPr/>
          <p:nvPr/>
        </p:nvSpPr>
        <p:spPr>
          <a:xfrm>
            <a:off x="2011680" y="2697480"/>
            <a:ext cx="1005840" cy="365760"/>
          </a:xfrm>
          <a:prstGeom prst="rect">
            <a:avLst/>
          </a:prstGeom>
          <a:solidFill>
            <a:srgbClr val="F6F1E9"/>
          </a:solidFill>
          <a:ln w="6350">
            <a:solidFill>
              <a:srgbClr val="E2DACD"/>
            </a:solidFill>
            <a:prstDash val="solid"/>
          </a:ln>
        </p:spPr>
      </p:sp>
      <p:sp>
        <p:nvSpPr>
          <p:cNvPr id="41" name="Text 39"/>
          <p:cNvSpPr/>
          <p:nvPr/>
        </p:nvSpPr>
        <p:spPr>
          <a:xfrm>
            <a:off x="2057400" y="269748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VARCHAR</a:t>
            </a:r>
            <a:endParaRPr lang="en-US" sz="800" dirty="0"/>
          </a:p>
        </p:txBody>
      </p:sp>
      <p:sp>
        <p:nvSpPr>
          <p:cNvPr id="42" name="Shape 40"/>
          <p:cNvSpPr/>
          <p:nvPr/>
        </p:nvSpPr>
        <p:spPr>
          <a:xfrm>
            <a:off x="3017520" y="2697480"/>
            <a:ext cx="731520" cy="365760"/>
          </a:xfrm>
          <a:prstGeom prst="rect">
            <a:avLst/>
          </a:prstGeom>
          <a:solidFill>
            <a:srgbClr val="F6F1E9"/>
          </a:solidFill>
          <a:ln w="6350">
            <a:solidFill>
              <a:srgbClr val="E2DACD"/>
            </a:solidFill>
            <a:prstDash val="solid"/>
          </a:ln>
        </p:spPr>
      </p:sp>
      <p:sp>
        <p:nvSpPr>
          <p:cNvPr id="43" name="Text 41"/>
          <p:cNvSpPr/>
          <p:nvPr/>
        </p:nvSpPr>
        <p:spPr>
          <a:xfrm>
            <a:off x="3063240" y="269748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36</a:t>
            </a:r>
            <a:endParaRPr lang="en-US" sz="800" dirty="0"/>
          </a:p>
        </p:txBody>
      </p:sp>
      <p:sp>
        <p:nvSpPr>
          <p:cNvPr id="44" name="Shape 42"/>
          <p:cNvSpPr/>
          <p:nvPr/>
        </p:nvSpPr>
        <p:spPr>
          <a:xfrm>
            <a:off x="3749040" y="2697480"/>
            <a:ext cx="640080" cy="365760"/>
          </a:xfrm>
          <a:prstGeom prst="rect">
            <a:avLst/>
          </a:prstGeom>
          <a:solidFill>
            <a:srgbClr val="F6F1E9"/>
          </a:solidFill>
          <a:ln w="6350">
            <a:solidFill>
              <a:srgbClr val="E2DACD"/>
            </a:solidFill>
            <a:prstDash val="solid"/>
          </a:ln>
        </p:spPr>
      </p:sp>
      <p:sp>
        <p:nvSpPr>
          <p:cNvPr id="45" name="Text 43"/>
          <p:cNvSpPr/>
          <p:nvPr/>
        </p:nvSpPr>
        <p:spPr>
          <a:xfrm>
            <a:off x="3794760" y="269748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FK</a:t>
            </a:r>
            <a:endParaRPr lang="en-US" sz="800" dirty="0"/>
          </a:p>
        </p:txBody>
      </p:sp>
      <p:sp>
        <p:nvSpPr>
          <p:cNvPr id="46" name="Shape 44"/>
          <p:cNvSpPr/>
          <p:nvPr/>
        </p:nvSpPr>
        <p:spPr>
          <a:xfrm>
            <a:off x="4389120" y="2697480"/>
            <a:ext cx="2468880" cy="365760"/>
          </a:xfrm>
          <a:prstGeom prst="rect">
            <a:avLst/>
          </a:prstGeom>
          <a:solidFill>
            <a:srgbClr val="F6F1E9"/>
          </a:solidFill>
          <a:ln w="6350">
            <a:solidFill>
              <a:srgbClr val="E2DACD"/>
            </a:solidFill>
            <a:prstDash val="solid"/>
          </a:ln>
        </p:spPr>
      </p:sp>
      <p:sp>
        <p:nvSpPr>
          <p:cNvPr id="47" name="Text 45"/>
          <p:cNvSpPr/>
          <p:nvPr/>
        </p:nvSpPr>
        <p:spPr>
          <a:xfrm>
            <a:off x="4434840" y="269748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REFERENCES DRESSES(id)</a:t>
            </a:r>
            <a:endParaRPr lang="en-US" sz="800" dirty="0"/>
          </a:p>
        </p:txBody>
      </p:sp>
      <p:sp>
        <p:nvSpPr>
          <p:cNvPr id="48" name="Shape 46"/>
          <p:cNvSpPr/>
          <p:nvPr/>
        </p:nvSpPr>
        <p:spPr>
          <a:xfrm>
            <a:off x="6858000" y="2697480"/>
            <a:ext cx="2926080" cy="365760"/>
          </a:xfrm>
          <a:prstGeom prst="rect">
            <a:avLst/>
          </a:prstGeom>
          <a:solidFill>
            <a:srgbClr val="F6F1E9"/>
          </a:solidFill>
          <a:ln w="6350">
            <a:solidFill>
              <a:srgbClr val="E2DACD"/>
            </a:solidFill>
            <a:prstDash val="solid"/>
          </a:ln>
        </p:spPr>
      </p:sp>
      <p:sp>
        <p:nvSpPr>
          <p:cNvPr id="49" name="Text 47"/>
          <p:cNvSpPr/>
          <p:nvPr/>
        </p:nvSpPr>
        <p:spPr>
          <a:xfrm>
            <a:off x="6903720" y="269748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Rented garment reference</a:t>
            </a:r>
            <a:endParaRPr lang="en-US" sz="800" dirty="0"/>
          </a:p>
        </p:txBody>
      </p:sp>
      <p:sp>
        <p:nvSpPr>
          <p:cNvPr id="50" name="Shape 48"/>
          <p:cNvSpPr/>
          <p:nvPr/>
        </p:nvSpPr>
        <p:spPr>
          <a:xfrm>
            <a:off x="9784080" y="2697480"/>
            <a:ext cx="1676095" cy="365760"/>
          </a:xfrm>
          <a:prstGeom prst="rect">
            <a:avLst/>
          </a:prstGeom>
          <a:solidFill>
            <a:srgbClr val="F6F1E9"/>
          </a:solidFill>
          <a:ln w="6350">
            <a:solidFill>
              <a:srgbClr val="E2DACD"/>
            </a:solidFill>
            <a:prstDash val="solid"/>
          </a:ln>
        </p:spPr>
      </p:sp>
      <p:sp>
        <p:nvSpPr>
          <p:cNvPr id="51" name="Text 49"/>
          <p:cNvSpPr/>
          <p:nvPr/>
        </p:nvSpPr>
        <p:spPr>
          <a:xfrm>
            <a:off x="9829800" y="269748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'd1'</a:t>
            </a:r>
            <a:endParaRPr lang="en-US" sz="800" dirty="0"/>
          </a:p>
        </p:txBody>
      </p:sp>
      <p:sp>
        <p:nvSpPr>
          <p:cNvPr id="52" name="Shape 50"/>
          <p:cNvSpPr/>
          <p:nvPr/>
        </p:nvSpPr>
        <p:spPr>
          <a:xfrm>
            <a:off x="731520" y="3063240"/>
            <a:ext cx="1280160" cy="365760"/>
          </a:xfrm>
          <a:prstGeom prst="rect">
            <a:avLst/>
          </a:prstGeom>
          <a:solidFill>
            <a:srgbClr val="FFFFFF"/>
          </a:solidFill>
          <a:ln w="6350">
            <a:solidFill>
              <a:srgbClr val="E2DACD"/>
            </a:solidFill>
            <a:prstDash val="solid"/>
          </a:ln>
        </p:spPr>
      </p:sp>
      <p:sp>
        <p:nvSpPr>
          <p:cNvPr id="53" name="Text 51"/>
          <p:cNvSpPr/>
          <p:nvPr/>
        </p:nvSpPr>
        <p:spPr>
          <a:xfrm>
            <a:off x="777240" y="306324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renterId</a:t>
            </a:r>
            <a:endParaRPr lang="en-US" sz="800" dirty="0"/>
          </a:p>
        </p:txBody>
      </p:sp>
      <p:sp>
        <p:nvSpPr>
          <p:cNvPr id="54" name="Shape 52"/>
          <p:cNvSpPr/>
          <p:nvPr/>
        </p:nvSpPr>
        <p:spPr>
          <a:xfrm>
            <a:off x="2011680" y="3063240"/>
            <a:ext cx="1005840" cy="365760"/>
          </a:xfrm>
          <a:prstGeom prst="rect">
            <a:avLst/>
          </a:prstGeom>
          <a:solidFill>
            <a:srgbClr val="FFFFFF"/>
          </a:solidFill>
          <a:ln w="6350">
            <a:solidFill>
              <a:srgbClr val="E2DACD"/>
            </a:solidFill>
            <a:prstDash val="solid"/>
          </a:ln>
        </p:spPr>
      </p:sp>
      <p:sp>
        <p:nvSpPr>
          <p:cNvPr id="55" name="Text 53"/>
          <p:cNvSpPr/>
          <p:nvPr/>
        </p:nvSpPr>
        <p:spPr>
          <a:xfrm>
            <a:off x="2057400" y="306324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VARCHAR</a:t>
            </a:r>
            <a:endParaRPr lang="en-US" sz="800" dirty="0"/>
          </a:p>
        </p:txBody>
      </p:sp>
      <p:sp>
        <p:nvSpPr>
          <p:cNvPr id="56" name="Shape 54"/>
          <p:cNvSpPr/>
          <p:nvPr/>
        </p:nvSpPr>
        <p:spPr>
          <a:xfrm>
            <a:off x="3017520" y="3063240"/>
            <a:ext cx="731520" cy="365760"/>
          </a:xfrm>
          <a:prstGeom prst="rect">
            <a:avLst/>
          </a:prstGeom>
          <a:solidFill>
            <a:srgbClr val="FFFFFF"/>
          </a:solidFill>
          <a:ln w="6350">
            <a:solidFill>
              <a:srgbClr val="E2DACD"/>
            </a:solidFill>
            <a:prstDash val="solid"/>
          </a:ln>
        </p:spPr>
      </p:sp>
      <p:sp>
        <p:nvSpPr>
          <p:cNvPr id="57" name="Text 55"/>
          <p:cNvSpPr/>
          <p:nvPr/>
        </p:nvSpPr>
        <p:spPr>
          <a:xfrm>
            <a:off x="3063240" y="306324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36</a:t>
            </a:r>
            <a:endParaRPr lang="en-US" sz="800" dirty="0"/>
          </a:p>
        </p:txBody>
      </p:sp>
      <p:sp>
        <p:nvSpPr>
          <p:cNvPr id="58" name="Shape 56"/>
          <p:cNvSpPr/>
          <p:nvPr/>
        </p:nvSpPr>
        <p:spPr>
          <a:xfrm>
            <a:off x="3749040" y="3063240"/>
            <a:ext cx="640080" cy="365760"/>
          </a:xfrm>
          <a:prstGeom prst="rect">
            <a:avLst/>
          </a:prstGeom>
          <a:solidFill>
            <a:srgbClr val="FFFFFF"/>
          </a:solidFill>
          <a:ln w="6350">
            <a:solidFill>
              <a:srgbClr val="E2DACD"/>
            </a:solidFill>
            <a:prstDash val="solid"/>
          </a:ln>
        </p:spPr>
      </p:sp>
      <p:sp>
        <p:nvSpPr>
          <p:cNvPr id="59" name="Text 57"/>
          <p:cNvSpPr/>
          <p:nvPr/>
        </p:nvSpPr>
        <p:spPr>
          <a:xfrm>
            <a:off x="3794760" y="306324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FK</a:t>
            </a:r>
            <a:endParaRPr lang="en-US" sz="800" dirty="0"/>
          </a:p>
        </p:txBody>
      </p:sp>
      <p:sp>
        <p:nvSpPr>
          <p:cNvPr id="60" name="Shape 58"/>
          <p:cNvSpPr/>
          <p:nvPr/>
        </p:nvSpPr>
        <p:spPr>
          <a:xfrm>
            <a:off x="4389120" y="3063240"/>
            <a:ext cx="2468880" cy="365760"/>
          </a:xfrm>
          <a:prstGeom prst="rect">
            <a:avLst/>
          </a:prstGeom>
          <a:solidFill>
            <a:srgbClr val="FFFFFF"/>
          </a:solidFill>
          <a:ln w="6350">
            <a:solidFill>
              <a:srgbClr val="E2DACD"/>
            </a:solidFill>
            <a:prstDash val="solid"/>
          </a:ln>
        </p:spPr>
      </p:sp>
      <p:sp>
        <p:nvSpPr>
          <p:cNvPr id="61" name="Text 59"/>
          <p:cNvSpPr/>
          <p:nvPr/>
        </p:nvSpPr>
        <p:spPr>
          <a:xfrm>
            <a:off x="4434840" y="306324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REFERENCES USERS(id)</a:t>
            </a:r>
            <a:endParaRPr lang="en-US" sz="800" dirty="0"/>
          </a:p>
        </p:txBody>
      </p:sp>
      <p:sp>
        <p:nvSpPr>
          <p:cNvPr id="62" name="Shape 60"/>
          <p:cNvSpPr/>
          <p:nvPr/>
        </p:nvSpPr>
        <p:spPr>
          <a:xfrm>
            <a:off x="6858000" y="3063240"/>
            <a:ext cx="2926080" cy="365760"/>
          </a:xfrm>
          <a:prstGeom prst="rect">
            <a:avLst/>
          </a:prstGeom>
          <a:solidFill>
            <a:srgbClr val="FFFFFF"/>
          </a:solidFill>
          <a:ln w="6350">
            <a:solidFill>
              <a:srgbClr val="E2DACD"/>
            </a:solidFill>
            <a:prstDash val="solid"/>
          </a:ln>
        </p:spPr>
      </p:sp>
      <p:sp>
        <p:nvSpPr>
          <p:cNvPr id="63" name="Text 61"/>
          <p:cNvSpPr/>
          <p:nvPr/>
        </p:nvSpPr>
        <p:spPr>
          <a:xfrm>
            <a:off x="6903720" y="306324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Customer placing the rental</a:t>
            </a:r>
            <a:endParaRPr lang="en-US" sz="800" dirty="0"/>
          </a:p>
        </p:txBody>
      </p:sp>
      <p:sp>
        <p:nvSpPr>
          <p:cNvPr id="64" name="Shape 62"/>
          <p:cNvSpPr/>
          <p:nvPr/>
        </p:nvSpPr>
        <p:spPr>
          <a:xfrm>
            <a:off x="9784080" y="3063240"/>
            <a:ext cx="1676095" cy="365760"/>
          </a:xfrm>
          <a:prstGeom prst="rect">
            <a:avLst/>
          </a:prstGeom>
          <a:solidFill>
            <a:srgbClr val="FFFFFF"/>
          </a:solidFill>
          <a:ln w="6350">
            <a:solidFill>
              <a:srgbClr val="E2DACD"/>
            </a:solidFill>
            <a:prstDash val="solid"/>
          </a:ln>
        </p:spPr>
      </p:sp>
      <p:sp>
        <p:nvSpPr>
          <p:cNvPr id="65" name="Text 63"/>
          <p:cNvSpPr/>
          <p:nvPr/>
        </p:nvSpPr>
        <p:spPr>
          <a:xfrm>
            <a:off x="9829800" y="306324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'renter_vivek'</a:t>
            </a:r>
            <a:endParaRPr lang="en-US" sz="800" dirty="0"/>
          </a:p>
        </p:txBody>
      </p:sp>
      <p:sp>
        <p:nvSpPr>
          <p:cNvPr id="66" name="Shape 64"/>
          <p:cNvSpPr/>
          <p:nvPr/>
        </p:nvSpPr>
        <p:spPr>
          <a:xfrm>
            <a:off x="731520" y="3429000"/>
            <a:ext cx="1280160" cy="365760"/>
          </a:xfrm>
          <a:prstGeom prst="rect">
            <a:avLst/>
          </a:prstGeom>
          <a:solidFill>
            <a:srgbClr val="F6F1E9"/>
          </a:solidFill>
          <a:ln w="6350">
            <a:solidFill>
              <a:srgbClr val="E2DACD"/>
            </a:solidFill>
            <a:prstDash val="solid"/>
          </a:ln>
        </p:spPr>
      </p:sp>
      <p:sp>
        <p:nvSpPr>
          <p:cNvPr id="67" name="Text 65"/>
          <p:cNvSpPr/>
          <p:nvPr/>
        </p:nvSpPr>
        <p:spPr>
          <a:xfrm>
            <a:off x="777240" y="342900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rentalDays</a:t>
            </a:r>
            <a:endParaRPr lang="en-US" sz="800" dirty="0"/>
          </a:p>
        </p:txBody>
      </p:sp>
      <p:sp>
        <p:nvSpPr>
          <p:cNvPr id="68" name="Shape 66"/>
          <p:cNvSpPr/>
          <p:nvPr/>
        </p:nvSpPr>
        <p:spPr>
          <a:xfrm>
            <a:off x="2011680" y="3429000"/>
            <a:ext cx="1005840" cy="365760"/>
          </a:xfrm>
          <a:prstGeom prst="rect">
            <a:avLst/>
          </a:prstGeom>
          <a:solidFill>
            <a:srgbClr val="F6F1E9"/>
          </a:solidFill>
          <a:ln w="6350">
            <a:solidFill>
              <a:srgbClr val="E2DACD"/>
            </a:solidFill>
            <a:prstDash val="solid"/>
          </a:ln>
        </p:spPr>
      </p:sp>
      <p:sp>
        <p:nvSpPr>
          <p:cNvPr id="69" name="Text 67"/>
          <p:cNvSpPr/>
          <p:nvPr/>
        </p:nvSpPr>
        <p:spPr>
          <a:xfrm>
            <a:off x="2057400" y="342900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INT</a:t>
            </a:r>
            <a:endParaRPr lang="en-US" sz="800" dirty="0"/>
          </a:p>
        </p:txBody>
      </p:sp>
      <p:sp>
        <p:nvSpPr>
          <p:cNvPr id="70" name="Shape 68"/>
          <p:cNvSpPr/>
          <p:nvPr/>
        </p:nvSpPr>
        <p:spPr>
          <a:xfrm>
            <a:off x="3017520" y="3429000"/>
            <a:ext cx="731520" cy="365760"/>
          </a:xfrm>
          <a:prstGeom prst="rect">
            <a:avLst/>
          </a:prstGeom>
          <a:solidFill>
            <a:srgbClr val="F6F1E9"/>
          </a:solidFill>
          <a:ln w="6350">
            <a:solidFill>
              <a:srgbClr val="E2DACD"/>
            </a:solidFill>
            <a:prstDash val="solid"/>
          </a:ln>
        </p:spPr>
      </p:sp>
      <p:sp>
        <p:nvSpPr>
          <p:cNvPr id="71" name="Text 69"/>
          <p:cNvSpPr/>
          <p:nvPr/>
        </p:nvSpPr>
        <p:spPr>
          <a:xfrm>
            <a:off x="3063240" y="342900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2</a:t>
            </a:r>
            <a:endParaRPr lang="en-US" sz="800" dirty="0"/>
          </a:p>
        </p:txBody>
      </p:sp>
      <p:sp>
        <p:nvSpPr>
          <p:cNvPr id="72" name="Shape 70"/>
          <p:cNvSpPr/>
          <p:nvPr/>
        </p:nvSpPr>
        <p:spPr>
          <a:xfrm>
            <a:off x="3749040" y="3429000"/>
            <a:ext cx="640080" cy="365760"/>
          </a:xfrm>
          <a:prstGeom prst="rect">
            <a:avLst/>
          </a:prstGeom>
          <a:solidFill>
            <a:srgbClr val="F6F1E9"/>
          </a:solidFill>
          <a:ln w="6350">
            <a:solidFill>
              <a:srgbClr val="E2DACD"/>
            </a:solidFill>
            <a:prstDash val="solid"/>
          </a:ln>
        </p:spPr>
      </p:sp>
      <p:sp>
        <p:nvSpPr>
          <p:cNvPr id="73" name="Text 71"/>
          <p:cNvSpPr/>
          <p:nvPr/>
        </p:nvSpPr>
        <p:spPr>
          <a:xfrm>
            <a:off x="3794760" y="342900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74" name="Shape 72"/>
          <p:cNvSpPr/>
          <p:nvPr/>
        </p:nvSpPr>
        <p:spPr>
          <a:xfrm>
            <a:off x="4389120" y="3429000"/>
            <a:ext cx="2468880" cy="365760"/>
          </a:xfrm>
          <a:prstGeom prst="rect">
            <a:avLst/>
          </a:prstGeom>
          <a:solidFill>
            <a:srgbClr val="F6F1E9"/>
          </a:solidFill>
          <a:ln w="6350">
            <a:solidFill>
              <a:srgbClr val="E2DACD"/>
            </a:solidFill>
            <a:prstDash val="solid"/>
          </a:ln>
        </p:spPr>
      </p:sp>
      <p:sp>
        <p:nvSpPr>
          <p:cNvPr id="75" name="Text 73"/>
          <p:cNvSpPr/>
          <p:nvPr/>
        </p:nvSpPr>
        <p:spPr>
          <a:xfrm>
            <a:off x="4434840" y="342900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CHECK (rentalDays IN (3,5,7))</a:t>
            </a:r>
            <a:endParaRPr lang="en-US" sz="800" dirty="0"/>
          </a:p>
        </p:txBody>
      </p:sp>
      <p:sp>
        <p:nvSpPr>
          <p:cNvPr id="76" name="Shape 74"/>
          <p:cNvSpPr/>
          <p:nvPr/>
        </p:nvSpPr>
        <p:spPr>
          <a:xfrm>
            <a:off x="6858000" y="3429000"/>
            <a:ext cx="2926080" cy="365760"/>
          </a:xfrm>
          <a:prstGeom prst="rect">
            <a:avLst/>
          </a:prstGeom>
          <a:solidFill>
            <a:srgbClr val="F6F1E9"/>
          </a:solidFill>
          <a:ln w="6350">
            <a:solidFill>
              <a:srgbClr val="E2DACD"/>
            </a:solidFill>
            <a:prstDash val="solid"/>
          </a:ln>
        </p:spPr>
      </p:sp>
      <p:sp>
        <p:nvSpPr>
          <p:cNvPr id="77" name="Text 75"/>
          <p:cNvSpPr/>
          <p:nvPr/>
        </p:nvSpPr>
        <p:spPr>
          <a:xfrm>
            <a:off x="6903720" y="342900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Duration of rental lease</a:t>
            </a:r>
            <a:endParaRPr lang="en-US" sz="800" dirty="0"/>
          </a:p>
        </p:txBody>
      </p:sp>
      <p:sp>
        <p:nvSpPr>
          <p:cNvPr id="78" name="Shape 76"/>
          <p:cNvSpPr/>
          <p:nvPr/>
        </p:nvSpPr>
        <p:spPr>
          <a:xfrm>
            <a:off x="9784080" y="3429000"/>
            <a:ext cx="1676095" cy="365760"/>
          </a:xfrm>
          <a:prstGeom prst="rect">
            <a:avLst/>
          </a:prstGeom>
          <a:solidFill>
            <a:srgbClr val="F6F1E9"/>
          </a:solidFill>
          <a:ln w="6350">
            <a:solidFill>
              <a:srgbClr val="E2DACD"/>
            </a:solidFill>
            <a:prstDash val="solid"/>
          </a:ln>
        </p:spPr>
      </p:sp>
      <p:sp>
        <p:nvSpPr>
          <p:cNvPr id="79" name="Text 77"/>
          <p:cNvSpPr/>
          <p:nvPr/>
        </p:nvSpPr>
        <p:spPr>
          <a:xfrm>
            <a:off x="9829800" y="342900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3</a:t>
            </a:r>
            <a:endParaRPr lang="en-US" sz="800" dirty="0"/>
          </a:p>
        </p:txBody>
      </p:sp>
      <p:sp>
        <p:nvSpPr>
          <p:cNvPr id="80" name="Shape 78"/>
          <p:cNvSpPr/>
          <p:nvPr/>
        </p:nvSpPr>
        <p:spPr>
          <a:xfrm>
            <a:off x="731520" y="3794760"/>
            <a:ext cx="1280160" cy="365760"/>
          </a:xfrm>
          <a:prstGeom prst="rect">
            <a:avLst/>
          </a:prstGeom>
          <a:solidFill>
            <a:srgbClr val="FFFFFF"/>
          </a:solidFill>
          <a:ln w="6350">
            <a:solidFill>
              <a:srgbClr val="E2DACD"/>
            </a:solidFill>
            <a:prstDash val="solid"/>
          </a:ln>
        </p:spPr>
      </p:sp>
      <p:sp>
        <p:nvSpPr>
          <p:cNvPr id="81" name="Text 79"/>
          <p:cNvSpPr/>
          <p:nvPr/>
        </p:nvSpPr>
        <p:spPr>
          <a:xfrm>
            <a:off x="777240" y="379476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totalAmount</a:t>
            </a:r>
            <a:endParaRPr lang="en-US" sz="800" dirty="0"/>
          </a:p>
        </p:txBody>
      </p:sp>
      <p:sp>
        <p:nvSpPr>
          <p:cNvPr id="82" name="Shape 80"/>
          <p:cNvSpPr/>
          <p:nvPr/>
        </p:nvSpPr>
        <p:spPr>
          <a:xfrm>
            <a:off x="2011680" y="3794760"/>
            <a:ext cx="1005840" cy="365760"/>
          </a:xfrm>
          <a:prstGeom prst="rect">
            <a:avLst/>
          </a:prstGeom>
          <a:solidFill>
            <a:srgbClr val="FFFFFF"/>
          </a:solidFill>
          <a:ln w="6350">
            <a:solidFill>
              <a:srgbClr val="E2DACD"/>
            </a:solidFill>
            <a:prstDash val="solid"/>
          </a:ln>
        </p:spPr>
      </p:sp>
      <p:sp>
        <p:nvSpPr>
          <p:cNvPr id="83" name="Text 81"/>
          <p:cNvSpPr/>
          <p:nvPr/>
        </p:nvSpPr>
        <p:spPr>
          <a:xfrm>
            <a:off x="2057400" y="379476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INT</a:t>
            </a:r>
            <a:endParaRPr lang="en-US" sz="800" dirty="0"/>
          </a:p>
        </p:txBody>
      </p:sp>
      <p:sp>
        <p:nvSpPr>
          <p:cNvPr id="84" name="Shape 82"/>
          <p:cNvSpPr/>
          <p:nvPr/>
        </p:nvSpPr>
        <p:spPr>
          <a:xfrm>
            <a:off x="3017520" y="3794760"/>
            <a:ext cx="731520" cy="365760"/>
          </a:xfrm>
          <a:prstGeom prst="rect">
            <a:avLst/>
          </a:prstGeom>
          <a:solidFill>
            <a:srgbClr val="FFFFFF"/>
          </a:solidFill>
          <a:ln w="6350">
            <a:solidFill>
              <a:srgbClr val="E2DACD"/>
            </a:solidFill>
            <a:prstDash val="solid"/>
          </a:ln>
        </p:spPr>
      </p:sp>
      <p:sp>
        <p:nvSpPr>
          <p:cNvPr id="85" name="Text 83"/>
          <p:cNvSpPr/>
          <p:nvPr/>
        </p:nvSpPr>
        <p:spPr>
          <a:xfrm>
            <a:off x="3063240" y="379476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8</a:t>
            </a:r>
            <a:endParaRPr lang="en-US" sz="800" dirty="0"/>
          </a:p>
        </p:txBody>
      </p:sp>
      <p:sp>
        <p:nvSpPr>
          <p:cNvPr id="86" name="Shape 84"/>
          <p:cNvSpPr/>
          <p:nvPr/>
        </p:nvSpPr>
        <p:spPr>
          <a:xfrm>
            <a:off x="3749040" y="3794760"/>
            <a:ext cx="640080" cy="365760"/>
          </a:xfrm>
          <a:prstGeom prst="rect">
            <a:avLst/>
          </a:prstGeom>
          <a:solidFill>
            <a:srgbClr val="FFFFFF"/>
          </a:solidFill>
          <a:ln w="6350">
            <a:solidFill>
              <a:srgbClr val="E2DACD"/>
            </a:solidFill>
            <a:prstDash val="solid"/>
          </a:ln>
        </p:spPr>
      </p:sp>
      <p:sp>
        <p:nvSpPr>
          <p:cNvPr id="87" name="Text 85"/>
          <p:cNvSpPr/>
          <p:nvPr/>
        </p:nvSpPr>
        <p:spPr>
          <a:xfrm>
            <a:off x="3794760" y="379476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88" name="Shape 86"/>
          <p:cNvSpPr/>
          <p:nvPr/>
        </p:nvSpPr>
        <p:spPr>
          <a:xfrm>
            <a:off x="4389120" y="3794760"/>
            <a:ext cx="2468880" cy="365760"/>
          </a:xfrm>
          <a:prstGeom prst="rect">
            <a:avLst/>
          </a:prstGeom>
          <a:solidFill>
            <a:srgbClr val="FFFFFF"/>
          </a:solidFill>
          <a:ln w="6350">
            <a:solidFill>
              <a:srgbClr val="E2DACD"/>
            </a:solidFill>
            <a:prstDash val="solid"/>
          </a:ln>
        </p:spPr>
      </p:sp>
      <p:sp>
        <p:nvSpPr>
          <p:cNvPr id="89" name="Text 87"/>
          <p:cNvSpPr/>
          <p:nvPr/>
        </p:nvSpPr>
        <p:spPr>
          <a:xfrm>
            <a:off x="4434840" y="379476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totalAmount = rent + deposit</a:t>
            </a:r>
            <a:endParaRPr lang="en-US" sz="800" dirty="0"/>
          </a:p>
        </p:txBody>
      </p:sp>
      <p:sp>
        <p:nvSpPr>
          <p:cNvPr id="90" name="Shape 88"/>
          <p:cNvSpPr/>
          <p:nvPr/>
        </p:nvSpPr>
        <p:spPr>
          <a:xfrm>
            <a:off x="6858000" y="3794760"/>
            <a:ext cx="2926080" cy="365760"/>
          </a:xfrm>
          <a:prstGeom prst="rect">
            <a:avLst/>
          </a:prstGeom>
          <a:solidFill>
            <a:srgbClr val="FFFFFF"/>
          </a:solidFill>
          <a:ln w="6350">
            <a:solidFill>
              <a:srgbClr val="E2DACD"/>
            </a:solidFill>
            <a:prstDash val="solid"/>
          </a:ln>
        </p:spPr>
      </p:sp>
      <p:sp>
        <p:nvSpPr>
          <p:cNvPr id="91" name="Text 89"/>
          <p:cNvSpPr/>
          <p:nvPr/>
        </p:nvSpPr>
        <p:spPr>
          <a:xfrm>
            <a:off x="6903720" y="379476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Total sum charged upfront</a:t>
            </a:r>
            <a:endParaRPr lang="en-US" sz="800" dirty="0"/>
          </a:p>
        </p:txBody>
      </p:sp>
      <p:sp>
        <p:nvSpPr>
          <p:cNvPr id="92" name="Shape 90"/>
          <p:cNvSpPr/>
          <p:nvPr/>
        </p:nvSpPr>
        <p:spPr>
          <a:xfrm>
            <a:off x="9784080" y="3794760"/>
            <a:ext cx="1676095" cy="365760"/>
          </a:xfrm>
          <a:prstGeom prst="rect">
            <a:avLst/>
          </a:prstGeom>
          <a:solidFill>
            <a:srgbClr val="FFFFFF"/>
          </a:solidFill>
          <a:ln w="6350">
            <a:solidFill>
              <a:srgbClr val="E2DACD"/>
            </a:solidFill>
            <a:prstDash val="solid"/>
          </a:ln>
        </p:spPr>
      </p:sp>
      <p:sp>
        <p:nvSpPr>
          <p:cNvPr id="93" name="Text 91"/>
          <p:cNvSpPr/>
          <p:nvPr/>
        </p:nvSpPr>
        <p:spPr>
          <a:xfrm>
            <a:off x="9829800" y="379476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9800</a:t>
            </a:r>
            <a:endParaRPr lang="en-US" sz="800" dirty="0"/>
          </a:p>
        </p:txBody>
      </p:sp>
      <p:sp>
        <p:nvSpPr>
          <p:cNvPr id="94" name="Shape 92"/>
          <p:cNvSpPr/>
          <p:nvPr/>
        </p:nvSpPr>
        <p:spPr>
          <a:xfrm>
            <a:off x="731520" y="4160520"/>
            <a:ext cx="1280160" cy="365760"/>
          </a:xfrm>
          <a:prstGeom prst="rect">
            <a:avLst/>
          </a:prstGeom>
          <a:solidFill>
            <a:srgbClr val="F6F1E9"/>
          </a:solidFill>
          <a:ln w="6350">
            <a:solidFill>
              <a:srgbClr val="E2DACD"/>
            </a:solidFill>
            <a:prstDash val="solid"/>
          </a:ln>
        </p:spPr>
      </p:sp>
      <p:sp>
        <p:nvSpPr>
          <p:cNvPr id="95" name="Text 93"/>
          <p:cNvSpPr/>
          <p:nvPr/>
        </p:nvSpPr>
        <p:spPr>
          <a:xfrm>
            <a:off x="777240" y="416052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escrowStatus</a:t>
            </a:r>
            <a:endParaRPr lang="en-US" sz="800" dirty="0"/>
          </a:p>
        </p:txBody>
      </p:sp>
      <p:sp>
        <p:nvSpPr>
          <p:cNvPr id="96" name="Shape 94"/>
          <p:cNvSpPr/>
          <p:nvPr/>
        </p:nvSpPr>
        <p:spPr>
          <a:xfrm>
            <a:off x="2011680" y="4160520"/>
            <a:ext cx="1005840" cy="365760"/>
          </a:xfrm>
          <a:prstGeom prst="rect">
            <a:avLst/>
          </a:prstGeom>
          <a:solidFill>
            <a:srgbClr val="F6F1E9"/>
          </a:solidFill>
          <a:ln w="6350">
            <a:solidFill>
              <a:srgbClr val="E2DACD"/>
            </a:solidFill>
            <a:prstDash val="solid"/>
          </a:ln>
        </p:spPr>
      </p:sp>
      <p:sp>
        <p:nvSpPr>
          <p:cNvPr id="97" name="Text 95"/>
          <p:cNvSpPr/>
          <p:nvPr/>
        </p:nvSpPr>
        <p:spPr>
          <a:xfrm>
            <a:off x="2057400" y="416052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ENUM</a:t>
            </a:r>
            <a:endParaRPr lang="en-US" sz="800" dirty="0"/>
          </a:p>
        </p:txBody>
      </p:sp>
      <p:sp>
        <p:nvSpPr>
          <p:cNvPr id="98" name="Shape 96"/>
          <p:cNvSpPr/>
          <p:nvPr/>
        </p:nvSpPr>
        <p:spPr>
          <a:xfrm>
            <a:off x="3017520" y="4160520"/>
            <a:ext cx="731520" cy="365760"/>
          </a:xfrm>
          <a:prstGeom prst="rect">
            <a:avLst/>
          </a:prstGeom>
          <a:solidFill>
            <a:srgbClr val="F6F1E9"/>
          </a:solidFill>
          <a:ln w="6350">
            <a:solidFill>
              <a:srgbClr val="E2DACD"/>
            </a:solidFill>
            <a:prstDash val="solid"/>
          </a:ln>
        </p:spPr>
      </p:sp>
      <p:sp>
        <p:nvSpPr>
          <p:cNvPr id="99" name="Text 97"/>
          <p:cNvSpPr/>
          <p:nvPr/>
        </p:nvSpPr>
        <p:spPr>
          <a:xfrm>
            <a:off x="3063240" y="416052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20</a:t>
            </a:r>
            <a:endParaRPr lang="en-US" sz="800" dirty="0"/>
          </a:p>
        </p:txBody>
      </p:sp>
      <p:sp>
        <p:nvSpPr>
          <p:cNvPr id="100" name="Shape 98"/>
          <p:cNvSpPr/>
          <p:nvPr/>
        </p:nvSpPr>
        <p:spPr>
          <a:xfrm>
            <a:off x="3749040" y="4160520"/>
            <a:ext cx="640080" cy="365760"/>
          </a:xfrm>
          <a:prstGeom prst="rect">
            <a:avLst/>
          </a:prstGeom>
          <a:solidFill>
            <a:srgbClr val="F6F1E9"/>
          </a:solidFill>
          <a:ln w="6350">
            <a:solidFill>
              <a:srgbClr val="E2DACD"/>
            </a:solidFill>
            <a:prstDash val="solid"/>
          </a:ln>
        </p:spPr>
      </p:sp>
      <p:sp>
        <p:nvSpPr>
          <p:cNvPr id="101" name="Text 99"/>
          <p:cNvSpPr/>
          <p:nvPr/>
        </p:nvSpPr>
        <p:spPr>
          <a:xfrm>
            <a:off x="3794760" y="416052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102" name="Shape 100"/>
          <p:cNvSpPr/>
          <p:nvPr/>
        </p:nvSpPr>
        <p:spPr>
          <a:xfrm>
            <a:off x="4389120" y="4160520"/>
            <a:ext cx="2468880" cy="365760"/>
          </a:xfrm>
          <a:prstGeom prst="rect">
            <a:avLst/>
          </a:prstGeom>
          <a:solidFill>
            <a:srgbClr val="F6F1E9"/>
          </a:solidFill>
          <a:ln w="6350">
            <a:solidFill>
              <a:srgbClr val="E2DACD"/>
            </a:solidFill>
            <a:prstDash val="solid"/>
          </a:ln>
        </p:spPr>
      </p:sp>
      <p:sp>
        <p:nvSpPr>
          <p:cNvPr id="103" name="Text 101"/>
          <p:cNvSpPr/>
          <p:nvPr/>
        </p:nvSpPr>
        <p:spPr>
          <a:xfrm>
            <a:off x="4434840" y="416052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CHECK (HELD / REFUNDED / DISPUTED)</a:t>
            </a:r>
            <a:endParaRPr lang="en-US" sz="800" dirty="0"/>
          </a:p>
        </p:txBody>
      </p:sp>
      <p:sp>
        <p:nvSpPr>
          <p:cNvPr id="104" name="Shape 102"/>
          <p:cNvSpPr/>
          <p:nvPr/>
        </p:nvSpPr>
        <p:spPr>
          <a:xfrm>
            <a:off x="6858000" y="4160520"/>
            <a:ext cx="2926080" cy="365760"/>
          </a:xfrm>
          <a:prstGeom prst="rect">
            <a:avLst/>
          </a:prstGeom>
          <a:solidFill>
            <a:srgbClr val="F6F1E9"/>
          </a:solidFill>
          <a:ln w="6350">
            <a:solidFill>
              <a:srgbClr val="E2DACD"/>
            </a:solidFill>
            <a:prstDash val="solid"/>
          </a:ln>
        </p:spPr>
      </p:sp>
      <p:sp>
        <p:nvSpPr>
          <p:cNvPr id="105" name="Text 103"/>
          <p:cNvSpPr/>
          <p:nvPr/>
        </p:nvSpPr>
        <p:spPr>
          <a:xfrm>
            <a:off x="6903720" y="416052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Security deposit state</a:t>
            </a:r>
            <a:endParaRPr lang="en-US" sz="800" dirty="0"/>
          </a:p>
        </p:txBody>
      </p:sp>
      <p:sp>
        <p:nvSpPr>
          <p:cNvPr id="106" name="Shape 104"/>
          <p:cNvSpPr/>
          <p:nvPr/>
        </p:nvSpPr>
        <p:spPr>
          <a:xfrm>
            <a:off x="9784080" y="4160520"/>
            <a:ext cx="1676095" cy="365760"/>
          </a:xfrm>
          <a:prstGeom prst="rect">
            <a:avLst/>
          </a:prstGeom>
          <a:solidFill>
            <a:srgbClr val="F6F1E9"/>
          </a:solidFill>
          <a:ln w="6350">
            <a:solidFill>
              <a:srgbClr val="E2DACD"/>
            </a:solidFill>
            <a:prstDash val="solid"/>
          </a:ln>
        </p:spPr>
      </p:sp>
      <p:sp>
        <p:nvSpPr>
          <p:cNvPr id="107" name="Text 105"/>
          <p:cNvSpPr/>
          <p:nvPr/>
        </p:nvSpPr>
        <p:spPr>
          <a:xfrm>
            <a:off x="9829800" y="416052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'HELD'</a:t>
            </a:r>
            <a:endParaRPr lang="en-US" sz="800" dirty="0"/>
          </a:p>
        </p:txBody>
      </p:sp>
      <p:sp>
        <p:nvSpPr>
          <p:cNvPr id="108" name="Shape 106"/>
          <p:cNvSpPr/>
          <p:nvPr/>
        </p:nvSpPr>
        <p:spPr>
          <a:xfrm>
            <a:off x="731520" y="4526280"/>
            <a:ext cx="1280160" cy="365760"/>
          </a:xfrm>
          <a:prstGeom prst="rect">
            <a:avLst/>
          </a:prstGeom>
          <a:solidFill>
            <a:srgbClr val="FFFFFF"/>
          </a:solidFill>
          <a:ln w="6350">
            <a:solidFill>
              <a:srgbClr val="E2DACD"/>
            </a:solidFill>
            <a:prstDash val="solid"/>
          </a:ln>
        </p:spPr>
      </p:sp>
      <p:sp>
        <p:nvSpPr>
          <p:cNvPr id="109" name="Text 107"/>
          <p:cNvSpPr/>
          <p:nvPr/>
        </p:nvSpPr>
        <p:spPr>
          <a:xfrm>
            <a:off x="777240" y="4526280"/>
            <a:ext cx="1188720" cy="365760"/>
          </a:xfrm>
          <a:prstGeom prst="rect">
            <a:avLst/>
          </a:prstGeom>
          <a:noFill/>
          <a:ln/>
        </p:spPr>
        <p:txBody>
          <a:bodyPr wrap="square" rtlCol="0" anchor="ctr"/>
          <a:lstStyle/>
          <a:p>
            <a:pPr algn="l" indent="0" marL="0">
              <a:buNone/>
            </a:pPr>
            <a:r>
              <a:rPr lang="en-US" sz="800" b="1" dirty="0">
                <a:solidFill>
                  <a:srgbClr val="1A1618"/>
                </a:solidFill>
                <a:latin typeface="Consolas" pitchFamily="34" charset="0"/>
                <a:ea typeface="Consolas" pitchFamily="34" charset="-122"/>
                <a:cs typeface="Consolas" pitchFamily="34" charset="-120"/>
              </a:rPr>
              <a:t>deliveryType</a:t>
            </a:r>
            <a:endParaRPr lang="en-US" sz="800" dirty="0"/>
          </a:p>
        </p:txBody>
      </p:sp>
      <p:sp>
        <p:nvSpPr>
          <p:cNvPr id="110" name="Shape 108"/>
          <p:cNvSpPr/>
          <p:nvPr/>
        </p:nvSpPr>
        <p:spPr>
          <a:xfrm>
            <a:off x="2011680" y="4526280"/>
            <a:ext cx="1005840" cy="365760"/>
          </a:xfrm>
          <a:prstGeom prst="rect">
            <a:avLst/>
          </a:prstGeom>
          <a:solidFill>
            <a:srgbClr val="FFFFFF"/>
          </a:solidFill>
          <a:ln w="6350">
            <a:solidFill>
              <a:srgbClr val="E2DACD"/>
            </a:solidFill>
            <a:prstDash val="solid"/>
          </a:ln>
        </p:spPr>
      </p:sp>
      <p:sp>
        <p:nvSpPr>
          <p:cNvPr id="111" name="Text 109"/>
          <p:cNvSpPr/>
          <p:nvPr/>
        </p:nvSpPr>
        <p:spPr>
          <a:xfrm>
            <a:off x="2057400" y="4526280"/>
            <a:ext cx="914400" cy="365760"/>
          </a:xfrm>
          <a:prstGeom prst="rect">
            <a:avLst/>
          </a:prstGeom>
          <a:noFill/>
          <a:ln/>
        </p:spPr>
        <p:txBody>
          <a:bodyPr wrap="square" rtlCol="0" anchor="ctr"/>
          <a:lstStyle/>
          <a:p>
            <a:pPr algn="ctr" indent="0" marL="0">
              <a:buNone/>
            </a:pPr>
            <a:r>
              <a:rPr lang="en-US" sz="800" dirty="0">
                <a:solidFill>
                  <a:srgbClr val="1A1618"/>
                </a:solidFill>
                <a:latin typeface="Consolas" pitchFamily="34" charset="0"/>
                <a:ea typeface="Consolas" pitchFamily="34" charset="-122"/>
                <a:cs typeface="Consolas" pitchFamily="34" charset="-120"/>
              </a:rPr>
              <a:t>VARCHAR</a:t>
            </a:r>
            <a:endParaRPr lang="en-US" sz="800" dirty="0"/>
          </a:p>
        </p:txBody>
      </p:sp>
      <p:sp>
        <p:nvSpPr>
          <p:cNvPr id="112" name="Shape 110"/>
          <p:cNvSpPr/>
          <p:nvPr/>
        </p:nvSpPr>
        <p:spPr>
          <a:xfrm>
            <a:off x="3017520" y="4526280"/>
            <a:ext cx="731520" cy="365760"/>
          </a:xfrm>
          <a:prstGeom prst="rect">
            <a:avLst/>
          </a:prstGeom>
          <a:solidFill>
            <a:srgbClr val="FFFFFF"/>
          </a:solidFill>
          <a:ln w="6350">
            <a:solidFill>
              <a:srgbClr val="E2DACD"/>
            </a:solidFill>
            <a:prstDash val="solid"/>
          </a:ln>
        </p:spPr>
      </p:sp>
      <p:sp>
        <p:nvSpPr>
          <p:cNvPr id="113" name="Text 111"/>
          <p:cNvSpPr/>
          <p:nvPr/>
        </p:nvSpPr>
        <p:spPr>
          <a:xfrm>
            <a:off x="3063240" y="4526280"/>
            <a:ext cx="640080" cy="365760"/>
          </a:xfrm>
          <a:prstGeom prst="rect">
            <a:avLst/>
          </a:prstGeom>
          <a:noFill/>
          <a:ln/>
        </p:spPr>
        <p:txBody>
          <a:bodyPr wrap="square" rtlCol="0" anchor="ctr"/>
          <a:lstStyle/>
          <a:p>
            <a:pPr algn="ctr" indent="0" marL="0">
              <a:buNone/>
            </a:pPr>
            <a:r>
              <a:rPr lang="en-US" sz="800" dirty="0">
                <a:solidFill>
                  <a:srgbClr val="1A1618"/>
                </a:solidFill>
                <a:latin typeface="Arial" pitchFamily="34" charset="0"/>
                <a:ea typeface="Arial" pitchFamily="34" charset="-122"/>
                <a:cs typeface="Arial" pitchFamily="34" charset="-120"/>
              </a:rPr>
              <a:t>20</a:t>
            </a:r>
            <a:endParaRPr lang="en-US" sz="800" dirty="0"/>
          </a:p>
        </p:txBody>
      </p:sp>
      <p:sp>
        <p:nvSpPr>
          <p:cNvPr id="114" name="Shape 112"/>
          <p:cNvSpPr/>
          <p:nvPr/>
        </p:nvSpPr>
        <p:spPr>
          <a:xfrm>
            <a:off x="3749040" y="4526280"/>
            <a:ext cx="640080" cy="365760"/>
          </a:xfrm>
          <a:prstGeom prst="rect">
            <a:avLst/>
          </a:prstGeom>
          <a:solidFill>
            <a:srgbClr val="FFFFFF"/>
          </a:solidFill>
          <a:ln w="6350">
            <a:solidFill>
              <a:srgbClr val="E2DACD"/>
            </a:solidFill>
            <a:prstDash val="solid"/>
          </a:ln>
        </p:spPr>
      </p:sp>
      <p:sp>
        <p:nvSpPr>
          <p:cNvPr id="115" name="Text 113"/>
          <p:cNvSpPr/>
          <p:nvPr/>
        </p:nvSpPr>
        <p:spPr>
          <a:xfrm>
            <a:off x="3794760" y="4526280"/>
            <a:ext cx="548640" cy="365760"/>
          </a:xfrm>
          <a:prstGeom prst="rect">
            <a:avLst/>
          </a:prstGeom>
          <a:noFill/>
          <a:ln/>
        </p:spPr>
        <p:txBody>
          <a:bodyPr wrap="square" rtlCol="0" anchor="ctr"/>
          <a:lstStyle/>
          <a:p>
            <a:pPr algn="ctr" indent="0" marL="0">
              <a:buNone/>
            </a:pPr>
            <a:r>
              <a:rPr lang="en-US" sz="800" b="1" dirty="0">
                <a:solidFill>
                  <a:srgbClr val="7A5F20"/>
                </a:solidFill>
                <a:latin typeface="Consolas" pitchFamily="34" charset="0"/>
                <a:ea typeface="Consolas" pitchFamily="34" charset="-122"/>
                <a:cs typeface="Consolas" pitchFamily="34" charset="-120"/>
              </a:rPr>
              <a:t>-</a:t>
            </a:r>
            <a:endParaRPr lang="en-US" sz="800" dirty="0"/>
          </a:p>
        </p:txBody>
      </p:sp>
      <p:sp>
        <p:nvSpPr>
          <p:cNvPr id="116" name="Shape 114"/>
          <p:cNvSpPr/>
          <p:nvPr/>
        </p:nvSpPr>
        <p:spPr>
          <a:xfrm>
            <a:off x="4389120" y="4526280"/>
            <a:ext cx="2468880" cy="365760"/>
          </a:xfrm>
          <a:prstGeom prst="rect">
            <a:avLst/>
          </a:prstGeom>
          <a:solidFill>
            <a:srgbClr val="FFFFFF"/>
          </a:solidFill>
          <a:ln w="6350">
            <a:solidFill>
              <a:srgbClr val="E2DACD"/>
            </a:solidFill>
            <a:prstDash val="solid"/>
          </a:ln>
        </p:spPr>
      </p:sp>
      <p:sp>
        <p:nvSpPr>
          <p:cNvPr id="117" name="Text 115"/>
          <p:cNvSpPr/>
          <p:nvPr/>
        </p:nvSpPr>
        <p:spPr>
          <a:xfrm>
            <a:off x="4434840" y="4526280"/>
            <a:ext cx="23774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Standard Express / Boutique Pickup</a:t>
            </a:r>
            <a:endParaRPr lang="en-US" sz="800" dirty="0"/>
          </a:p>
        </p:txBody>
      </p:sp>
      <p:sp>
        <p:nvSpPr>
          <p:cNvPr id="118" name="Shape 116"/>
          <p:cNvSpPr/>
          <p:nvPr/>
        </p:nvSpPr>
        <p:spPr>
          <a:xfrm>
            <a:off x="6858000" y="4526280"/>
            <a:ext cx="2926080" cy="365760"/>
          </a:xfrm>
          <a:prstGeom prst="rect">
            <a:avLst/>
          </a:prstGeom>
          <a:solidFill>
            <a:srgbClr val="FFFFFF"/>
          </a:solidFill>
          <a:ln w="6350">
            <a:solidFill>
              <a:srgbClr val="E2DACD"/>
            </a:solidFill>
            <a:prstDash val="solid"/>
          </a:ln>
        </p:spPr>
      </p:sp>
      <p:sp>
        <p:nvSpPr>
          <p:cNvPr id="119" name="Text 117"/>
          <p:cNvSpPr/>
          <p:nvPr/>
        </p:nvSpPr>
        <p:spPr>
          <a:xfrm>
            <a:off x="6903720" y="4526280"/>
            <a:ext cx="2834640"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Fulfillment modality</a:t>
            </a:r>
            <a:endParaRPr lang="en-US" sz="800" dirty="0"/>
          </a:p>
        </p:txBody>
      </p:sp>
      <p:sp>
        <p:nvSpPr>
          <p:cNvPr id="120" name="Shape 118"/>
          <p:cNvSpPr/>
          <p:nvPr/>
        </p:nvSpPr>
        <p:spPr>
          <a:xfrm>
            <a:off x="9784080" y="4526280"/>
            <a:ext cx="1676095" cy="365760"/>
          </a:xfrm>
          <a:prstGeom prst="rect">
            <a:avLst/>
          </a:prstGeom>
          <a:solidFill>
            <a:srgbClr val="FFFFFF"/>
          </a:solidFill>
          <a:ln w="6350">
            <a:solidFill>
              <a:srgbClr val="E2DACD"/>
            </a:solidFill>
            <a:prstDash val="solid"/>
          </a:ln>
        </p:spPr>
      </p:sp>
      <p:sp>
        <p:nvSpPr>
          <p:cNvPr id="121" name="Text 119"/>
          <p:cNvSpPr/>
          <p:nvPr/>
        </p:nvSpPr>
        <p:spPr>
          <a:xfrm>
            <a:off x="9829800" y="4526280"/>
            <a:ext cx="1584655" cy="365760"/>
          </a:xfrm>
          <a:prstGeom prst="rect">
            <a:avLst/>
          </a:prstGeom>
          <a:noFill/>
          <a:ln/>
        </p:spPr>
        <p:txBody>
          <a:bodyPr wrap="square" rtlCol="0" anchor="ctr"/>
          <a:lstStyle/>
          <a:p>
            <a:pPr algn="l" indent="0" marL="0">
              <a:buNone/>
            </a:pPr>
            <a:r>
              <a:rPr lang="en-US" sz="800" dirty="0">
                <a:solidFill>
                  <a:srgbClr val="1A1618"/>
                </a:solidFill>
                <a:latin typeface="Arial" pitchFamily="34" charset="0"/>
                <a:ea typeface="Arial" pitchFamily="34" charset="-122"/>
                <a:cs typeface="Arial" pitchFamily="34" charset="-120"/>
              </a:rPr>
              <a:t>'Standard Express'</a:t>
            </a:r>
            <a:endParaRPr lang="en-US" sz="800" dirty="0"/>
          </a:p>
        </p:txBody>
      </p:sp>
      <p:sp>
        <p:nvSpPr>
          <p:cNvPr id="122" name="Shape 120"/>
          <p:cNvSpPr/>
          <p:nvPr/>
        </p:nvSpPr>
        <p:spPr>
          <a:xfrm>
            <a:off x="731520" y="5029200"/>
            <a:ext cx="10728655" cy="1143000"/>
          </a:xfrm>
          <a:prstGeom prst="rect">
            <a:avLst/>
          </a:prstGeom>
          <a:solidFill>
            <a:srgbClr val="F5EFE6"/>
          </a:solidFill>
          <a:ln w="12700">
            <a:solidFill>
              <a:srgbClr val="1E7E55"/>
            </a:solidFill>
            <a:prstDash val="solid"/>
          </a:ln>
        </p:spPr>
      </p:sp>
      <p:sp>
        <p:nvSpPr>
          <p:cNvPr id="123" name="Text 121"/>
          <p:cNvSpPr/>
          <p:nvPr/>
        </p:nvSpPr>
        <p:spPr>
          <a:xfrm>
            <a:off x="914400" y="5120640"/>
            <a:ext cx="10058400" cy="228600"/>
          </a:xfrm>
          <a:prstGeom prst="rect">
            <a:avLst/>
          </a:prstGeom>
          <a:noFill/>
          <a:ln/>
        </p:spPr>
        <p:txBody>
          <a:bodyPr wrap="square" rtlCol="0" anchor="ctr"/>
          <a:lstStyle/>
          <a:p>
            <a:pPr indent="0" marL="0">
              <a:buNone/>
            </a:pPr>
            <a:r>
              <a:rPr lang="en-US" sz="850" b="1" dirty="0">
                <a:solidFill>
                  <a:srgbClr val="1E7E55"/>
                </a:solidFill>
                <a:latin typeface="Consolas" pitchFamily="34" charset="0"/>
                <a:ea typeface="Consolas" pitchFamily="34" charset="-122"/>
                <a:cs typeface="Consolas" pitchFamily="34" charset="-120"/>
              </a:rPr>
              <a:t>HIGHLIGHTED TRANSACTION RECORD · ORDER "ORD-2026-9812"</a:t>
            </a:r>
            <a:endParaRPr lang="en-US" sz="850" dirty="0"/>
          </a:p>
        </p:txBody>
      </p:sp>
      <p:sp>
        <p:nvSpPr>
          <p:cNvPr id="124" name="Text 122"/>
          <p:cNvSpPr/>
          <p:nvPr/>
        </p:nvSpPr>
        <p:spPr>
          <a:xfrm>
            <a:off x="914400" y="5394960"/>
            <a:ext cx="10332720" cy="365760"/>
          </a:xfrm>
          <a:prstGeom prst="rect">
            <a:avLst/>
          </a:prstGeom>
          <a:noFill/>
          <a:ln/>
        </p:spPr>
        <p:txBody>
          <a:bodyPr wrap="square" rtlCol="0" anchor="ctr"/>
          <a:lstStyle/>
          <a:p>
            <a:pPr indent="0" marL="0">
              <a:buNone/>
            </a:pPr>
            <a:r>
              <a:rPr lang="en-US" sz="1000" dirty="0">
                <a:solidFill>
                  <a:srgbClr val="1A1618"/>
                </a:solidFill>
                <a:latin typeface="Consolas" pitchFamily="34" charset="0"/>
                <a:ea typeface="Consolas" pitchFamily="34" charset="-122"/>
                <a:cs typeface="Consolas" pitchFamily="34" charset="-120"/>
              </a:rPr>
              <a:t>{ orderId: "ORD-2026-9812", dressId: "d1", renterId: "renter_vivek", rentDays: 3, rentFee: ₹3,800, depositHeld: ₹6,000, escrowStatus: "HELD" }</a:t>
            </a:r>
            <a:endParaRPr lang="en-US" sz="1000" dirty="0"/>
          </a:p>
        </p:txBody>
      </p:sp>
      <p:sp>
        <p:nvSpPr>
          <p:cNvPr id="125" name="Text 123"/>
          <p:cNvSpPr/>
          <p:nvPr/>
        </p:nvSpPr>
        <p:spPr>
          <a:xfrm>
            <a:off x="914400" y="5806440"/>
            <a:ext cx="10332720" cy="320040"/>
          </a:xfrm>
          <a:prstGeom prst="rect">
            <a:avLst/>
          </a:prstGeom>
          <a:noFill/>
          <a:ln/>
        </p:spPr>
        <p:txBody>
          <a:bodyPr wrap="square" rtlCol="0" anchor="ctr"/>
          <a:lstStyle/>
          <a:p>
            <a:pPr indent="0" marL="0">
              <a:buNone/>
            </a:pPr>
            <a:r>
              <a:rPr lang="en-US" sz="950" i="1" dirty="0">
                <a:solidFill>
                  <a:srgbClr val="6B6367"/>
                </a:solidFill>
                <a:latin typeface="Arial" pitchFamily="34" charset="0"/>
                <a:ea typeface="Arial" pitchFamily="34" charset="-122"/>
                <a:cs typeface="Arial" pitchFamily="34" charset="-120"/>
              </a:rPr>
              <a:t>One-Line Meaning: Renter Vivek successfully locked ₹6,000 deposit in escrow while remitting ₹3,800 rental fee; funds will automatically revert upon boutique return verification.</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23 · ACT VI</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1371600"/>
            <a:ext cx="4114800" cy="3200400"/>
          </a:xfrm>
          <a:prstGeom prst="rect">
            <a:avLst/>
          </a:prstGeom>
          <a:noFill/>
          <a:ln/>
        </p:spPr>
        <p:txBody>
          <a:bodyPr wrap="square" rtlCol="0" anchor="ctr"/>
          <a:lstStyle/>
          <a:p>
            <a:pPr algn="l" indent="0" marL="0">
              <a:buNone/>
            </a:pPr>
            <a:r>
              <a:rPr lang="en-US" sz="12000" b="1" dirty="0">
                <a:solidFill>
                  <a:srgbClr val="1E1217"/>
                </a:solidFill>
                <a:latin typeface="Georgia" pitchFamily="34" charset="0"/>
                <a:ea typeface="Georgia" pitchFamily="34" charset="-122"/>
                <a:cs typeface="Georgia" pitchFamily="34" charset="-120"/>
              </a:rPr>
              <a:t>VI</a:t>
            </a:r>
            <a:endParaRPr lang="en-US" sz="12000" dirty="0"/>
          </a:p>
        </p:txBody>
      </p:sp>
      <p:sp>
        <p:nvSpPr>
          <p:cNvPr id="6" name="Shape 4"/>
          <p:cNvSpPr/>
          <p:nvPr/>
        </p:nvSpPr>
        <p:spPr>
          <a:xfrm>
            <a:off x="731520" y="1828800"/>
            <a:ext cx="2194560" cy="365760"/>
          </a:xfrm>
          <a:prstGeom prst="roundRect">
            <a:avLst/>
          </a:prstGeom>
          <a:solidFill>
            <a:srgbClr val="C99A2E"/>
          </a:solidFill>
          <a:ln w="12700">
            <a:solidFill>
              <a:srgbClr val="E6B85C"/>
            </a:solidFill>
            <a:prstDash val="solid"/>
          </a:ln>
        </p:spPr>
      </p:sp>
      <p:sp>
        <p:nvSpPr>
          <p:cNvPr id="7" name="Text 5"/>
          <p:cNvSpPr/>
          <p:nvPr/>
        </p:nvSpPr>
        <p:spPr>
          <a:xfrm>
            <a:off x="731520" y="1828800"/>
            <a:ext cx="2194560" cy="365760"/>
          </a:xfrm>
          <a:prstGeom prst="rect">
            <a:avLst/>
          </a:prstGeom>
          <a:noFill/>
          <a:ln/>
        </p:spPr>
        <p:txBody>
          <a:bodyPr wrap="square" rtlCol="0" anchor="ctr"/>
          <a:lstStyle/>
          <a:p>
            <a:pPr algn="ctr" indent="0" marL="0">
              <a:buNone/>
            </a:pPr>
            <a:r>
              <a:rPr lang="en-US" sz="1100" b="1" dirty="0">
                <a:solidFill>
                  <a:srgbClr val="0E0709"/>
                </a:solidFill>
                <a:latin typeface="Arial" pitchFamily="34" charset="0"/>
                <a:ea typeface="Arial" pitchFamily="34" charset="-122"/>
                <a:cs typeface="Arial" pitchFamily="34" charset="-120"/>
              </a:rPr>
              <a:t>ACT VI · THE FINALE</a:t>
            </a:r>
            <a:endParaRPr lang="en-US" sz="1100" dirty="0"/>
          </a:p>
        </p:txBody>
      </p:sp>
      <p:sp>
        <p:nvSpPr>
          <p:cNvPr id="8" name="Text 6"/>
          <p:cNvSpPr/>
          <p:nvPr/>
        </p:nvSpPr>
        <p:spPr>
          <a:xfrm>
            <a:off x="731520" y="2423160"/>
            <a:ext cx="10058400" cy="1005840"/>
          </a:xfrm>
          <a:prstGeom prst="rect">
            <a:avLst/>
          </a:prstGeom>
          <a:noFill/>
          <a:ln/>
        </p:spPr>
        <p:txBody>
          <a:bodyPr wrap="square" rtlCol="0" anchor="ctr"/>
          <a:lstStyle/>
          <a:p>
            <a:pPr indent="0" marL="0">
              <a:buNone/>
            </a:pPr>
            <a:r>
              <a:rPr lang="en-US" sz="4200" b="1" dirty="0">
                <a:solidFill>
                  <a:srgbClr val="FAF7F2"/>
                </a:solidFill>
                <a:latin typeface="Georgia" pitchFamily="34" charset="0"/>
                <a:ea typeface="Georgia" pitchFamily="34" charset="-122"/>
                <a:cs typeface="Georgia" pitchFamily="34" charset="-120"/>
              </a:rPr>
              <a:t>Conclusions, Measurable Impacts &amp; Academic Defense</a:t>
            </a:r>
            <a:endParaRPr lang="en-US" sz="4200" dirty="0"/>
          </a:p>
        </p:txBody>
      </p:sp>
      <p:sp>
        <p:nvSpPr>
          <p:cNvPr id="9" name="Text 7"/>
          <p:cNvSpPr/>
          <p:nvPr/>
        </p:nvSpPr>
        <p:spPr>
          <a:xfrm>
            <a:off x="731520" y="3520440"/>
            <a:ext cx="9601200" cy="731520"/>
          </a:xfrm>
          <a:prstGeom prst="rect">
            <a:avLst/>
          </a:prstGeom>
          <a:noFill/>
          <a:ln/>
        </p:spPr>
        <p:txBody>
          <a:bodyPr wrap="square" rtlCol="0" anchor="ctr"/>
          <a:lstStyle/>
          <a:p>
            <a:pPr indent="0" marL="0">
              <a:buNone/>
            </a:pPr>
            <a:r>
              <a:rPr lang="en-US" sz="1800" dirty="0">
                <a:solidFill>
                  <a:srgbClr val="E6B85C"/>
                </a:solidFill>
                <a:latin typeface="Arial" pitchFamily="34" charset="0"/>
                <a:ea typeface="Arial" pitchFamily="34" charset="-122"/>
                <a:cs typeface="Arial" pitchFamily="34" charset="-120"/>
              </a:rPr>
              <a:t>Synthesizing economic benefits, architectural findings, and academic literature.</a:t>
            </a:r>
            <a:endParaRPr lang="en-US" sz="1800" dirty="0"/>
          </a:p>
        </p:txBody>
      </p:sp>
      <p:sp>
        <p:nvSpPr>
          <p:cNvPr id="10" name="Shape 8"/>
          <p:cNvSpPr/>
          <p:nvPr/>
        </p:nvSpPr>
        <p:spPr>
          <a:xfrm>
            <a:off x="9144000" y="2011680"/>
            <a:ext cx="2286000" cy="2743200"/>
          </a:xfrm>
          <a:prstGeom prst="arc">
            <a:avLst/>
          </a:prstGeom>
          <a:noFill/>
          <a:ln w="19050">
            <a:solidFill>
              <a:srgbClr val="C99A2E"/>
            </a:solidFill>
            <a:prstDash val="solid"/>
          </a:ln>
        </p:spPr>
      </p:sp>
      <p:sp>
        <p:nvSpPr>
          <p:cNvPr id="11" name="Shape 9"/>
          <p:cNvSpPr/>
          <p:nvPr/>
        </p:nvSpPr>
        <p:spPr>
          <a:xfrm>
            <a:off x="9372600" y="3383280"/>
            <a:ext cx="1828800" cy="2286000"/>
          </a:xfrm>
          <a:prstGeom prst="rect">
            <a:avLst/>
          </a:prstGeom>
          <a:noFill/>
          <a:ln w="12700">
            <a:solidFill>
              <a:srgbClr val="C99A2E"/>
            </a:solidFill>
            <a:prstDash val="solid"/>
          </a:ln>
        </p:spPr>
      </p:sp>
      <p:sp>
        <p:nvSpPr>
          <p:cNvPr id="12" name="Shape 10"/>
          <p:cNvSpPr/>
          <p:nvPr/>
        </p:nvSpPr>
        <p:spPr>
          <a:xfrm>
            <a:off x="731520" y="5669280"/>
            <a:ext cx="10728655" cy="73152"/>
          </a:xfrm>
          <a:prstGeom prst="rect">
            <a:avLst/>
          </a:prstGeom>
          <a:solidFill>
            <a:srgbClr val="2A1A20"/>
          </a:solidFill>
          <a:ln/>
        </p:spPr>
      </p:sp>
      <p:sp>
        <p:nvSpPr>
          <p:cNvPr id="13" name="Shape 11"/>
          <p:cNvSpPr/>
          <p:nvPr/>
        </p:nvSpPr>
        <p:spPr>
          <a:xfrm>
            <a:off x="731520" y="5669280"/>
            <a:ext cx="10728655" cy="73152"/>
          </a:xfrm>
          <a:prstGeom prst="rect">
            <a:avLst/>
          </a:prstGeom>
          <a:solidFill>
            <a:srgbClr val="C99A2E"/>
          </a:solidFill>
          <a:ln/>
        </p:spPr>
      </p:sp>
      <p:sp>
        <p:nvSpPr>
          <p:cNvPr id="14" name="Text 12"/>
          <p:cNvSpPr/>
          <p:nvPr/>
        </p:nvSpPr>
        <p:spPr>
          <a:xfrm>
            <a:off x="731520" y="5806440"/>
            <a:ext cx="5486400" cy="274320"/>
          </a:xfrm>
          <a:prstGeom prst="rect">
            <a:avLst/>
          </a:prstGeom>
          <a:noFill/>
          <a:ln/>
        </p:spPr>
        <p:txBody>
          <a:bodyPr wrap="square" rtlCol="0" anchor="ctr"/>
          <a:lstStyle/>
          <a:p>
            <a:pPr indent="0" marL="0">
              <a:buNone/>
            </a:pPr>
            <a:r>
              <a:rPr lang="en-US" sz="900" b="1" spc="100" kern="0" dirty="0">
                <a:solidFill>
                  <a:srgbClr val="C99A2E"/>
                </a:solidFill>
                <a:latin typeface="Arial" pitchFamily="34" charset="0"/>
                <a:ea typeface="Arial" pitchFamily="34" charset="-122"/>
                <a:cs typeface="Arial" pitchFamily="34" charset="-120"/>
              </a:rPr>
              <a:t>STORYLINE PROGRESSION: 100% COMPLETED</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24 · ACT VI</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822960"/>
            <a:ext cx="10698480" cy="274320"/>
          </a:xfrm>
          <a:prstGeom prst="rect">
            <a:avLst/>
          </a:prstGeom>
          <a:noFill/>
          <a:ln/>
        </p:spPr>
        <p:txBody>
          <a:bodyPr wrap="square" rtlCol="0" anchor="ctr"/>
          <a:lstStyle/>
          <a:p>
            <a:pPr indent="0" marL="0">
              <a:buNone/>
            </a:pPr>
            <a:r>
              <a:rPr lang="en-US" sz="1000" b="1" spc="200" kern="0" dirty="0">
                <a:solidFill>
                  <a:srgbClr val="C99A2E"/>
                </a:solidFill>
                <a:latin typeface="Arial" pitchFamily="34" charset="0"/>
                <a:ea typeface="Arial" pitchFamily="34" charset="-122"/>
                <a:cs typeface="Arial" pitchFamily="34" charset="-120"/>
              </a:rPr>
              <a:t>EVALUATION &amp; SYNTHESIS</a:t>
            </a:r>
            <a:endParaRPr lang="en-US" sz="1000" dirty="0"/>
          </a:p>
        </p:txBody>
      </p:sp>
      <p:sp>
        <p:nvSpPr>
          <p:cNvPr id="6" name="Text 4"/>
          <p:cNvSpPr/>
          <p:nvPr/>
        </p:nvSpPr>
        <p:spPr>
          <a:xfrm>
            <a:off x="731520" y="1143000"/>
            <a:ext cx="10698480" cy="502920"/>
          </a:xfrm>
          <a:prstGeom prst="rect">
            <a:avLst/>
          </a:prstGeom>
          <a:noFill/>
          <a:ln/>
        </p:spPr>
        <p:txBody>
          <a:bodyPr wrap="square" rtlCol="0" anchor="ctr"/>
          <a:lstStyle/>
          <a:p>
            <a:pPr indent="0" marL="0">
              <a:buNone/>
            </a:pPr>
            <a:r>
              <a:rPr lang="en-US" sz="2600" b="1" dirty="0">
                <a:solidFill>
                  <a:srgbClr val="FAF7F2"/>
                </a:solidFill>
                <a:latin typeface="Georgia" pitchFamily="34" charset="0"/>
                <a:ea typeface="Georgia" pitchFamily="34" charset="-122"/>
                <a:cs typeface="Georgia" pitchFamily="34" charset="-120"/>
              </a:rPr>
              <a:t>Measurable Outcomes &amp; Project Impact</a:t>
            </a:r>
            <a:endParaRPr lang="en-US" sz="2600" dirty="0"/>
          </a:p>
        </p:txBody>
      </p:sp>
      <p:sp>
        <p:nvSpPr>
          <p:cNvPr id="7" name="Shape 5"/>
          <p:cNvSpPr/>
          <p:nvPr/>
        </p:nvSpPr>
        <p:spPr>
          <a:xfrm>
            <a:off x="731520" y="1920240"/>
            <a:ext cx="3410712" cy="2286000"/>
          </a:xfrm>
          <a:prstGeom prst="rect">
            <a:avLst/>
          </a:prstGeom>
          <a:solidFill>
            <a:srgbClr val="180E12"/>
          </a:solidFill>
          <a:ln w="15875">
            <a:solidFill>
              <a:srgbClr val="C99A2E"/>
            </a:solidFill>
            <a:prstDash val="solid"/>
          </a:ln>
        </p:spPr>
      </p:sp>
      <p:sp>
        <p:nvSpPr>
          <p:cNvPr id="8" name="Text 6"/>
          <p:cNvSpPr/>
          <p:nvPr/>
        </p:nvSpPr>
        <p:spPr>
          <a:xfrm>
            <a:off x="1005840" y="2103120"/>
            <a:ext cx="2834640" cy="731520"/>
          </a:xfrm>
          <a:prstGeom prst="rect">
            <a:avLst/>
          </a:prstGeom>
          <a:noFill/>
          <a:ln/>
        </p:spPr>
        <p:txBody>
          <a:bodyPr wrap="square" rtlCol="0" anchor="ctr"/>
          <a:lstStyle/>
          <a:p>
            <a:pPr indent="0" marL="0">
              <a:buNone/>
            </a:pPr>
            <a:r>
              <a:rPr lang="en-US" sz="4800" b="1" dirty="0">
                <a:solidFill>
                  <a:srgbClr val="C99A2E"/>
                </a:solidFill>
                <a:latin typeface="Arial" pitchFamily="34" charset="0"/>
                <a:ea typeface="Arial" pitchFamily="34" charset="-122"/>
                <a:cs typeface="Arial" pitchFamily="34" charset="-120"/>
              </a:rPr>
              <a:t>85%</a:t>
            </a:r>
            <a:endParaRPr lang="en-US" sz="4800" dirty="0"/>
          </a:p>
        </p:txBody>
      </p:sp>
      <p:sp>
        <p:nvSpPr>
          <p:cNvPr id="9" name="Text 7"/>
          <p:cNvSpPr/>
          <p:nvPr/>
        </p:nvSpPr>
        <p:spPr>
          <a:xfrm>
            <a:off x="1005840" y="2880360"/>
            <a:ext cx="2834640" cy="457200"/>
          </a:xfrm>
          <a:prstGeom prst="rect">
            <a:avLst/>
          </a:prstGeom>
          <a:noFill/>
          <a:ln/>
        </p:spPr>
        <p:txBody>
          <a:bodyPr wrap="square" rtlCol="0" anchor="ctr"/>
          <a:lstStyle/>
          <a:p>
            <a:pPr indent="0" marL="0">
              <a:buNone/>
            </a:pPr>
            <a:r>
              <a:rPr lang="en-US" sz="1300" b="1" dirty="0">
                <a:solidFill>
                  <a:srgbClr val="FAF7F2"/>
                </a:solidFill>
                <a:latin typeface="Georgia" pitchFamily="34" charset="0"/>
                <a:ea typeface="Georgia" pitchFamily="34" charset="-122"/>
                <a:cs typeface="Georgia" pitchFamily="34" charset="-120"/>
              </a:rPr>
              <a:t>Direct Cost Reduction for Renters</a:t>
            </a:r>
            <a:endParaRPr lang="en-US" sz="1300" dirty="0"/>
          </a:p>
        </p:txBody>
      </p:sp>
      <p:sp>
        <p:nvSpPr>
          <p:cNvPr id="10" name="Text 8"/>
          <p:cNvSpPr/>
          <p:nvPr/>
        </p:nvSpPr>
        <p:spPr>
          <a:xfrm>
            <a:off x="1005840" y="3429000"/>
            <a:ext cx="2834640" cy="68580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Users access regal ₹65,000 bridal lehengas for ₹3,800, eliminating single-use wardrobe waste.</a:t>
            </a:r>
            <a:endParaRPr lang="en-US" sz="1100" dirty="0"/>
          </a:p>
        </p:txBody>
      </p:sp>
      <p:sp>
        <p:nvSpPr>
          <p:cNvPr id="11" name="Shape 9"/>
          <p:cNvSpPr/>
          <p:nvPr/>
        </p:nvSpPr>
        <p:spPr>
          <a:xfrm>
            <a:off x="4389120" y="1920240"/>
            <a:ext cx="3410712" cy="2286000"/>
          </a:xfrm>
          <a:prstGeom prst="rect">
            <a:avLst/>
          </a:prstGeom>
          <a:solidFill>
            <a:srgbClr val="180E12"/>
          </a:solidFill>
          <a:ln w="15875">
            <a:solidFill>
              <a:srgbClr val="C99A2E"/>
            </a:solidFill>
            <a:prstDash val="solid"/>
          </a:ln>
        </p:spPr>
      </p:sp>
      <p:sp>
        <p:nvSpPr>
          <p:cNvPr id="12" name="Text 10"/>
          <p:cNvSpPr/>
          <p:nvPr/>
        </p:nvSpPr>
        <p:spPr>
          <a:xfrm>
            <a:off x="4663440" y="2103120"/>
            <a:ext cx="2834640" cy="731520"/>
          </a:xfrm>
          <a:prstGeom prst="rect">
            <a:avLst/>
          </a:prstGeom>
          <a:noFill/>
          <a:ln/>
        </p:spPr>
        <p:txBody>
          <a:bodyPr wrap="square" rtlCol="0" anchor="ctr"/>
          <a:lstStyle/>
          <a:p>
            <a:pPr indent="0" marL="0">
              <a:buNone/>
            </a:pPr>
            <a:r>
              <a:rPr lang="en-US" sz="4800" b="1" dirty="0">
                <a:solidFill>
                  <a:srgbClr val="C99A2E"/>
                </a:solidFill>
                <a:latin typeface="Arial" pitchFamily="34" charset="0"/>
                <a:ea typeface="Arial" pitchFamily="34" charset="-122"/>
                <a:cs typeface="Arial" pitchFamily="34" charset="-120"/>
              </a:rPr>
              <a:t>4.2x</a:t>
            </a:r>
            <a:endParaRPr lang="en-US" sz="4800" dirty="0"/>
          </a:p>
        </p:txBody>
      </p:sp>
      <p:sp>
        <p:nvSpPr>
          <p:cNvPr id="13" name="Text 11"/>
          <p:cNvSpPr/>
          <p:nvPr/>
        </p:nvSpPr>
        <p:spPr>
          <a:xfrm>
            <a:off x="4663440" y="2880360"/>
            <a:ext cx="2834640" cy="457200"/>
          </a:xfrm>
          <a:prstGeom prst="rect">
            <a:avLst/>
          </a:prstGeom>
          <a:noFill/>
          <a:ln/>
        </p:spPr>
        <p:txBody>
          <a:bodyPr wrap="square" rtlCol="0" anchor="ctr"/>
          <a:lstStyle/>
          <a:p>
            <a:pPr indent="0" marL="0">
              <a:buNone/>
            </a:pPr>
            <a:r>
              <a:rPr lang="en-US" sz="1300" b="1" dirty="0">
                <a:solidFill>
                  <a:srgbClr val="FAF7F2"/>
                </a:solidFill>
                <a:latin typeface="Georgia" pitchFamily="34" charset="0"/>
                <a:ea typeface="Georgia" pitchFamily="34" charset="-122"/>
                <a:cs typeface="Georgia" pitchFamily="34" charset="-120"/>
              </a:rPr>
              <a:t>Annualized ROI for Boutique Lenders</a:t>
            </a:r>
            <a:endParaRPr lang="en-US" sz="1300" dirty="0"/>
          </a:p>
        </p:txBody>
      </p:sp>
      <p:sp>
        <p:nvSpPr>
          <p:cNvPr id="14" name="Text 12"/>
          <p:cNvSpPr/>
          <p:nvPr/>
        </p:nvSpPr>
        <p:spPr>
          <a:xfrm>
            <a:off x="4663440" y="3429000"/>
            <a:ext cx="2834640" cy="68580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Garments rented 8-12 times per season generate substantial profits over original fabrication cost.</a:t>
            </a:r>
            <a:endParaRPr lang="en-US" sz="1100" dirty="0"/>
          </a:p>
        </p:txBody>
      </p:sp>
      <p:sp>
        <p:nvSpPr>
          <p:cNvPr id="15" name="Shape 13"/>
          <p:cNvSpPr/>
          <p:nvPr/>
        </p:nvSpPr>
        <p:spPr>
          <a:xfrm>
            <a:off x="8046720" y="1920240"/>
            <a:ext cx="3410712" cy="2286000"/>
          </a:xfrm>
          <a:prstGeom prst="rect">
            <a:avLst/>
          </a:prstGeom>
          <a:solidFill>
            <a:srgbClr val="180E12"/>
          </a:solidFill>
          <a:ln w="15875">
            <a:solidFill>
              <a:srgbClr val="C99A2E"/>
            </a:solidFill>
            <a:prstDash val="solid"/>
          </a:ln>
        </p:spPr>
      </p:sp>
      <p:sp>
        <p:nvSpPr>
          <p:cNvPr id="16" name="Text 14"/>
          <p:cNvSpPr/>
          <p:nvPr/>
        </p:nvSpPr>
        <p:spPr>
          <a:xfrm>
            <a:off x="8321040" y="2103120"/>
            <a:ext cx="2834640" cy="731520"/>
          </a:xfrm>
          <a:prstGeom prst="rect">
            <a:avLst/>
          </a:prstGeom>
          <a:noFill/>
          <a:ln/>
        </p:spPr>
        <p:txBody>
          <a:bodyPr wrap="square" rtlCol="0" anchor="ctr"/>
          <a:lstStyle/>
          <a:p>
            <a:pPr indent="0" marL="0">
              <a:buNone/>
            </a:pPr>
            <a:r>
              <a:rPr lang="en-US" sz="4800" b="1" dirty="0">
                <a:solidFill>
                  <a:srgbClr val="C99A2E"/>
                </a:solidFill>
                <a:latin typeface="Arial" pitchFamily="34" charset="0"/>
                <a:ea typeface="Arial" pitchFamily="34" charset="-122"/>
                <a:cs typeface="Arial" pitchFamily="34" charset="-120"/>
              </a:rPr>
              <a:t>100%</a:t>
            </a:r>
            <a:endParaRPr lang="en-US" sz="4800" dirty="0"/>
          </a:p>
        </p:txBody>
      </p:sp>
      <p:sp>
        <p:nvSpPr>
          <p:cNvPr id="17" name="Text 15"/>
          <p:cNvSpPr/>
          <p:nvPr/>
        </p:nvSpPr>
        <p:spPr>
          <a:xfrm>
            <a:off x="8321040" y="2880360"/>
            <a:ext cx="2834640" cy="457200"/>
          </a:xfrm>
          <a:prstGeom prst="rect">
            <a:avLst/>
          </a:prstGeom>
          <a:noFill/>
          <a:ln/>
        </p:spPr>
        <p:txBody>
          <a:bodyPr wrap="square" rtlCol="0" anchor="ctr"/>
          <a:lstStyle/>
          <a:p>
            <a:pPr indent="0" marL="0">
              <a:buNone/>
            </a:pPr>
            <a:r>
              <a:rPr lang="en-US" sz="1300" b="1" dirty="0">
                <a:solidFill>
                  <a:srgbClr val="FAF7F2"/>
                </a:solidFill>
                <a:latin typeface="Georgia" pitchFamily="34" charset="0"/>
                <a:ea typeface="Georgia" pitchFamily="34" charset="-122"/>
                <a:cs typeface="Georgia" pitchFamily="34" charset="-120"/>
              </a:rPr>
              <a:t>Automated Escrow Security</a:t>
            </a:r>
            <a:endParaRPr lang="en-US" sz="1300" dirty="0"/>
          </a:p>
        </p:txBody>
      </p:sp>
      <p:sp>
        <p:nvSpPr>
          <p:cNvPr id="18" name="Text 16"/>
          <p:cNvSpPr/>
          <p:nvPr/>
        </p:nvSpPr>
        <p:spPr>
          <a:xfrm>
            <a:off x="8321040" y="3429000"/>
            <a:ext cx="2834640" cy="68580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All security deposits are digitally protected, eliminating arbitrary cash deductions and disputes.</a:t>
            </a:r>
            <a:endParaRPr lang="en-US" sz="1100" dirty="0"/>
          </a:p>
        </p:txBody>
      </p:sp>
      <p:sp>
        <p:nvSpPr>
          <p:cNvPr id="19" name="Shape 17"/>
          <p:cNvSpPr/>
          <p:nvPr/>
        </p:nvSpPr>
        <p:spPr>
          <a:xfrm>
            <a:off x="731520" y="4480560"/>
            <a:ext cx="10728655" cy="1645920"/>
          </a:xfrm>
          <a:prstGeom prst="rect">
            <a:avLst/>
          </a:prstGeom>
          <a:solidFill>
            <a:srgbClr val="180E13"/>
          </a:solidFill>
          <a:ln w="12700">
            <a:solidFill>
              <a:srgbClr val="3D2913"/>
            </a:solidFill>
            <a:prstDash val="solid"/>
          </a:ln>
        </p:spPr>
      </p:sp>
      <p:sp>
        <p:nvSpPr>
          <p:cNvPr id="20" name="Text 18"/>
          <p:cNvSpPr/>
          <p:nvPr/>
        </p:nvSpPr>
        <p:spPr>
          <a:xfrm>
            <a:off x="1005840" y="4663440"/>
            <a:ext cx="10058400" cy="274320"/>
          </a:xfrm>
          <a:prstGeom prst="rect">
            <a:avLst/>
          </a:prstGeom>
          <a:noFill/>
          <a:ln/>
        </p:spPr>
        <p:txBody>
          <a:bodyPr wrap="square" rtlCol="0" anchor="ctr"/>
          <a:lstStyle/>
          <a:p>
            <a:pPr indent="0" marL="0">
              <a:buNone/>
            </a:pPr>
            <a:r>
              <a:rPr lang="en-US" sz="1000" b="1" dirty="0">
                <a:solidFill>
                  <a:srgbClr val="C99A2E"/>
                </a:solidFill>
                <a:latin typeface="Consolas" pitchFamily="34" charset="0"/>
                <a:ea typeface="Consolas" pitchFamily="34" charset="-122"/>
                <a:cs typeface="Consolas" pitchFamily="34" charset="-120"/>
              </a:rPr>
              <a:t>CORE ENGINEERING CONCLUSION:</a:t>
            </a:r>
            <a:endParaRPr lang="en-US" sz="1000" dirty="0"/>
          </a:p>
        </p:txBody>
      </p:sp>
      <p:sp>
        <p:nvSpPr>
          <p:cNvPr id="21" name="Text 19"/>
          <p:cNvSpPr/>
          <p:nvPr/>
        </p:nvSpPr>
        <p:spPr>
          <a:xfrm>
            <a:off x="1005840" y="4983480"/>
            <a:ext cx="10149840" cy="914400"/>
          </a:xfrm>
          <a:prstGeom prst="rect">
            <a:avLst/>
          </a:prstGeom>
          <a:noFill/>
          <a:ln/>
        </p:spPr>
        <p:txBody>
          <a:bodyPr wrap="square" rtlCol="0" anchor="ctr"/>
          <a:lstStyle/>
          <a:p>
            <a:pPr indent="0" marL="0">
              <a:buNone/>
            </a:pPr>
            <a:r>
              <a:rPr lang="en-US" sz="1200" dirty="0">
                <a:solidFill>
                  <a:srgbClr val="FAF7F2"/>
                </a:solidFill>
                <a:latin typeface="Arial" pitchFamily="34" charset="0"/>
                <a:ea typeface="Arial" pitchFamily="34" charset="-122"/>
                <a:cs typeface="Arial" pitchFamily="34" charset="-120"/>
              </a:rPr>
              <a:t>POSHAKH proves that sustainable circular consumption can be married with luxury ethnic couture through solid software engineering. By utilizing a dependency-free Vanilla JS architecture with an integrated Node server, we achieve zero bundle overhead, instantaneous responsive navigation, and robust role-governed transactions.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25 · ACT VI</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Text 3"/>
          <p:cNvSpPr/>
          <p:nvPr/>
        </p:nvSpPr>
        <p:spPr>
          <a:xfrm>
            <a:off x="731520" y="822960"/>
            <a:ext cx="10698480" cy="274320"/>
          </a:xfrm>
          <a:prstGeom prst="rect">
            <a:avLst/>
          </a:prstGeom>
          <a:noFill/>
          <a:ln/>
        </p:spPr>
        <p:txBody>
          <a:bodyPr wrap="square" rtlCol="0" anchor="ctr"/>
          <a:lstStyle/>
          <a:p>
            <a:pPr indent="0" marL="0">
              <a:buNone/>
            </a:pPr>
            <a:r>
              <a:rPr lang="en-US" sz="1000" b="1" spc="200" kern="0" dirty="0">
                <a:solidFill>
                  <a:srgbClr val="C99A2E"/>
                </a:solidFill>
                <a:latin typeface="Arial" pitchFamily="34" charset="0"/>
                <a:ea typeface="Arial" pitchFamily="34" charset="-122"/>
                <a:cs typeface="Arial" pitchFamily="34" charset="-120"/>
              </a:rPr>
              <a:t>ACADEMIC CITATIONS &amp; REFERENCES</a:t>
            </a:r>
            <a:endParaRPr lang="en-US" sz="1000" dirty="0"/>
          </a:p>
        </p:txBody>
      </p:sp>
      <p:sp>
        <p:nvSpPr>
          <p:cNvPr id="6" name="Text 4"/>
          <p:cNvSpPr/>
          <p:nvPr/>
        </p:nvSpPr>
        <p:spPr>
          <a:xfrm>
            <a:off x="731520" y="1143000"/>
            <a:ext cx="10698480" cy="502920"/>
          </a:xfrm>
          <a:prstGeom prst="rect">
            <a:avLst/>
          </a:prstGeom>
          <a:noFill/>
          <a:ln/>
        </p:spPr>
        <p:txBody>
          <a:bodyPr wrap="square" rtlCol="0" anchor="ctr"/>
          <a:lstStyle/>
          <a:p>
            <a:pPr indent="0" marL="0">
              <a:buNone/>
            </a:pPr>
            <a:r>
              <a:rPr lang="en-US" sz="2600" b="1" dirty="0">
                <a:solidFill>
                  <a:srgbClr val="FAF7F2"/>
                </a:solidFill>
                <a:latin typeface="Georgia" pitchFamily="34" charset="0"/>
                <a:ea typeface="Georgia" pitchFamily="34" charset="-122"/>
                <a:cs typeface="Georgia" pitchFamily="34" charset="-120"/>
              </a:rPr>
              <a:t>Bibliography &amp; Research References (IEEE Format)</a:t>
            </a:r>
            <a:endParaRPr lang="en-US" sz="2600" dirty="0"/>
          </a:p>
        </p:txBody>
      </p:sp>
      <p:sp>
        <p:nvSpPr>
          <p:cNvPr id="7" name="Shape 5"/>
          <p:cNvSpPr/>
          <p:nvPr/>
        </p:nvSpPr>
        <p:spPr>
          <a:xfrm>
            <a:off x="731520" y="1920240"/>
            <a:ext cx="10728655" cy="749808"/>
          </a:xfrm>
          <a:prstGeom prst="rect">
            <a:avLst/>
          </a:prstGeom>
          <a:solidFill>
            <a:srgbClr val="180E12"/>
          </a:solidFill>
          <a:ln w="9525">
            <a:solidFill>
              <a:srgbClr val="3D2913"/>
            </a:solidFill>
            <a:prstDash val="solid"/>
          </a:ln>
        </p:spPr>
      </p:sp>
      <p:sp>
        <p:nvSpPr>
          <p:cNvPr id="8" name="Text 6"/>
          <p:cNvSpPr/>
          <p:nvPr/>
        </p:nvSpPr>
        <p:spPr>
          <a:xfrm>
            <a:off x="914400" y="2084832"/>
            <a:ext cx="640080" cy="411480"/>
          </a:xfrm>
          <a:prstGeom prst="rect">
            <a:avLst/>
          </a:prstGeom>
          <a:noFill/>
          <a:ln/>
        </p:spPr>
        <p:txBody>
          <a:bodyPr wrap="square" rtlCol="0" anchor="ctr"/>
          <a:lstStyle/>
          <a:p>
            <a:pPr indent="0" marL="0">
              <a:buNone/>
            </a:pPr>
            <a:r>
              <a:rPr lang="en-US" sz="1200" b="1" dirty="0">
                <a:solidFill>
                  <a:srgbClr val="C99A2E"/>
                </a:solidFill>
                <a:latin typeface="Consolas" pitchFamily="34" charset="0"/>
                <a:ea typeface="Consolas" pitchFamily="34" charset="-122"/>
                <a:cs typeface="Consolas" pitchFamily="34" charset="-120"/>
              </a:rPr>
              <a:t>[1]</a:t>
            </a:r>
            <a:endParaRPr lang="en-US" sz="1200" dirty="0"/>
          </a:p>
        </p:txBody>
      </p:sp>
      <p:sp>
        <p:nvSpPr>
          <p:cNvPr id="9" name="Text 7"/>
          <p:cNvSpPr/>
          <p:nvPr/>
        </p:nvSpPr>
        <p:spPr>
          <a:xfrm>
            <a:off x="1554480" y="2084832"/>
            <a:ext cx="9692640" cy="457200"/>
          </a:xfrm>
          <a:prstGeom prst="rect">
            <a:avLst/>
          </a:prstGeom>
          <a:noFill/>
          <a:ln/>
        </p:spPr>
        <p:txBody>
          <a:bodyPr wrap="square" rtlCol="0" anchor="ctr"/>
          <a:lstStyle/>
          <a:p>
            <a:pPr indent="0" marL="0">
              <a:buNone/>
            </a:pPr>
            <a:r>
              <a:rPr lang="en-US" sz="1050" dirty="0">
                <a:solidFill>
                  <a:srgbClr val="A89EA3"/>
                </a:solidFill>
                <a:latin typeface="Arial" pitchFamily="34" charset="0"/>
                <a:ea typeface="Arial" pitchFamily="34" charset="-122"/>
                <a:cs typeface="Arial" pitchFamily="34" charset="-120"/>
              </a:rPr>
              <a:t>F. Armstrong, K. Niinimäki, and C. Lang, "Sustainable Product-Service Systems for Clothing: Exploring Consumer Acceptance of Apparel Rental," *Journal of Cleaner Production*, vol. 97, pp. 30–39, 2016.</a:t>
            </a:r>
            <a:endParaRPr lang="en-US" sz="1050" dirty="0"/>
          </a:p>
        </p:txBody>
      </p:sp>
      <p:sp>
        <p:nvSpPr>
          <p:cNvPr id="10" name="Shape 8"/>
          <p:cNvSpPr/>
          <p:nvPr/>
        </p:nvSpPr>
        <p:spPr>
          <a:xfrm>
            <a:off x="731520" y="2788920"/>
            <a:ext cx="10728655" cy="749808"/>
          </a:xfrm>
          <a:prstGeom prst="rect">
            <a:avLst/>
          </a:prstGeom>
          <a:solidFill>
            <a:srgbClr val="180E12"/>
          </a:solidFill>
          <a:ln w="9525">
            <a:solidFill>
              <a:srgbClr val="3D2913"/>
            </a:solidFill>
            <a:prstDash val="solid"/>
          </a:ln>
        </p:spPr>
      </p:sp>
      <p:sp>
        <p:nvSpPr>
          <p:cNvPr id="11" name="Text 9"/>
          <p:cNvSpPr/>
          <p:nvPr/>
        </p:nvSpPr>
        <p:spPr>
          <a:xfrm>
            <a:off x="914400" y="2953512"/>
            <a:ext cx="640080" cy="411480"/>
          </a:xfrm>
          <a:prstGeom prst="rect">
            <a:avLst/>
          </a:prstGeom>
          <a:noFill/>
          <a:ln/>
        </p:spPr>
        <p:txBody>
          <a:bodyPr wrap="square" rtlCol="0" anchor="ctr"/>
          <a:lstStyle/>
          <a:p>
            <a:pPr indent="0" marL="0">
              <a:buNone/>
            </a:pPr>
            <a:r>
              <a:rPr lang="en-US" sz="1200" b="1" dirty="0">
                <a:solidFill>
                  <a:srgbClr val="C99A2E"/>
                </a:solidFill>
                <a:latin typeface="Consolas" pitchFamily="34" charset="0"/>
                <a:ea typeface="Consolas" pitchFamily="34" charset="-122"/>
                <a:cs typeface="Consolas" pitchFamily="34" charset="-120"/>
              </a:rPr>
              <a:t>[2]</a:t>
            </a:r>
            <a:endParaRPr lang="en-US" sz="1200" dirty="0"/>
          </a:p>
        </p:txBody>
      </p:sp>
      <p:sp>
        <p:nvSpPr>
          <p:cNvPr id="12" name="Text 10"/>
          <p:cNvSpPr/>
          <p:nvPr/>
        </p:nvSpPr>
        <p:spPr>
          <a:xfrm>
            <a:off x="1554480" y="2953512"/>
            <a:ext cx="9692640" cy="457200"/>
          </a:xfrm>
          <a:prstGeom prst="rect">
            <a:avLst/>
          </a:prstGeom>
          <a:noFill/>
          <a:ln/>
        </p:spPr>
        <p:txBody>
          <a:bodyPr wrap="square" rtlCol="0" anchor="ctr"/>
          <a:lstStyle/>
          <a:p>
            <a:pPr indent="0" marL="0">
              <a:buNone/>
            </a:pPr>
            <a:r>
              <a:rPr lang="en-US" sz="1050" dirty="0">
                <a:solidFill>
                  <a:srgbClr val="A89EA3"/>
                </a:solidFill>
                <a:latin typeface="Arial" pitchFamily="34" charset="0"/>
                <a:ea typeface="Arial" pitchFamily="34" charset="-122"/>
                <a:cs typeface="Arial" pitchFamily="34" charset="-120"/>
              </a:rPr>
              <a:t>R. Botsman and R. Rogers, *What's Mine Is Yours: The Rise of Collaborative Consumption*, New York, NY: HarperBusiness, 2010.</a:t>
            </a:r>
            <a:endParaRPr lang="en-US" sz="1050" dirty="0"/>
          </a:p>
        </p:txBody>
      </p:sp>
      <p:sp>
        <p:nvSpPr>
          <p:cNvPr id="13" name="Shape 11"/>
          <p:cNvSpPr/>
          <p:nvPr/>
        </p:nvSpPr>
        <p:spPr>
          <a:xfrm>
            <a:off x="731520" y="3657600"/>
            <a:ext cx="10728655" cy="749808"/>
          </a:xfrm>
          <a:prstGeom prst="rect">
            <a:avLst/>
          </a:prstGeom>
          <a:solidFill>
            <a:srgbClr val="180E12"/>
          </a:solidFill>
          <a:ln w="9525">
            <a:solidFill>
              <a:srgbClr val="3D2913"/>
            </a:solidFill>
            <a:prstDash val="solid"/>
          </a:ln>
        </p:spPr>
      </p:sp>
      <p:sp>
        <p:nvSpPr>
          <p:cNvPr id="14" name="Text 12"/>
          <p:cNvSpPr/>
          <p:nvPr/>
        </p:nvSpPr>
        <p:spPr>
          <a:xfrm>
            <a:off x="914400" y="3822192"/>
            <a:ext cx="640080" cy="411480"/>
          </a:xfrm>
          <a:prstGeom prst="rect">
            <a:avLst/>
          </a:prstGeom>
          <a:noFill/>
          <a:ln/>
        </p:spPr>
        <p:txBody>
          <a:bodyPr wrap="square" rtlCol="0" anchor="ctr"/>
          <a:lstStyle/>
          <a:p>
            <a:pPr indent="0" marL="0">
              <a:buNone/>
            </a:pPr>
            <a:r>
              <a:rPr lang="en-US" sz="1200" b="1" dirty="0">
                <a:solidFill>
                  <a:srgbClr val="C99A2E"/>
                </a:solidFill>
                <a:latin typeface="Consolas" pitchFamily="34" charset="0"/>
                <a:ea typeface="Consolas" pitchFamily="34" charset="-122"/>
                <a:cs typeface="Consolas" pitchFamily="34" charset="-120"/>
              </a:rPr>
              <a:t>[3]</a:t>
            </a:r>
            <a:endParaRPr lang="en-US" sz="1200" dirty="0"/>
          </a:p>
        </p:txBody>
      </p:sp>
      <p:sp>
        <p:nvSpPr>
          <p:cNvPr id="15" name="Text 13"/>
          <p:cNvSpPr/>
          <p:nvPr/>
        </p:nvSpPr>
        <p:spPr>
          <a:xfrm>
            <a:off x="1554480" y="3822192"/>
            <a:ext cx="9692640" cy="457200"/>
          </a:xfrm>
          <a:prstGeom prst="rect">
            <a:avLst/>
          </a:prstGeom>
          <a:noFill/>
          <a:ln/>
        </p:spPr>
        <p:txBody>
          <a:bodyPr wrap="square" rtlCol="0" anchor="ctr"/>
          <a:lstStyle/>
          <a:p>
            <a:pPr indent="0" marL="0">
              <a:buNone/>
            </a:pPr>
            <a:r>
              <a:rPr lang="en-US" sz="1050" dirty="0">
                <a:solidFill>
                  <a:srgbClr val="A89EA3"/>
                </a:solidFill>
                <a:latin typeface="Arial" pitchFamily="34" charset="0"/>
                <a:ea typeface="Arial" pitchFamily="34" charset="-122"/>
                <a:cs typeface="Arial" pitchFamily="34" charset="-120"/>
              </a:rPr>
              <a:t>M. Fowler, *UML Distilled: A Brief Guide to the Standard Object Modeling Language*, 3rd ed., Boston, MA: Addison-Wesley Professional, 2004.</a:t>
            </a:r>
            <a:endParaRPr lang="en-US" sz="1050" dirty="0"/>
          </a:p>
        </p:txBody>
      </p:sp>
      <p:sp>
        <p:nvSpPr>
          <p:cNvPr id="16" name="Shape 14"/>
          <p:cNvSpPr/>
          <p:nvPr/>
        </p:nvSpPr>
        <p:spPr>
          <a:xfrm>
            <a:off x="731520" y="4526280"/>
            <a:ext cx="10728655" cy="749808"/>
          </a:xfrm>
          <a:prstGeom prst="rect">
            <a:avLst/>
          </a:prstGeom>
          <a:solidFill>
            <a:srgbClr val="180E12"/>
          </a:solidFill>
          <a:ln w="9525">
            <a:solidFill>
              <a:srgbClr val="3D2913"/>
            </a:solidFill>
            <a:prstDash val="solid"/>
          </a:ln>
        </p:spPr>
      </p:sp>
      <p:sp>
        <p:nvSpPr>
          <p:cNvPr id="17" name="Text 15"/>
          <p:cNvSpPr/>
          <p:nvPr/>
        </p:nvSpPr>
        <p:spPr>
          <a:xfrm>
            <a:off x="914400" y="4690872"/>
            <a:ext cx="640080" cy="411480"/>
          </a:xfrm>
          <a:prstGeom prst="rect">
            <a:avLst/>
          </a:prstGeom>
          <a:noFill/>
          <a:ln/>
        </p:spPr>
        <p:txBody>
          <a:bodyPr wrap="square" rtlCol="0" anchor="ctr"/>
          <a:lstStyle/>
          <a:p>
            <a:pPr indent="0" marL="0">
              <a:buNone/>
            </a:pPr>
            <a:r>
              <a:rPr lang="en-US" sz="1200" b="1" dirty="0">
                <a:solidFill>
                  <a:srgbClr val="C99A2E"/>
                </a:solidFill>
                <a:latin typeface="Consolas" pitchFamily="34" charset="0"/>
                <a:ea typeface="Consolas" pitchFamily="34" charset="-122"/>
                <a:cs typeface="Consolas" pitchFamily="34" charset="-120"/>
              </a:rPr>
              <a:t>[4]</a:t>
            </a:r>
            <a:endParaRPr lang="en-US" sz="1200" dirty="0"/>
          </a:p>
        </p:txBody>
      </p:sp>
      <p:sp>
        <p:nvSpPr>
          <p:cNvPr id="18" name="Text 16"/>
          <p:cNvSpPr/>
          <p:nvPr/>
        </p:nvSpPr>
        <p:spPr>
          <a:xfrm>
            <a:off x="1554480" y="4690872"/>
            <a:ext cx="9692640" cy="457200"/>
          </a:xfrm>
          <a:prstGeom prst="rect">
            <a:avLst/>
          </a:prstGeom>
          <a:noFill/>
          <a:ln/>
        </p:spPr>
        <p:txBody>
          <a:bodyPr wrap="square" rtlCol="0" anchor="ctr"/>
          <a:lstStyle/>
          <a:p>
            <a:pPr indent="0" marL="0">
              <a:buNone/>
            </a:pPr>
            <a:r>
              <a:rPr lang="en-US" sz="1050" dirty="0">
                <a:solidFill>
                  <a:srgbClr val="A89EA3"/>
                </a:solidFill>
                <a:latin typeface="Arial" pitchFamily="34" charset="0"/>
                <a:ea typeface="Arial" pitchFamily="34" charset="-122"/>
                <a:cs typeface="Arial" pitchFamily="34" charset="-120"/>
              </a:rPr>
              <a:t>E. Gamma, R. Helm, R. Johnson, and J. Vlissides, *Design Patterns: Elements of Reusable Object-Oriented Software*, Reading, MA: Addison-Wesley, 1994.</a:t>
            </a:r>
            <a:endParaRPr lang="en-US" sz="1050" dirty="0"/>
          </a:p>
        </p:txBody>
      </p:sp>
      <p:sp>
        <p:nvSpPr>
          <p:cNvPr id="19" name="Shape 17"/>
          <p:cNvSpPr/>
          <p:nvPr/>
        </p:nvSpPr>
        <p:spPr>
          <a:xfrm>
            <a:off x="731520" y="5394960"/>
            <a:ext cx="10728655" cy="749808"/>
          </a:xfrm>
          <a:prstGeom prst="rect">
            <a:avLst/>
          </a:prstGeom>
          <a:solidFill>
            <a:srgbClr val="180E12"/>
          </a:solidFill>
          <a:ln w="9525">
            <a:solidFill>
              <a:srgbClr val="3D2913"/>
            </a:solidFill>
            <a:prstDash val="solid"/>
          </a:ln>
        </p:spPr>
      </p:sp>
      <p:sp>
        <p:nvSpPr>
          <p:cNvPr id="20" name="Text 18"/>
          <p:cNvSpPr/>
          <p:nvPr/>
        </p:nvSpPr>
        <p:spPr>
          <a:xfrm>
            <a:off x="914400" y="5559552"/>
            <a:ext cx="640080" cy="411480"/>
          </a:xfrm>
          <a:prstGeom prst="rect">
            <a:avLst/>
          </a:prstGeom>
          <a:noFill/>
          <a:ln/>
        </p:spPr>
        <p:txBody>
          <a:bodyPr wrap="square" rtlCol="0" anchor="ctr"/>
          <a:lstStyle/>
          <a:p>
            <a:pPr indent="0" marL="0">
              <a:buNone/>
            </a:pPr>
            <a:r>
              <a:rPr lang="en-US" sz="1200" b="1" dirty="0">
                <a:solidFill>
                  <a:srgbClr val="C99A2E"/>
                </a:solidFill>
                <a:latin typeface="Consolas" pitchFamily="34" charset="0"/>
                <a:ea typeface="Consolas" pitchFamily="34" charset="-122"/>
                <a:cs typeface="Consolas" pitchFamily="34" charset="-120"/>
              </a:rPr>
              <a:t>[5]</a:t>
            </a:r>
            <a:endParaRPr lang="en-US" sz="1200" dirty="0"/>
          </a:p>
        </p:txBody>
      </p:sp>
      <p:sp>
        <p:nvSpPr>
          <p:cNvPr id="21" name="Text 19"/>
          <p:cNvSpPr/>
          <p:nvPr/>
        </p:nvSpPr>
        <p:spPr>
          <a:xfrm>
            <a:off x="1554480" y="5559552"/>
            <a:ext cx="9692640" cy="457200"/>
          </a:xfrm>
          <a:prstGeom prst="rect">
            <a:avLst/>
          </a:prstGeom>
          <a:noFill/>
          <a:ln/>
        </p:spPr>
        <p:txBody>
          <a:bodyPr wrap="square" rtlCol="0" anchor="ctr"/>
          <a:lstStyle/>
          <a:p>
            <a:pPr indent="0" marL="0">
              <a:buNone/>
            </a:pPr>
            <a:r>
              <a:rPr lang="en-US" sz="1050" dirty="0">
                <a:solidFill>
                  <a:srgbClr val="A89EA3"/>
                </a:solidFill>
                <a:latin typeface="Arial" pitchFamily="34" charset="0"/>
                <a:ea typeface="Arial" pitchFamily="34" charset="-122"/>
                <a:cs typeface="Arial" pitchFamily="34" charset="-120"/>
              </a:rPr>
              <a:t>World Bank Group, "Circular Economy in South Asia: Fostering Sustainable Textile and Apparel Value Chains," World Bank Report, Washington, D.C., 2021.</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0709"/>
        </a:solidFill>
      </p:bgPr>
    </p:bg>
    <p:spTree>
      <p:nvGrpSpPr>
        <p:cNvPr id="1" name=""/>
        <p:cNvGrpSpPr/>
        <p:nvPr/>
      </p:nvGrpSpPr>
      <p:grpSpPr>
        <a:xfrm>
          <a:off x="0" y="0"/>
          <a:ext cx="0" cy="0"/>
          <a:chOff x="0" y="0"/>
          <a:chExt cx="0" cy="0"/>
        </a:xfrm>
      </p:grpSpPr>
      <p:sp>
        <p:nvSpPr>
          <p:cNvPr id="2" name="Shape 0"/>
          <p:cNvSpPr/>
          <p:nvPr/>
        </p:nvSpPr>
        <p:spPr>
          <a:xfrm>
            <a:off x="731520" y="365760"/>
            <a:ext cx="2011680" cy="292608"/>
          </a:xfrm>
          <a:prstGeom prst="rect">
            <a:avLst/>
          </a:prstGeom>
          <a:solidFill>
            <a:srgbClr val="201217"/>
          </a:solidFill>
          <a:ln w="9525">
            <a:solidFill>
              <a:srgbClr val="C99A2E"/>
            </a:solidFill>
            <a:prstDash val="solid"/>
          </a:ln>
        </p:spPr>
      </p:sp>
      <p:sp>
        <p:nvSpPr>
          <p:cNvPr id="3" name="Text 1"/>
          <p:cNvSpPr/>
          <p:nvPr/>
        </p:nvSpPr>
        <p:spPr>
          <a:xfrm>
            <a:off x="731520" y="365760"/>
            <a:ext cx="2011680" cy="292608"/>
          </a:xfrm>
          <a:prstGeom prst="rect">
            <a:avLst/>
          </a:prstGeom>
          <a:noFill/>
          <a:ln/>
        </p:spPr>
        <p:txBody>
          <a:bodyPr wrap="square" rtlCol="0" anchor="ctr"/>
          <a:lstStyle/>
          <a:p>
            <a:pPr algn="ctr" indent="0" marL="0">
              <a:buNone/>
            </a:pPr>
            <a:r>
              <a:rPr lang="en-US" sz="900" b="1" dirty="0">
                <a:solidFill>
                  <a:srgbClr val="C99A2E"/>
                </a:solidFill>
                <a:latin typeface="Arial" pitchFamily="34" charset="0"/>
                <a:ea typeface="Arial" pitchFamily="34" charset="-122"/>
                <a:cs typeface="Arial" pitchFamily="34" charset="-120"/>
              </a:rPr>
              <a:t>SCENE 26 · FINALE</a:t>
            </a:r>
            <a:endParaRPr lang="en-US" sz="900" dirty="0"/>
          </a:p>
        </p:txBody>
      </p:sp>
      <p:sp>
        <p:nvSpPr>
          <p:cNvPr id="4" name="Text 2"/>
          <p:cNvSpPr/>
          <p:nvPr/>
        </p:nvSpPr>
        <p:spPr>
          <a:xfrm>
            <a:off x="9448495" y="365760"/>
            <a:ext cx="2011680" cy="292608"/>
          </a:xfrm>
          <a:prstGeom prst="rect">
            <a:avLst/>
          </a:prstGeom>
          <a:noFill/>
          <a:ln/>
        </p:spPr>
        <p:txBody>
          <a:bodyPr wrap="square" rtlCol="0" anchor="ctr"/>
          <a:lstStyle/>
          <a:p>
            <a:pPr algn="r" indent="0" marL="0">
              <a:buNone/>
            </a:pPr>
            <a:r>
              <a:rPr lang="en-US" sz="900" dirty="0">
                <a:solidFill>
                  <a:srgbClr val="A89EA3"/>
                </a:solidFill>
                <a:latin typeface="Arial" pitchFamily="34" charset="0"/>
                <a:ea typeface="Arial" pitchFamily="34" charset="-122"/>
                <a:cs typeface="Arial" pitchFamily="34" charset="-120"/>
              </a:rPr>
              <a:t>POSHAKH · LJCCA</a:t>
            </a:r>
            <a:endParaRPr lang="en-US" sz="900" dirty="0"/>
          </a:p>
        </p:txBody>
      </p:sp>
      <p:sp>
        <p:nvSpPr>
          <p:cNvPr id="5" name="Shape 3"/>
          <p:cNvSpPr/>
          <p:nvPr/>
        </p:nvSpPr>
        <p:spPr>
          <a:xfrm>
            <a:off x="4266590" y="822960"/>
            <a:ext cx="3657600" cy="5029200"/>
          </a:xfrm>
          <a:prstGeom prst="arc">
            <a:avLst/>
          </a:prstGeom>
          <a:noFill/>
          <a:ln w="25400">
            <a:solidFill>
              <a:srgbClr val="C99A2E"/>
            </a:solidFill>
            <a:prstDash val="solid"/>
          </a:ln>
        </p:spPr>
      </p:sp>
      <p:sp>
        <p:nvSpPr>
          <p:cNvPr id="6" name="Shape 4"/>
          <p:cNvSpPr/>
          <p:nvPr/>
        </p:nvSpPr>
        <p:spPr>
          <a:xfrm>
            <a:off x="4480560" y="3337560"/>
            <a:ext cx="3230575" cy="2514600"/>
          </a:xfrm>
          <a:prstGeom prst="rect">
            <a:avLst/>
          </a:prstGeom>
          <a:solidFill>
            <a:srgbClr val="140B0E"/>
          </a:solidFill>
          <a:ln w="15875">
            <a:solidFill>
              <a:srgbClr val="C99A2E"/>
            </a:solidFill>
            <a:prstDash val="solid"/>
          </a:ln>
        </p:spPr>
      </p:sp>
      <p:sp>
        <p:nvSpPr>
          <p:cNvPr id="7" name="Text 5"/>
          <p:cNvSpPr/>
          <p:nvPr/>
        </p:nvSpPr>
        <p:spPr>
          <a:xfrm>
            <a:off x="4480560" y="3520440"/>
            <a:ext cx="3230575" cy="640080"/>
          </a:xfrm>
          <a:prstGeom prst="rect">
            <a:avLst/>
          </a:prstGeom>
          <a:noFill/>
          <a:ln/>
        </p:spPr>
        <p:txBody>
          <a:bodyPr wrap="square" rtlCol="0" anchor="ctr"/>
          <a:lstStyle/>
          <a:p>
            <a:pPr algn="ctr" indent="0" marL="0">
              <a:buNone/>
            </a:pPr>
            <a:r>
              <a:rPr lang="en-US" sz="3200" b="1" dirty="0">
                <a:solidFill>
                  <a:srgbClr val="C99A2E"/>
                </a:solidFill>
                <a:latin typeface="Georgia" pitchFamily="34" charset="0"/>
                <a:ea typeface="Georgia" pitchFamily="34" charset="-122"/>
                <a:cs typeface="Georgia" pitchFamily="34" charset="-120"/>
              </a:rPr>
              <a:t>POSHAKH</a:t>
            </a:r>
            <a:endParaRPr lang="en-US" sz="3200" dirty="0"/>
          </a:p>
        </p:txBody>
      </p:sp>
      <p:sp>
        <p:nvSpPr>
          <p:cNvPr id="8" name="Text 6"/>
          <p:cNvSpPr/>
          <p:nvPr/>
        </p:nvSpPr>
        <p:spPr>
          <a:xfrm>
            <a:off x="4480560" y="4206240"/>
            <a:ext cx="3230575" cy="457200"/>
          </a:xfrm>
          <a:prstGeom prst="rect">
            <a:avLst/>
          </a:prstGeom>
          <a:noFill/>
          <a:ln/>
        </p:spPr>
        <p:txBody>
          <a:bodyPr wrap="square" rtlCol="0" anchor="ctr"/>
          <a:lstStyle/>
          <a:p>
            <a:pPr algn="ctr" indent="0" marL="0">
              <a:buNone/>
            </a:pPr>
            <a:r>
              <a:rPr lang="en-US" sz="900" b="1" spc="100" kern="0" dirty="0">
                <a:solidFill>
                  <a:srgbClr val="E6B85C"/>
                </a:solidFill>
                <a:latin typeface="Arial" pitchFamily="34" charset="0"/>
                <a:ea typeface="Arial" pitchFamily="34" charset="-122"/>
                <a:cs typeface="Arial" pitchFamily="34" charset="-120"/>
              </a:rPr>
              <a:t>WEAR THE CELEBRATION.</a:t>
            </a:r>
            <a:endParaRPr lang="en-US" sz="900" dirty="0"/>
          </a:p>
          <a:p>
            <a:pPr algn="ctr" indent="0" marL="0">
              <a:buNone/>
            </a:pPr>
            <a:r>
              <a:rPr lang="en-US" sz="900" b="1" spc="100" kern="0" dirty="0">
                <a:solidFill>
                  <a:srgbClr val="E6B85C"/>
                </a:solidFill>
                <a:latin typeface="Arial" pitchFamily="34" charset="0"/>
                <a:ea typeface="Arial" pitchFamily="34" charset="-122"/>
                <a:cs typeface="Arial" pitchFamily="34" charset="-120"/>
              </a:rPr>
              <a:t>RETURN THE REST.</a:t>
            </a:r>
            <a:endParaRPr lang="en-US" sz="900" dirty="0"/>
          </a:p>
        </p:txBody>
      </p:sp>
      <p:sp>
        <p:nvSpPr>
          <p:cNvPr id="9" name="Shape 7"/>
          <p:cNvSpPr/>
          <p:nvPr/>
        </p:nvSpPr>
        <p:spPr>
          <a:xfrm>
            <a:off x="731520" y="2103120"/>
            <a:ext cx="3200400" cy="3291840"/>
          </a:xfrm>
          <a:prstGeom prst="rect">
            <a:avLst/>
          </a:prstGeom>
          <a:solidFill>
            <a:srgbClr val="180E12"/>
          </a:solidFill>
          <a:ln w="12700">
            <a:solidFill>
              <a:srgbClr val="3D2913"/>
            </a:solidFill>
            <a:prstDash val="solid"/>
          </a:ln>
        </p:spPr>
      </p:sp>
      <p:sp>
        <p:nvSpPr>
          <p:cNvPr id="10" name="Text 8"/>
          <p:cNvSpPr/>
          <p:nvPr/>
        </p:nvSpPr>
        <p:spPr>
          <a:xfrm>
            <a:off x="914400" y="2286000"/>
            <a:ext cx="2834640" cy="274320"/>
          </a:xfrm>
          <a:prstGeom prst="rect">
            <a:avLst/>
          </a:prstGeom>
          <a:noFill/>
          <a:ln/>
        </p:spPr>
        <p:txBody>
          <a:bodyPr wrap="square" rtlCol="0" anchor="ctr"/>
          <a:lstStyle/>
          <a:p>
            <a:pPr indent="0" marL="0">
              <a:buNone/>
            </a:pPr>
            <a:r>
              <a:rPr lang="en-US" sz="950" b="1" spc="100" kern="0" dirty="0">
                <a:solidFill>
                  <a:srgbClr val="C99A2E"/>
                </a:solidFill>
                <a:latin typeface="Arial" pitchFamily="34" charset="0"/>
                <a:ea typeface="Arial" pitchFamily="34" charset="-122"/>
                <a:cs typeface="Arial" pitchFamily="34" charset="-120"/>
              </a:rPr>
              <a:t>PROJECT DEFENSE</a:t>
            </a:r>
            <a:endParaRPr lang="en-US" sz="950" dirty="0"/>
          </a:p>
        </p:txBody>
      </p:sp>
      <p:sp>
        <p:nvSpPr>
          <p:cNvPr id="11" name="Text 9"/>
          <p:cNvSpPr/>
          <p:nvPr/>
        </p:nvSpPr>
        <p:spPr>
          <a:xfrm>
            <a:off x="914400" y="2651760"/>
            <a:ext cx="2834640" cy="731520"/>
          </a:xfrm>
          <a:prstGeom prst="rect">
            <a:avLst/>
          </a:prstGeom>
          <a:noFill/>
          <a:ln/>
        </p:spPr>
        <p:txBody>
          <a:bodyPr wrap="square" rtlCol="0" anchor="ctr"/>
          <a:lstStyle/>
          <a:p>
            <a:pPr indent="0" marL="0">
              <a:buNone/>
            </a:pPr>
            <a:r>
              <a:rPr lang="en-US" sz="1800" b="1" dirty="0">
                <a:solidFill>
                  <a:srgbClr val="FAF7F2"/>
                </a:solidFill>
                <a:latin typeface="Georgia" pitchFamily="34" charset="0"/>
                <a:ea typeface="Georgia" pitchFamily="34" charset="-122"/>
                <a:cs typeface="Georgia" pitchFamily="34" charset="-120"/>
              </a:rPr>
              <a:t>L.J. Institute of</a:t>
            </a:r>
            <a:endParaRPr lang="en-US" sz="1800" dirty="0"/>
          </a:p>
          <a:p>
            <a:pPr indent="0" marL="0">
              <a:buNone/>
            </a:pPr>
            <a:r>
              <a:rPr lang="en-US" sz="1800" b="1" dirty="0">
                <a:solidFill>
                  <a:srgbClr val="FAF7F2"/>
                </a:solidFill>
                <a:latin typeface="Georgia" pitchFamily="34" charset="0"/>
                <a:ea typeface="Georgia" pitchFamily="34" charset="-122"/>
                <a:cs typeface="Georgia" pitchFamily="34" charset="-120"/>
              </a:rPr>
              <a:t>Computer Applications</a:t>
            </a:r>
            <a:endParaRPr lang="en-US" sz="1800" dirty="0"/>
          </a:p>
        </p:txBody>
      </p:sp>
      <p:sp>
        <p:nvSpPr>
          <p:cNvPr id="12" name="Text 10"/>
          <p:cNvSpPr/>
          <p:nvPr/>
        </p:nvSpPr>
        <p:spPr>
          <a:xfrm>
            <a:off x="914400" y="3474720"/>
            <a:ext cx="2834640" cy="73152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LJCCA · Master of Computer Applications</a:t>
            </a:r>
            <a:endParaRPr lang="en-US" sz="1100" dirty="0"/>
          </a:p>
          <a:p>
            <a:pPr indent="0" marL="0">
              <a:buNone/>
            </a:pPr>
            <a:r>
              <a:rPr lang="en-US" sz="1100" dirty="0">
                <a:solidFill>
                  <a:srgbClr val="A89EA3"/>
                </a:solidFill>
                <a:latin typeface="Arial" pitchFamily="34" charset="0"/>
                <a:ea typeface="Arial" pitchFamily="34" charset="-122"/>
                <a:cs typeface="Arial" pitchFamily="34" charset="-120"/>
              </a:rPr>
              <a:t>Academic Capstone Viva Presentation</a:t>
            </a:r>
            <a:endParaRPr lang="en-US" sz="1100" dirty="0"/>
          </a:p>
        </p:txBody>
      </p:sp>
      <p:sp>
        <p:nvSpPr>
          <p:cNvPr id="13" name="Shape 11"/>
          <p:cNvSpPr/>
          <p:nvPr/>
        </p:nvSpPr>
        <p:spPr>
          <a:xfrm>
            <a:off x="8259775" y="2103120"/>
            <a:ext cx="3200400" cy="3291840"/>
          </a:xfrm>
          <a:prstGeom prst="rect">
            <a:avLst/>
          </a:prstGeom>
          <a:solidFill>
            <a:srgbClr val="180E12"/>
          </a:solidFill>
          <a:ln w="12700">
            <a:solidFill>
              <a:srgbClr val="3D2913"/>
            </a:solidFill>
            <a:prstDash val="solid"/>
          </a:ln>
        </p:spPr>
      </p:sp>
      <p:sp>
        <p:nvSpPr>
          <p:cNvPr id="14" name="Text 12"/>
          <p:cNvSpPr/>
          <p:nvPr/>
        </p:nvSpPr>
        <p:spPr>
          <a:xfrm>
            <a:off x="8458200" y="2286000"/>
            <a:ext cx="2834640" cy="274320"/>
          </a:xfrm>
          <a:prstGeom prst="rect">
            <a:avLst/>
          </a:prstGeom>
          <a:noFill/>
          <a:ln/>
        </p:spPr>
        <p:txBody>
          <a:bodyPr wrap="square" rtlCol="0" anchor="ctr"/>
          <a:lstStyle/>
          <a:p>
            <a:pPr indent="0" marL="0">
              <a:buNone/>
            </a:pPr>
            <a:r>
              <a:rPr lang="en-US" sz="950" b="1" spc="100" kern="0" dirty="0">
                <a:solidFill>
                  <a:srgbClr val="C99A2E"/>
                </a:solidFill>
                <a:latin typeface="Arial" pitchFamily="34" charset="0"/>
                <a:ea typeface="Arial" pitchFamily="34" charset="-122"/>
                <a:cs typeface="Arial" pitchFamily="34" charset="-120"/>
              </a:rPr>
              <a:t>OPEN FOR DEFENSE</a:t>
            </a:r>
            <a:endParaRPr lang="en-US" sz="950" dirty="0"/>
          </a:p>
        </p:txBody>
      </p:sp>
      <p:sp>
        <p:nvSpPr>
          <p:cNvPr id="15" name="Text 13"/>
          <p:cNvSpPr/>
          <p:nvPr/>
        </p:nvSpPr>
        <p:spPr>
          <a:xfrm>
            <a:off x="8458200" y="2651760"/>
            <a:ext cx="2834640" cy="731520"/>
          </a:xfrm>
          <a:prstGeom prst="rect">
            <a:avLst/>
          </a:prstGeom>
          <a:noFill/>
          <a:ln/>
        </p:spPr>
        <p:txBody>
          <a:bodyPr wrap="square" rtlCol="0" anchor="ctr"/>
          <a:lstStyle/>
          <a:p>
            <a:pPr indent="0" marL="0">
              <a:buNone/>
            </a:pPr>
            <a:r>
              <a:rPr lang="en-US" sz="2000" b="1" dirty="0">
                <a:solidFill>
                  <a:srgbClr val="FAF7F2"/>
                </a:solidFill>
                <a:latin typeface="Georgia" pitchFamily="34" charset="0"/>
                <a:ea typeface="Georgia" pitchFamily="34" charset="-122"/>
                <a:cs typeface="Georgia" pitchFamily="34" charset="-120"/>
              </a:rPr>
              <a:t>Questions &amp; Discussion</a:t>
            </a:r>
            <a:endParaRPr lang="en-US" sz="2000" dirty="0"/>
          </a:p>
        </p:txBody>
      </p:sp>
      <p:sp>
        <p:nvSpPr>
          <p:cNvPr id="16" name="Text 14"/>
          <p:cNvSpPr/>
          <p:nvPr/>
        </p:nvSpPr>
        <p:spPr>
          <a:xfrm>
            <a:off x="8458200" y="3474720"/>
            <a:ext cx="2834640" cy="1371600"/>
          </a:xfrm>
          <a:prstGeom prst="rect">
            <a:avLst/>
          </a:prstGeom>
          <a:noFill/>
          <a:ln/>
        </p:spPr>
        <p:txBody>
          <a:bodyPr wrap="square" rtlCol="0" anchor="ctr"/>
          <a:lstStyle/>
          <a:p>
            <a:pPr indent="0" marL="0">
              <a:buNone/>
            </a:pPr>
            <a:r>
              <a:rPr lang="en-US" sz="1100" dirty="0">
                <a:solidFill>
                  <a:srgbClr val="A89EA3"/>
                </a:solidFill>
                <a:latin typeface="Arial" pitchFamily="34" charset="0"/>
                <a:ea typeface="Arial" pitchFamily="34" charset="-122"/>
                <a:cs typeface="Arial" pitchFamily="34" charset="-120"/>
              </a:rPr>
              <a:t>We welcome your technical queries, feedback, and architectural evaluation.</a:t>
            </a:r>
            <a:endParaRPr lang="en-US" sz="1100" dirty="0"/>
          </a:p>
          <a:p>
            <a:pPr indent="0" marL="0">
              <a:buNone/>
            </a:pPr>
            <a:endParaRPr lang="en-US" sz="1100" dirty="0"/>
          </a:p>
          <a:p>
            <a:pPr indent="0" marL="0">
              <a:buNone/>
            </a:pPr>
            <a:r>
              <a:rPr lang="en-US" sz="1100" dirty="0">
                <a:solidFill>
                  <a:srgbClr val="A89EA3"/>
                </a:solidFill>
                <a:latin typeface="Arial" pitchFamily="34" charset="0"/>
                <a:ea typeface="Arial" pitchFamily="34" charset="-122"/>
                <a:cs typeface="Arial" pitchFamily="34" charset="-120"/>
              </a:rPr>
              <a:t>Thank you for your time.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2026-10-19T09:20:55Z</dcterms:created>
  <dcterms:modified xsi:type="dcterms:W3CDTF">2026-10-19T09:20:55Z</dcterms:modified>
</cp:coreProperties>
</file>